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85800" y="1383506"/>
            <a:ext cx="7772400" cy="1531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371600" y="2914650"/>
            <a:ext cx="6400800" cy="222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" name="Group"/>
          <p:cNvGrpSpPr/>
          <p:nvPr/>
        </p:nvGrpSpPr>
        <p:grpSpPr>
          <a:xfrm>
            <a:off x="552450" y="514350"/>
            <a:ext cx="8039100" cy="2381250"/>
            <a:chOff x="0" y="0"/>
            <a:chExt cx="8039100" cy="2381250"/>
          </a:xfrm>
        </p:grpSpPr>
        <p:sp>
          <p:nvSpPr>
            <p:cNvPr id="21" name="Rectangle"/>
            <p:cNvSpPr/>
            <p:nvPr/>
          </p:nvSpPr>
          <p:spPr>
            <a:xfrm>
              <a:off x="0" y="0"/>
              <a:ext cx="8039100" cy="2381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" name="PHÂN TÍCH HIỆU QUẢ HOÀN TIỀN VÀ RỦI RO CHI TIÊU QUÁ MỨC CỦA NGƯỜI DÙNG THẺ TÍN DỤNG TẠI VIỆT NAM"/>
            <p:cNvSpPr txBox="1"/>
            <p:nvPr/>
          </p:nvSpPr>
          <p:spPr>
            <a:xfrm>
              <a:off x="0" y="586841"/>
              <a:ext cx="8039100" cy="1207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PHÂN TÍCH HIỆU QUẢ HOÀN TIỀN VÀ RỦI RO CHI TIÊU QUÁ MỨC CỦA NGƯỜI DÙNG THẺ TÍN DỤNG TẠI VIỆT NAM</a:t>
              </a:r>
            </a:p>
          </p:txBody>
        </p:sp>
      </p:grpSp>
      <p:sp>
        <p:nvSpPr>
          <p:cNvPr id="24" name="Rectangle"/>
          <p:cNvSpPr/>
          <p:nvPr/>
        </p:nvSpPr>
        <p:spPr>
          <a:xfrm>
            <a:off x="2476500" y="3095625"/>
            <a:ext cx="4191000" cy="1905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7" name="Group"/>
          <p:cNvGrpSpPr/>
          <p:nvPr/>
        </p:nvGrpSpPr>
        <p:grpSpPr>
          <a:xfrm>
            <a:off x="1619250" y="3333750"/>
            <a:ext cx="5905500" cy="552450"/>
            <a:chOff x="0" y="0"/>
            <a:chExt cx="5905500" cy="552450"/>
          </a:xfrm>
        </p:grpSpPr>
        <p:sp>
          <p:nvSpPr>
            <p:cNvPr id="25" name="Rectangle"/>
            <p:cNvSpPr/>
            <p:nvPr/>
          </p:nvSpPr>
          <p:spPr>
            <a:xfrm>
              <a:off x="0" y="0"/>
              <a:ext cx="59055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1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" name="Lê Thành Duy Ân - 250201041"/>
            <p:cNvSpPr txBox="1"/>
            <p:nvPr/>
          </p:nvSpPr>
          <p:spPr>
            <a:xfrm>
              <a:off x="0" y="152756"/>
              <a:ext cx="5905500" cy="2469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Lê Thành Duy Ân - 250201041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3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31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" name="Tóm tắt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Tóm tắt</a:t>
              </a:r>
            </a:p>
          </p:txBody>
        </p:sp>
      </p:grpSp>
      <p:grpSp>
        <p:nvGrpSpPr>
          <p:cNvPr id="36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34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grpSp>
        <p:nvGrpSpPr>
          <p:cNvPr id="39" name="Group"/>
          <p:cNvGrpSpPr/>
          <p:nvPr/>
        </p:nvGrpSpPr>
        <p:grpSpPr>
          <a:xfrm>
            <a:off x="590550" y="906403"/>
            <a:ext cx="209550" cy="228601"/>
            <a:chOff x="0" y="0"/>
            <a:chExt cx="209550" cy="228600"/>
          </a:xfrm>
        </p:grpSpPr>
        <p:sp>
          <p:nvSpPr>
            <p:cNvPr id="37" name="Rectangle"/>
            <p:cNvSpPr/>
            <p:nvPr/>
          </p:nvSpPr>
          <p:spPr>
            <a:xfrm>
              <a:off x="0" y="0"/>
              <a:ext cx="209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" name="•"/>
            <p:cNvSpPr txBox="1"/>
            <p:nvPr/>
          </p:nvSpPr>
          <p:spPr>
            <a:xfrm>
              <a:off x="0" y="0"/>
              <a:ext cx="209550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•</a:t>
              </a:r>
            </a:p>
          </p:txBody>
        </p:sp>
      </p:grpSp>
      <p:grpSp>
        <p:nvGrpSpPr>
          <p:cNvPr id="42" name="Group"/>
          <p:cNvGrpSpPr/>
          <p:nvPr/>
        </p:nvGrpSpPr>
        <p:grpSpPr>
          <a:xfrm>
            <a:off x="876300" y="915928"/>
            <a:ext cx="7524750" cy="425569"/>
            <a:chOff x="0" y="0"/>
            <a:chExt cx="7524750" cy="425567"/>
          </a:xfrm>
        </p:grpSpPr>
        <p:sp>
          <p:nvSpPr>
            <p:cNvPr id="40" name="Rectangle"/>
            <p:cNvSpPr/>
            <p:nvPr/>
          </p:nvSpPr>
          <p:spPr>
            <a:xfrm>
              <a:off x="0" y="0"/>
              <a:ext cx="7524750" cy="2571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" name="Đề tài đánh giá cashback từ góc nhìn người dùng, không chỉ nhìn vào tổng tiền hoàn."/>
            <p:cNvSpPr txBox="1"/>
            <p:nvPr/>
          </p:nvSpPr>
          <p:spPr>
            <a:xfrm>
              <a:off x="0" y="0"/>
              <a:ext cx="7524750" cy="425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Đề tài đánh giá cashback từ góc nhìn người dùng, không chỉ nhìn vào tổng tiền hoàn.</a:t>
              </a:r>
            </a:p>
          </p:txBody>
        </p:sp>
      </p:grpSp>
      <p:grpSp>
        <p:nvGrpSpPr>
          <p:cNvPr id="45" name="Group"/>
          <p:cNvGrpSpPr/>
          <p:nvPr/>
        </p:nvGrpSpPr>
        <p:grpSpPr>
          <a:xfrm>
            <a:off x="580536" y="1377891"/>
            <a:ext cx="209551" cy="228601"/>
            <a:chOff x="0" y="0"/>
            <a:chExt cx="209550" cy="228600"/>
          </a:xfrm>
        </p:grpSpPr>
        <p:sp>
          <p:nvSpPr>
            <p:cNvPr id="43" name="Rectangle"/>
            <p:cNvSpPr/>
            <p:nvPr/>
          </p:nvSpPr>
          <p:spPr>
            <a:xfrm>
              <a:off x="0" y="0"/>
              <a:ext cx="209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" name="•"/>
            <p:cNvSpPr txBox="1"/>
            <p:nvPr/>
          </p:nvSpPr>
          <p:spPr>
            <a:xfrm>
              <a:off x="0" y="0"/>
              <a:ext cx="209550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•</a:t>
              </a:r>
            </a:p>
          </p:txBody>
        </p:sp>
      </p:grpSp>
      <p:grpSp>
        <p:nvGrpSpPr>
          <p:cNvPr id="48" name="Group"/>
          <p:cNvGrpSpPr/>
          <p:nvPr/>
        </p:nvGrpSpPr>
        <p:grpSpPr>
          <a:xfrm>
            <a:off x="866286" y="1387416"/>
            <a:ext cx="7524751" cy="425568"/>
            <a:chOff x="0" y="0"/>
            <a:chExt cx="7524750" cy="425567"/>
          </a:xfrm>
        </p:grpSpPr>
        <p:sp>
          <p:nvSpPr>
            <p:cNvPr id="46" name="Rectangle"/>
            <p:cNvSpPr/>
            <p:nvPr/>
          </p:nvSpPr>
          <p:spPr>
            <a:xfrm>
              <a:off x="0" y="0"/>
              <a:ext cx="7524750" cy="2571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" name="Dữ liệu được tổng hợp theo user-month: chi tiêu, danh mục, quy tắc cashback, cap, phí/lãi."/>
            <p:cNvSpPr txBox="1"/>
            <p:nvPr/>
          </p:nvSpPr>
          <p:spPr>
            <a:xfrm>
              <a:off x="0" y="0"/>
              <a:ext cx="7524750" cy="425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Dữ liệu được tổng hợp theo user-month: chi tiêu, danh mục, quy tắc cashback, cap, phí/lãi.</a:t>
              </a:r>
            </a:p>
          </p:txBody>
        </p:sp>
      </p:grpSp>
      <p:grpSp>
        <p:nvGrpSpPr>
          <p:cNvPr id="51" name="Group"/>
          <p:cNvGrpSpPr/>
          <p:nvPr/>
        </p:nvGrpSpPr>
        <p:grpSpPr>
          <a:xfrm>
            <a:off x="580536" y="1858168"/>
            <a:ext cx="209551" cy="228601"/>
            <a:chOff x="0" y="0"/>
            <a:chExt cx="209550" cy="228600"/>
          </a:xfrm>
        </p:grpSpPr>
        <p:sp>
          <p:nvSpPr>
            <p:cNvPr id="49" name="Rectangle"/>
            <p:cNvSpPr/>
            <p:nvPr/>
          </p:nvSpPr>
          <p:spPr>
            <a:xfrm>
              <a:off x="0" y="0"/>
              <a:ext cx="209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" name="•"/>
            <p:cNvSpPr txBox="1"/>
            <p:nvPr/>
          </p:nvSpPr>
          <p:spPr>
            <a:xfrm>
              <a:off x="0" y="0"/>
              <a:ext cx="209550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•</a:t>
              </a:r>
            </a:p>
          </p:txBody>
        </p:sp>
      </p:grpSp>
      <p:grpSp>
        <p:nvGrpSpPr>
          <p:cNvPr id="54" name="Group"/>
          <p:cNvGrpSpPr/>
          <p:nvPr/>
        </p:nvGrpSpPr>
        <p:grpSpPr>
          <a:xfrm>
            <a:off x="866286" y="1867752"/>
            <a:ext cx="7524751" cy="257176"/>
            <a:chOff x="0" y="0"/>
            <a:chExt cx="7524750" cy="257175"/>
          </a:xfrm>
        </p:grpSpPr>
        <p:sp>
          <p:nvSpPr>
            <p:cNvPr id="52" name="Rectangle"/>
            <p:cNvSpPr/>
            <p:nvPr/>
          </p:nvSpPr>
          <p:spPr>
            <a:xfrm>
              <a:off x="0" y="0"/>
              <a:ext cx="7524750" cy="2571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" name="Phương pháp chính: feature engineering + chỉ số đánh giá + K-Means clustering."/>
            <p:cNvSpPr txBox="1"/>
            <p:nvPr/>
          </p:nvSpPr>
          <p:spPr>
            <a:xfrm>
              <a:off x="0" y="0"/>
              <a:ext cx="7524750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Phương pháp chính: feature engineering + chỉ số đánh giá + K-Means clustering.</a:t>
              </a:r>
            </a:p>
          </p:txBody>
        </p:sp>
      </p:grpSp>
      <p:grpSp>
        <p:nvGrpSpPr>
          <p:cNvPr id="57" name="Group"/>
          <p:cNvGrpSpPr/>
          <p:nvPr/>
        </p:nvGrpSpPr>
        <p:grpSpPr>
          <a:xfrm>
            <a:off x="580536" y="2170847"/>
            <a:ext cx="209551" cy="228601"/>
            <a:chOff x="0" y="0"/>
            <a:chExt cx="209550" cy="228600"/>
          </a:xfrm>
        </p:grpSpPr>
        <p:sp>
          <p:nvSpPr>
            <p:cNvPr id="55" name="Rectangle"/>
            <p:cNvSpPr/>
            <p:nvPr/>
          </p:nvSpPr>
          <p:spPr>
            <a:xfrm>
              <a:off x="0" y="0"/>
              <a:ext cx="209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6" name="•"/>
            <p:cNvSpPr txBox="1"/>
            <p:nvPr/>
          </p:nvSpPr>
          <p:spPr>
            <a:xfrm>
              <a:off x="0" y="0"/>
              <a:ext cx="209550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•</a:t>
              </a:r>
            </a:p>
          </p:txBody>
        </p:sp>
      </p:grpSp>
      <p:grpSp>
        <p:nvGrpSpPr>
          <p:cNvPr id="60" name="Group"/>
          <p:cNvGrpSpPr/>
          <p:nvPr/>
        </p:nvGrpSpPr>
        <p:grpSpPr>
          <a:xfrm>
            <a:off x="866286" y="2180372"/>
            <a:ext cx="7524751" cy="425569"/>
            <a:chOff x="0" y="0"/>
            <a:chExt cx="7524750" cy="425567"/>
          </a:xfrm>
        </p:grpSpPr>
        <p:sp>
          <p:nvSpPr>
            <p:cNvPr id="58" name="Rectangle"/>
            <p:cNvSpPr/>
            <p:nvPr/>
          </p:nvSpPr>
          <p:spPr>
            <a:xfrm>
              <a:off x="0" y="0"/>
              <a:ext cx="7524750" cy="2571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9" name="Đầu ra kỳ vọng: phân nhóm người dùng và diễn giải hành vi cashback theo từng nhóm."/>
            <p:cNvSpPr txBox="1"/>
            <p:nvPr/>
          </p:nvSpPr>
          <p:spPr>
            <a:xfrm>
              <a:off x="0" y="0"/>
              <a:ext cx="7524750" cy="425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Đầu ra kỳ vọng: phân nhóm người dùng và diễn giải hành vi cashback theo từng nhóm.</a:t>
              </a:r>
            </a:p>
          </p:txBody>
        </p:sp>
      </p:grpSp>
      <p:sp>
        <p:nvSpPr>
          <p:cNvPr id="61" name="Rectangle"/>
          <p:cNvSpPr/>
          <p:nvPr/>
        </p:nvSpPr>
        <p:spPr>
          <a:xfrm>
            <a:off x="666750" y="2914650"/>
            <a:ext cx="3714750" cy="1333500"/>
          </a:xfrm>
          <a:prstGeom prst="rect">
            <a:avLst/>
          </a:prstGeom>
          <a:solidFill>
            <a:srgbClr val="E7F7F7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64" name="Group"/>
          <p:cNvGrpSpPr/>
          <p:nvPr/>
        </p:nvGrpSpPr>
        <p:grpSpPr>
          <a:xfrm>
            <a:off x="819150" y="3028950"/>
            <a:ext cx="3409950" cy="266700"/>
            <a:chOff x="0" y="0"/>
            <a:chExt cx="3409950" cy="266700"/>
          </a:xfrm>
        </p:grpSpPr>
        <p:sp>
          <p:nvSpPr>
            <p:cNvPr id="62" name="Rectangle"/>
            <p:cNvSpPr/>
            <p:nvPr/>
          </p:nvSpPr>
          <p:spPr>
            <a:xfrm>
              <a:off x="0" y="0"/>
              <a:ext cx="34099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3" name="Thông điệp chính"/>
            <p:cNvSpPr txBox="1"/>
            <p:nvPr/>
          </p:nvSpPr>
          <p:spPr>
            <a:xfrm>
              <a:off x="0" y="0"/>
              <a:ext cx="34099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Thông điệp chính</a:t>
              </a:r>
            </a:p>
          </p:txBody>
        </p:sp>
      </p:grpSp>
      <p:grpSp>
        <p:nvGrpSpPr>
          <p:cNvPr id="67" name="Group"/>
          <p:cNvGrpSpPr/>
          <p:nvPr/>
        </p:nvGrpSpPr>
        <p:grpSpPr>
          <a:xfrm>
            <a:off x="819150" y="3352800"/>
            <a:ext cx="3409950" cy="800100"/>
            <a:chOff x="0" y="0"/>
            <a:chExt cx="3409950" cy="800100"/>
          </a:xfrm>
        </p:grpSpPr>
        <p:sp>
          <p:nvSpPr>
            <p:cNvPr id="65" name="Rectangle"/>
            <p:cNvSpPr/>
            <p:nvPr/>
          </p:nvSpPr>
          <p:spPr>
            <a:xfrm>
              <a:off x="0" y="0"/>
              <a:ext cx="3409950" cy="8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66" name="Cashback cao không luôn đồng nghĩa có lợi. Cần xét tỷ lệ hiệu quả, lợi ích ròng, phần cashback bị lãng phí và rủi ro chi tiêu."/>
            <p:cNvSpPr txBox="1"/>
            <p:nvPr/>
          </p:nvSpPr>
          <p:spPr>
            <a:xfrm>
              <a:off x="0" y="0"/>
              <a:ext cx="3409950" cy="5284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Cashback cao không luôn đồng nghĩa có lợi. Cần xét tỷ lệ hiệu quả, lợi ích ròng, phần cashback bị lãng phí và rủi ro chi tiêu.</a:t>
              </a:r>
            </a:p>
          </p:txBody>
        </p:sp>
      </p:grpSp>
      <p:sp>
        <p:nvSpPr>
          <p:cNvPr id="68" name="Rectangle"/>
          <p:cNvSpPr/>
          <p:nvPr/>
        </p:nvSpPr>
        <p:spPr>
          <a:xfrm>
            <a:off x="4762500" y="2914650"/>
            <a:ext cx="3714750" cy="1333500"/>
          </a:xfrm>
          <a:prstGeom prst="rect">
            <a:avLst/>
          </a:prstGeom>
          <a:solidFill>
            <a:srgbClr val="FFF3D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71" name="Group"/>
          <p:cNvGrpSpPr/>
          <p:nvPr/>
        </p:nvGrpSpPr>
        <p:grpSpPr>
          <a:xfrm>
            <a:off x="4914900" y="3028950"/>
            <a:ext cx="3409950" cy="266700"/>
            <a:chOff x="0" y="0"/>
            <a:chExt cx="3409950" cy="266700"/>
          </a:xfrm>
        </p:grpSpPr>
        <p:sp>
          <p:nvSpPr>
            <p:cNvPr id="69" name="Rectangle"/>
            <p:cNvSpPr/>
            <p:nvPr/>
          </p:nvSpPr>
          <p:spPr>
            <a:xfrm>
              <a:off x="0" y="0"/>
              <a:ext cx="34099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D982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0" name="Trọng tâm trình bày"/>
            <p:cNvSpPr txBox="1"/>
            <p:nvPr/>
          </p:nvSpPr>
          <p:spPr>
            <a:xfrm>
              <a:off x="0" y="0"/>
              <a:ext cx="34099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D982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Trọng tâm trình bày</a:t>
              </a:r>
            </a:p>
          </p:txBody>
        </p:sp>
      </p:grpSp>
      <p:grpSp>
        <p:nvGrpSpPr>
          <p:cNvPr id="74" name="Group"/>
          <p:cNvGrpSpPr/>
          <p:nvPr/>
        </p:nvGrpSpPr>
        <p:grpSpPr>
          <a:xfrm>
            <a:off x="4914900" y="3352800"/>
            <a:ext cx="3409950" cy="800100"/>
            <a:chOff x="0" y="0"/>
            <a:chExt cx="3409950" cy="800100"/>
          </a:xfrm>
        </p:grpSpPr>
        <p:sp>
          <p:nvSpPr>
            <p:cNvPr id="72" name="Rectangle"/>
            <p:cNvSpPr/>
            <p:nvPr/>
          </p:nvSpPr>
          <p:spPr>
            <a:xfrm>
              <a:off x="0" y="0"/>
              <a:ext cx="3409950" cy="8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3" name="Giải thích feature dùng cho K-Means, cách chọn k bằng Elbow/Silhouette và cách đặt tên các cụm người dùng."/>
            <p:cNvSpPr txBox="1"/>
            <p:nvPr/>
          </p:nvSpPr>
          <p:spPr>
            <a:xfrm>
              <a:off x="0" y="0"/>
              <a:ext cx="3409950" cy="5284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Giải thích feature dùng cho K-Means, cách chọn k bằng Elbow/Silhouette và cách đặt tên các cụm người dùng.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7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80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78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79" name="Giới thiệu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Giới thiệu</a:t>
              </a:r>
            </a:p>
          </p:txBody>
        </p:sp>
      </p:grpSp>
      <p:grpSp>
        <p:nvGrpSpPr>
          <p:cNvPr id="83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81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2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sp>
        <p:nvSpPr>
          <p:cNvPr id="84" name="Rectangle"/>
          <p:cNvSpPr/>
          <p:nvPr/>
        </p:nvSpPr>
        <p:spPr>
          <a:xfrm>
            <a:off x="514350" y="933450"/>
            <a:ext cx="2857500" cy="1143000"/>
          </a:xfrm>
          <a:prstGeom prst="rect">
            <a:avLst/>
          </a:prstGeom>
          <a:solidFill>
            <a:srgbClr val="EAF2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87" name="Group"/>
          <p:cNvGrpSpPr/>
          <p:nvPr/>
        </p:nvGrpSpPr>
        <p:grpSpPr>
          <a:xfrm>
            <a:off x="666750" y="1047750"/>
            <a:ext cx="2552700" cy="266700"/>
            <a:chOff x="0" y="0"/>
            <a:chExt cx="2552700" cy="266700"/>
          </a:xfrm>
        </p:grpSpPr>
        <p:sp>
          <p:nvSpPr>
            <p:cNvPr id="85" name="Rectangle"/>
            <p:cNvSpPr/>
            <p:nvPr/>
          </p:nvSpPr>
          <p:spPr>
            <a:xfrm>
              <a:off x="0" y="0"/>
              <a:ext cx="2552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6" name="Cách nhìn phổ biến"/>
            <p:cNvSpPr txBox="1"/>
            <p:nvPr/>
          </p:nvSpPr>
          <p:spPr>
            <a:xfrm>
              <a:off x="0" y="0"/>
              <a:ext cx="255270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Cách nhìn phổ biến</a:t>
              </a:r>
            </a:p>
          </p:txBody>
        </p:sp>
      </p:grpSp>
      <p:grpSp>
        <p:nvGrpSpPr>
          <p:cNvPr id="90" name="Group"/>
          <p:cNvGrpSpPr/>
          <p:nvPr/>
        </p:nvGrpSpPr>
        <p:grpSpPr>
          <a:xfrm>
            <a:off x="666750" y="1371600"/>
            <a:ext cx="2552700" cy="609600"/>
            <a:chOff x="0" y="0"/>
            <a:chExt cx="2552700" cy="609600"/>
          </a:xfrm>
        </p:grpSpPr>
        <p:sp>
          <p:nvSpPr>
            <p:cNvPr id="88" name="Rectangle"/>
            <p:cNvSpPr/>
            <p:nvPr/>
          </p:nvSpPr>
          <p:spPr>
            <a:xfrm>
              <a:off x="0" y="0"/>
              <a:ext cx="25527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89" name="Người dùng thường đánh giá hiệu quả dựa trên tổng cashback nhận được trong tháng."/>
            <p:cNvSpPr txBox="1"/>
            <p:nvPr/>
          </p:nvSpPr>
          <p:spPr>
            <a:xfrm>
              <a:off x="0" y="0"/>
              <a:ext cx="2552700" cy="5284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Người dùng thường đánh giá hiệu quả dựa trên tổng cashback nhận được trong tháng.</a:t>
              </a:r>
            </a:p>
          </p:txBody>
        </p:sp>
      </p:grpSp>
      <p:sp>
        <p:nvSpPr>
          <p:cNvPr id="91" name="Rectangle"/>
          <p:cNvSpPr/>
          <p:nvPr/>
        </p:nvSpPr>
        <p:spPr>
          <a:xfrm>
            <a:off x="514350" y="2266950"/>
            <a:ext cx="2857500" cy="1143000"/>
          </a:xfrm>
          <a:prstGeom prst="rect">
            <a:avLst/>
          </a:prstGeom>
          <a:solidFill>
            <a:srgbClr val="FDEAEA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94" name="Group"/>
          <p:cNvGrpSpPr/>
          <p:nvPr/>
        </p:nvGrpSpPr>
        <p:grpSpPr>
          <a:xfrm>
            <a:off x="666750" y="2381250"/>
            <a:ext cx="2552700" cy="266700"/>
            <a:chOff x="0" y="0"/>
            <a:chExt cx="2552700" cy="266700"/>
          </a:xfrm>
        </p:grpSpPr>
        <p:sp>
          <p:nvSpPr>
            <p:cNvPr id="92" name="Rectangle"/>
            <p:cNvSpPr/>
            <p:nvPr/>
          </p:nvSpPr>
          <p:spPr>
            <a:xfrm>
              <a:off x="0" y="0"/>
              <a:ext cx="2552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C6282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3" name="Vấn đề"/>
            <p:cNvSpPr txBox="1"/>
            <p:nvPr/>
          </p:nvSpPr>
          <p:spPr>
            <a:xfrm>
              <a:off x="0" y="0"/>
              <a:ext cx="255270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C6282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Vấn đề</a:t>
              </a:r>
            </a:p>
          </p:txBody>
        </p:sp>
      </p:grpSp>
      <p:grpSp>
        <p:nvGrpSpPr>
          <p:cNvPr id="97" name="Group"/>
          <p:cNvGrpSpPr/>
          <p:nvPr/>
        </p:nvGrpSpPr>
        <p:grpSpPr>
          <a:xfrm>
            <a:off x="666750" y="2705100"/>
            <a:ext cx="2552700" cy="609600"/>
            <a:chOff x="0" y="0"/>
            <a:chExt cx="2552700" cy="609600"/>
          </a:xfrm>
        </p:grpSpPr>
        <p:sp>
          <p:nvSpPr>
            <p:cNvPr id="95" name="Rectangle"/>
            <p:cNvSpPr/>
            <p:nvPr/>
          </p:nvSpPr>
          <p:spPr>
            <a:xfrm>
              <a:off x="0" y="0"/>
              <a:ext cx="2552700" cy="6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96" name="Tổng cashback cao có thể đi kèm chi tiêu cao, vượt cap, phí thường niên, phí trả chậm hoặc lãi."/>
            <p:cNvSpPr txBox="1"/>
            <p:nvPr/>
          </p:nvSpPr>
          <p:spPr>
            <a:xfrm>
              <a:off x="0" y="0"/>
              <a:ext cx="2552700" cy="5284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Tổng cashback cao có thể đi kèm chi tiêu cao, vượt cap, phí thường niên, phí trả chậm hoặc lãi.</a:t>
              </a:r>
            </a:p>
          </p:txBody>
        </p:sp>
      </p:grpSp>
      <p:sp>
        <p:nvSpPr>
          <p:cNvPr id="98" name="Rectangle"/>
          <p:cNvSpPr/>
          <p:nvPr/>
        </p:nvSpPr>
        <p:spPr>
          <a:xfrm>
            <a:off x="514350" y="3600450"/>
            <a:ext cx="2857500" cy="819150"/>
          </a:xfrm>
          <a:prstGeom prst="rect">
            <a:avLst/>
          </a:prstGeom>
          <a:solidFill>
            <a:srgbClr val="E9F7E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01" name="Group"/>
          <p:cNvGrpSpPr/>
          <p:nvPr/>
        </p:nvGrpSpPr>
        <p:grpSpPr>
          <a:xfrm>
            <a:off x="666750" y="3714750"/>
            <a:ext cx="2552700" cy="266700"/>
            <a:chOff x="0" y="0"/>
            <a:chExt cx="2552700" cy="266700"/>
          </a:xfrm>
        </p:grpSpPr>
        <p:sp>
          <p:nvSpPr>
            <p:cNvPr id="99" name="Rectangle"/>
            <p:cNvSpPr/>
            <p:nvPr/>
          </p:nvSpPr>
          <p:spPr>
            <a:xfrm>
              <a:off x="0" y="0"/>
              <a:ext cx="2552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8864B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0" name="Góc nhìn đề tài"/>
            <p:cNvSpPr txBox="1"/>
            <p:nvPr/>
          </p:nvSpPr>
          <p:spPr>
            <a:xfrm>
              <a:off x="0" y="0"/>
              <a:ext cx="255270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8864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Góc nhìn đề tài</a:t>
              </a:r>
            </a:p>
          </p:txBody>
        </p:sp>
      </p:grpSp>
      <p:grpSp>
        <p:nvGrpSpPr>
          <p:cNvPr id="104" name="Group"/>
          <p:cNvGrpSpPr/>
          <p:nvPr/>
        </p:nvGrpSpPr>
        <p:grpSpPr>
          <a:xfrm>
            <a:off x="666750" y="4038600"/>
            <a:ext cx="2552700" cy="350615"/>
            <a:chOff x="0" y="0"/>
            <a:chExt cx="2552700" cy="350614"/>
          </a:xfrm>
        </p:grpSpPr>
        <p:sp>
          <p:nvSpPr>
            <p:cNvPr id="102" name="Rectangle"/>
            <p:cNvSpPr/>
            <p:nvPr/>
          </p:nvSpPr>
          <p:spPr>
            <a:xfrm>
              <a:off x="0" y="0"/>
              <a:ext cx="25527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03" name="Đánh giá lợi ích thật sự bằng NET, ECR, WST và RISK."/>
            <p:cNvSpPr txBox="1"/>
            <p:nvPr/>
          </p:nvSpPr>
          <p:spPr>
            <a:xfrm>
              <a:off x="0" y="0"/>
              <a:ext cx="2552700" cy="350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Đánh giá lợi ích thật sự bằng NET, ECR, WST và RISK.</a:t>
              </a:r>
            </a:p>
          </p:txBody>
        </p:sp>
      </p:grpSp>
      <p:sp>
        <p:nvSpPr>
          <p:cNvPr id="105" name="Rectangle"/>
          <p:cNvSpPr/>
          <p:nvPr/>
        </p:nvSpPr>
        <p:spPr>
          <a:xfrm>
            <a:off x="3695700" y="971550"/>
            <a:ext cx="4953000" cy="281940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06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35096" y="1009650"/>
            <a:ext cx="4874210" cy="2743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9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12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110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1" name="Mục tiêu và phạm vi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Mục tiêu và phạm vi</a:t>
              </a:r>
            </a:p>
          </p:txBody>
        </p:sp>
      </p:grpSp>
      <p:grpSp>
        <p:nvGrpSpPr>
          <p:cNvPr id="115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113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4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sp>
        <p:nvSpPr>
          <p:cNvPr id="116" name="Rectangle"/>
          <p:cNvSpPr/>
          <p:nvPr/>
        </p:nvSpPr>
        <p:spPr>
          <a:xfrm>
            <a:off x="552450" y="914400"/>
            <a:ext cx="8039100" cy="906463"/>
          </a:xfrm>
          <a:prstGeom prst="rect">
            <a:avLst/>
          </a:prstGeom>
          <a:solidFill>
            <a:srgbClr val="EAF2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19" name="Group"/>
          <p:cNvGrpSpPr/>
          <p:nvPr/>
        </p:nvGrpSpPr>
        <p:grpSpPr>
          <a:xfrm>
            <a:off x="704850" y="1028700"/>
            <a:ext cx="7734300" cy="266700"/>
            <a:chOff x="0" y="0"/>
            <a:chExt cx="7734300" cy="266700"/>
          </a:xfrm>
        </p:grpSpPr>
        <p:sp>
          <p:nvSpPr>
            <p:cNvPr id="117" name="Rectangle"/>
            <p:cNvSpPr/>
            <p:nvPr/>
          </p:nvSpPr>
          <p:spPr>
            <a:xfrm>
              <a:off x="0" y="0"/>
              <a:ext cx="77343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18" name="Mục tiêu tổng quát"/>
            <p:cNvSpPr txBox="1"/>
            <p:nvPr/>
          </p:nvSpPr>
          <p:spPr>
            <a:xfrm>
              <a:off x="0" y="0"/>
              <a:ext cx="773430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Mục tiêu tổng quát</a:t>
              </a:r>
            </a:p>
          </p:txBody>
        </p:sp>
      </p:grpSp>
      <p:grpSp>
        <p:nvGrpSpPr>
          <p:cNvPr id="122" name="Group"/>
          <p:cNvGrpSpPr/>
          <p:nvPr/>
        </p:nvGrpSpPr>
        <p:grpSpPr>
          <a:xfrm>
            <a:off x="704850" y="1352550"/>
            <a:ext cx="7734300" cy="375599"/>
            <a:chOff x="0" y="0"/>
            <a:chExt cx="7734300" cy="375598"/>
          </a:xfrm>
        </p:grpSpPr>
        <p:sp>
          <p:nvSpPr>
            <p:cNvPr id="120" name="Rectangle"/>
            <p:cNvSpPr/>
            <p:nvPr/>
          </p:nvSpPr>
          <p:spPr>
            <a:xfrm>
              <a:off x="0" y="0"/>
              <a:ext cx="77343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1" name="Phân tích hành vi chi tiêu để đánh giá hiệu quả thật sự của cashback và phát hiện các nhóm người dùng có rủi ro cashback kém hiệu quả."/>
            <p:cNvSpPr txBox="1"/>
            <p:nvPr/>
          </p:nvSpPr>
          <p:spPr>
            <a:xfrm>
              <a:off x="0" y="0"/>
              <a:ext cx="7734300" cy="375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Phân tích hành vi chi tiêu để đánh giá hiệu quả thật sự của cashback và phát hiện các nhóm người dùng có rủi ro cashback kém hiệu quả.</a:t>
              </a:r>
            </a:p>
          </p:txBody>
        </p:sp>
      </p:grpSp>
      <p:grpSp>
        <p:nvGrpSpPr>
          <p:cNvPr id="125" name="Group"/>
          <p:cNvGrpSpPr/>
          <p:nvPr/>
        </p:nvGrpSpPr>
        <p:grpSpPr>
          <a:xfrm>
            <a:off x="685800" y="1961616"/>
            <a:ext cx="209550" cy="228601"/>
            <a:chOff x="0" y="0"/>
            <a:chExt cx="209550" cy="228600"/>
          </a:xfrm>
        </p:grpSpPr>
        <p:sp>
          <p:nvSpPr>
            <p:cNvPr id="123" name="Rectangle"/>
            <p:cNvSpPr/>
            <p:nvPr/>
          </p:nvSpPr>
          <p:spPr>
            <a:xfrm>
              <a:off x="0" y="0"/>
              <a:ext cx="209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4" name="•"/>
            <p:cNvSpPr txBox="1"/>
            <p:nvPr/>
          </p:nvSpPr>
          <p:spPr>
            <a:xfrm>
              <a:off x="0" y="0"/>
              <a:ext cx="2095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•</a:t>
              </a:r>
            </a:p>
          </p:txBody>
        </p:sp>
      </p:grpSp>
      <p:grpSp>
        <p:nvGrpSpPr>
          <p:cNvPr id="128" name="Group"/>
          <p:cNvGrpSpPr/>
          <p:nvPr/>
        </p:nvGrpSpPr>
        <p:grpSpPr>
          <a:xfrm>
            <a:off x="971550" y="1971141"/>
            <a:ext cx="7391400" cy="400584"/>
            <a:chOff x="0" y="0"/>
            <a:chExt cx="7391400" cy="400583"/>
          </a:xfrm>
        </p:grpSpPr>
        <p:sp>
          <p:nvSpPr>
            <p:cNvPr id="126" name="Rectangle"/>
            <p:cNvSpPr/>
            <p:nvPr/>
          </p:nvSpPr>
          <p:spPr>
            <a:xfrm>
              <a:off x="0" y="0"/>
              <a:ext cx="7391400" cy="2571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27" name="Xây dựng hoặc mô phỏng dữ liệu người dùng, thẻ, giao dịch, danh mục, quy tắc cashback, cap, phí/lãi."/>
            <p:cNvSpPr txBox="1"/>
            <p:nvPr/>
          </p:nvSpPr>
          <p:spPr>
            <a:xfrm>
              <a:off x="0" y="0"/>
              <a:ext cx="7391400" cy="400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Xây dựng hoặc mô phỏng dữ liệu người dùng, thẻ, giao dịch, danh mục, quy tắc cashback, cap, phí/lãi.</a:t>
              </a:r>
            </a:p>
          </p:txBody>
        </p:sp>
      </p:grpSp>
      <p:grpSp>
        <p:nvGrpSpPr>
          <p:cNvPr id="131" name="Group"/>
          <p:cNvGrpSpPr/>
          <p:nvPr/>
        </p:nvGrpSpPr>
        <p:grpSpPr>
          <a:xfrm>
            <a:off x="685800" y="2409825"/>
            <a:ext cx="209550" cy="228600"/>
            <a:chOff x="0" y="0"/>
            <a:chExt cx="209550" cy="228600"/>
          </a:xfrm>
        </p:grpSpPr>
        <p:sp>
          <p:nvSpPr>
            <p:cNvPr id="129" name="Rectangle"/>
            <p:cNvSpPr/>
            <p:nvPr/>
          </p:nvSpPr>
          <p:spPr>
            <a:xfrm>
              <a:off x="0" y="0"/>
              <a:ext cx="209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0" name="•"/>
            <p:cNvSpPr txBox="1"/>
            <p:nvPr/>
          </p:nvSpPr>
          <p:spPr>
            <a:xfrm>
              <a:off x="0" y="0"/>
              <a:ext cx="2095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•</a:t>
              </a:r>
            </a:p>
          </p:txBody>
        </p:sp>
      </p:grpSp>
      <p:grpSp>
        <p:nvGrpSpPr>
          <p:cNvPr id="134" name="Group"/>
          <p:cNvGrpSpPr/>
          <p:nvPr/>
        </p:nvGrpSpPr>
        <p:grpSpPr>
          <a:xfrm>
            <a:off x="971550" y="2419350"/>
            <a:ext cx="7391400" cy="400584"/>
            <a:chOff x="0" y="0"/>
            <a:chExt cx="7391400" cy="400583"/>
          </a:xfrm>
        </p:grpSpPr>
        <p:sp>
          <p:nvSpPr>
            <p:cNvPr id="132" name="Rectangle"/>
            <p:cNvSpPr/>
            <p:nvPr/>
          </p:nvSpPr>
          <p:spPr>
            <a:xfrm>
              <a:off x="0" y="0"/>
              <a:ext cx="7391400" cy="2571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3" name="Tính các chỉ số: Effective Cashback Rate, Net Cashback Benefit, Wasted Cashback, Overspending Risk."/>
            <p:cNvSpPr txBox="1"/>
            <p:nvPr/>
          </p:nvSpPr>
          <p:spPr>
            <a:xfrm>
              <a:off x="0" y="0"/>
              <a:ext cx="7391400" cy="400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Tính các chỉ số: Effective Cashback Rate, Net Cashback Benefit, Wasted Cashback, Overspending Risk.</a:t>
              </a:r>
            </a:p>
          </p:txBody>
        </p:sp>
      </p:grpSp>
      <p:grpSp>
        <p:nvGrpSpPr>
          <p:cNvPr id="137" name="Group"/>
          <p:cNvGrpSpPr/>
          <p:nvPr/>
        </p:nvGrpSpPr>
        <p:grpSpPr>
          <a:xfrm>
            <a:off x="685800" y="2818866"/>
            <a:ext cx="209550" cy="228601"/>
            <a:chOff x="0" y="0"/>
            <a:chExt cx="209550" cy="228600"/>
          </a:xfrm>
        </p:grpSpPr>
        <p:sp>
          <p:nvSpPr>
            <p:cNvPr id="135" name="Rectangle"/>
            <p:cNvSpPr/>
            <p:nvPr/>
          </p:nvSpPr>
          <p:spPr>
            <a:xfrm>
              <a:off x="0" y="0"/>
              <a:ext cx="209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6" name="•"/>
            <p:cNvSpPr txBox="1"/>
            <p:nvPr/>
          </p:nvSpPr>
          <p:spPr>
            <a:xfrm>
              <a:off x="0" y="0"/>
              <a:ext cx="2095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•</a:t>
              </a:r>
            </a:p>
          </p:txBody>
        </p:sp>
      </p:grpSp>
      <p:grpSp>
        <p:nvGrpSpPr>
          <p:cNvPr id="140" name="Group"/>
          <p:cNvGrpSpPr/>
          <p:nvPr/>
        </p:nvGrpSpPr>
        <p:grpSpPr>
          <a:xfrm>
            <a:off x="971550" y="2828391"/>
            <a:ext cx="7391400" cy="400584"/>
            <a:chOff x="0" y="0"/>
            <a:chExt cx="7391400" cy="400583"/>
          </a:xfrm>
        </p:grpSpPr>
        <p:sp>
          <p:nvSpPr>
            <p:cNvPr id="138" name="Rectangle"/>
            <p:cNvSpPr/>
            <p:nvPr/>
          </p:nvSpPr>
          <p:spPr>
            <a:xfrm>
              <a:off x="0" y="0"/>
              <a:ext cx="7391400" cy="2571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39" name="Áp dụng K-Means để phân khúc người dùng dựa trên hành vi chi tiêu và hiệu quả cashback."/>
            <p:cNvSpPr txBox="1"/>
            <p:nvPr/>
          </p:nvSpPr>
          <p:spPr>
            <a:xfrm>
              <a:off x="0" y="0"/>
              <a:ext cx="7391400" cy="400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Áp dụng K-Means để phân khúc người dùng dựa trên hành vi chi tiêu và hiệu quả cashback.</a:t>
              </a:r>
            </a:p>
          </p:txBody>
        </p:sp>
      </p:grpSp>
      <p:grpSp>
        <p:nvGrpSpPr>
          <p:cNvPr id="143" name="Group"/>
          <p:cNvGrpSpPr/>
          <p:nvPr/>
        </p:nvGrpSpPr>
        <p:grpSpPr>
          <a:xfrm>
            <a:off x="685800" y="3247491"/>
            <a:ext cx="209550" cy="228601"/>
            <a:chOff x="0" y="0"/>
            <a:chExt cx="209550" cy="228600"/>
          </a:xfrm>
        </p:grpSpPr>
        <p:sp>
          <p:nvSpPr>
            <p:cNvPr id="141" name="Rectangle"/>
            <p:cNvSpPr/>
            <p:nvPr/>
          </p:nvSpPr>
          <p:spPr>
            <a:xfrm>
              <a:off x="0" y="0"/>
              <a:ext cx="2095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2" name="•"/>
            <p:cNvSpPr txBox="1"/>
            <p:nvPr/>
          </p:nvSpPr>
          <p:spPr>
            <a:xfrm>
              <a:off x="0" y="0"/>
              <a:ext cx="2095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•</a:t>
              </a:r>
            </a:p>
          </p:txBody>
        </p:sp>
      </p:grpSp>
      <p:grpSp>
        <p:nvGrpSpPr>
          <p:cNvPr id="146" name="Group"/>
          <p:cNvGrpSpPr/>
          <p:nvPr/>
        </p:nvGrpSpPr>
        <p:grpSpPr>
          <a:xfrm>
            <a:off x="971550" y="3257016"/>
            <a:ext cx="7391400" cy="400584"/>
            <a:chOff x="0" y="0"/>
            <a:chExt cx="7391400" cy="400583"/>
          </a:xfrm>
        </p:grpSpPr>
        <p:sp>
          <p:nvSpPr>
            <p:cNvPr id="144" name="Rectangle"/>
            <p:cNvSpPr/>
            <p:nvPr/>
          </p:nvSpPr>
          <p:spPr>
            <a:xfrm>
              <a:off x="0" y="0"/>
              <a:ext cx="7391400" cy="25717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5" name="Diễn giải các cụm thành nhóm dễ hiểu: Efficient User, Overspender, Cap Ignorer, Wrong-Card User."/>
            <p:cNvSpPr txBox="1"/>
            <p:nvPr/>
          </p:nvSpPr>
          <p:spPr>
            <a:xfrm>
              <a:off x="0" y="0"/>
              <a:ext cx="7391400" cy="400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Diễn giải các cụm thành nhóm dễ hiểu: Efficient User, Overspender, Cap Ignorer, Wrong-Card User.</a:t>
              </a:r>
            </a:p>
          </p:txBody>
        </p:sp>
      </p:grpSp>
      <p:sp>
        <p:nvSpPr>
          <p:cNvPr id="147" name="Rectangle"/>
          <p:cNvSpPr/>
          <p:nvPr/>
        </p:nvSpPr>
        <p:spPr>
          <a:xfrm>
            <a:off x="685800" y="3733800"/>
            <a:ext cx="7677150" cy="7429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50" name="Group"/>
          <p:cNvGrpSpPr/>
          <p:nvPr/>
        </p:nvGrpSpPr>
        <p:grpSpPr>
          <a:xfrm>
            <a:off x="838200" y="3857625"/>
            <a:ext cx="7239000" cy="228600"/>
            <a:chOff x="0" y="0"/>
            <a:chExt cx="7239000" cy="228600"/>
          </a:xfrm>
        </p:grpSpPr>
        <p:sp>
          <p:nvSpPr>
            <p:cNvPr id="148" name="Rectangle"/>
            <p:cNvSpPr/>
            <p:nvPr/>
          </p:nvSpPr>
          <p:spPr>
            <a:xfrm>
              <a:off x="0" y="0"/>
              <a:ext cx="7239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49" name="Phạm vi"/>
            <p:cNvSpPr txBox="1"/>
            <p:nvPr/>
          </p:nvSpPr>
          <p:spPr>
            <a:xfrm>
              <a:off x="0" y="0"/>
              <a:ext cx="7239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Phạm vi</a:t>
              </a:r>
            </a:p>
          </p:txBody>
        </p:sp>
      </p:grpSp>
      <p:grpSp>
        <p:nvGrpSpPr>
          <p:cNvPr id="153" name="Group"/>
          <p:cNvGrpSpPr/>
          <p:nvPr/>
        </p:nvGrpSpPr>
        <p:grpSpPr>
          <a:xfrm>
            <a:off x="838200" y="4124325"/>
            <a:ext cx="7239000" cy="275246"/>
            <a:chOff x="0" y="0"/>
            <a:chExt cx="7239000" cy="275245"/>
          </a:xfrm>
        </p:grpSpPr>
        <p:sp>
          <p:nvSpPr>
            <p:cNvPr id="151" name="Rectangle"/>
            <p:cNvSpPr/>
            <p:nvPr/>
          </p:nvSpPr>
          <p:spPr>
            <a:xfrm>
              <a:off x="0" y="0"/>
              <a:ext cx="72390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0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2" name="Tập trung vào góc nhìn người dùng; không nghiên cứu chấm điểm tín dụng, nợ xấu, gian lận giao dịch hoặc lợi nhuận ngân hàng."/>
            <p:cNvSpPr txBox="1"/>
            <p:nvPr/>
          </p:nvSpPr>
          <p:spPr>
            <a:xfrm>
              <a:off x="0" y="0"/>
              <a:ext cx="7239000" cy="2752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0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Tập trung vào góc nhìn người dùng; không nghiên cứu chấm điểm tín dụng, nợ xấu, gian lận giao dịch hoặc lợi nhuận ngân hàng.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6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59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157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58" name="Tổng quan phương pháp nghiên cứu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Tổng quan phương pháp nghiên cứu</a:t>
              </a:r>
            </a:p>
          </p:txBody>
        </p:sp>
      </p:grpSp>
      <p:grpSp>
        <p:nvGrpSpPr>
          <p:cNvPr id="162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160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1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sp>
        <p:nvSpPr>
          <p:cNvPr id="163" name="Rectangle"/>
          <p:cNvSpPr/>
          <p:nvPr/>
        </p:nvSpPr>
        <p:spPr>
          <a:xfrm>
            <a:off x="514350" y="895350"/>
            <a:ext cx="811530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64" name="image2.png" descr="image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6376" y="933450"/>
            <a:ext cx="6431249" cy="3619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70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168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69" name="Dữ liệu phân tích: user-month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Dữ liệu phân tích: user-month</a:t>
              </a:r>
            </a:p>
          </p:txBody>
        </p:sp>
      </p:grpSp>
      <p:grpSp>
        <p:nvGrpSpPr>
          <p:cNvPr id="173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171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2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grpSp>
        <p:nvGrpSpPr>
          <p:cNvPr id="176" name="Group"/>
          <p:cNvGrpSpPr/>
          <p:nvPr/>
        </p:nvGrpSpPr>
        <p:grpSpPr>
          <a:xfrm>
            <a:off x="571500" y="933450"/>
            <a:ext cx="8001000" cy="457200"/>
            <a:chOff x="0" y="0"/>
            <a:chExt cx="8001000" cy="457200"/>
          </a:xfrm>
        </p:grpSpPr>
        <p:sp>
          <p:nvSpPr>
            <p:cNvPr id="174" name="Rectangle"/>
            <p:cNvSpPr/>
            <p:nvPr/>
          </p:nvSpPr>
          <p:spPr>
            <a:xfrm>
              <a:off x="0" y="0"/>
              <a:ext cx="8001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5" name="Đơn vị phân tích là user-month: mỗi dòng mô tả hành vi của một người dùng trong một tháng."/>
            <p:cNvSpPr txBox="1"/>
            <p:nvPr/>
          </p:nvSpPr>
          <p:spPr>
            <a:xfrm>
              <a:off x="0" y="0"/>
              <a:ext cx="8001000" cy="4255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5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Đơn vị phân tích là user-month: mỗi dòng mô tả hành vi của một người dùng trong một tháng.</a:t>
              </a:r>
            </a:p>
          </p:txBody>
        </p:sp>
      </p:grpSp>
      <p:sp>
        <p:nvSpPr>
          <p:cNvPr id="177" name="Rectangle"/>
          <p:cNvSpPr/>
          <p:nvPr/>
        </p:nvSpPr>
        <p:spPr>
          <a:xfrm>
            <a:off x="609600" y="1524000"/>
            <a:ext cx="2000250" cy="342900"/>
          </a:xfrm>
          <a:prstGeom prst="rect">
            <a:avLst/>
          </a:prstGeom>
          <a:solidFill>
            <a:srgbClr val="1E64C8"/>
          </a:solidFill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80" name="Group"/>
          <p:cNvGrpSpPr/>
          <p:nvPr/>
        </p:nvGrpSpPr>
        <p:grpSpPr>
          <a:xfrm>
            <a:off x="685800" y="1600200"/>
            <a:ext cx="1847850" cy="228600"/>
            <a:chOff x="0" y="0"/>
            <a:chExt cx="1847850" cy="228600"/>
          </a:xfrm>
        </p:grpSpPr>
        <p:sp>
          <p:nvSpPr>
            <p:cNvPr id="178" name="Rectangle"/>
            <p:cNvSpPr/>
            <p:nvPr/>
          </p:nvSpPr>
          <p:spPr>
            <a:xfrm>
              <a:off x="0" y="0"/>
              <a:ext cx="18478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79" name="Nguồn dữ liệu"/>
            <p:cNvSpPr txBox="1"/>
            <p:nvPr/>
          </p:nvSpPr>
          <p:spPr>
            <a:xfrm>
              <a:off x="0" y="0"/>
              <a:ext cx="1847850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Nguồn dữ liệu</a:t>
              </a:r>
            </a:p>
          </p:txBody>
        </p:sp>
      </p:grpSp>
      <p:sp>
        <p:nvSpPr>
          <p:cNvPr id="181" name="Rectangle"/>
          <p:cNvSpPr/>
          <p:nvPr/>
        </p:nvSpPr>
        <p:spPr>
          <a:xfrm>
            <a:off x="2609850" y="1524000"/>
            <a:ext cx="3048000" cy="342900"/>
          </a:xfrm>
          <a:prstGeom prst="rect">
            <a:avLst/>
          </a:prstGeom>
          <a:solidFill>
            <a:srgbClr val="1E64C8"/>
          </a:solidFill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84" name="Group"/>
          <p:cNvGrpSpPr/>
          <p:nvPr/>
        </p:nvGrpSpPr>
        <p:grpSpPr>
          <a:xfrm>
            <a:off x="2686050" y="1600200"/>
            <a:ext cx="2895600" cy="228600"/>
            <a:chOff x="0" y="0"/>
            <a:chExt cx="2895600" cy="228600"/>
          </a:xfrm>
        </p:grpSpPr>
        <p:sp>
          <p:nvSpPr>
            <p:cNvPr id="182" name="Rectangle"/>
            <p:cNvSpPr/>
            <p:nvPr/>
          </p:nvSpPr>
          <p:spPr>
            <a:xfrm>
              <a:off x="0" y="0"/>
              <a:ext cx="2895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3" name="Ví dụ biến"/>
            <p:cNvSpPr txBox="1"/>
            <p:nvPr/>
          </p:nvSpPr>
          <p:spPr>
            <a:xfrm>
              <a:off x="0" y="0"/>
              <a:ext cx="2895600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Ví dụ biến</a:t>
              </a:r>
            </a:p>
          </p:txBody>
        </p:sp>
      </p:grpSp>
      <p:sp>
        <p:nvSpPr>
          <p:cNvPr id="185" name="Rectangle"/>
          <p:cNvSpPr/>
          <p:nvPr/>
        </p:nvSpPr>
        <p:spPr>
          <a:xfrm>
            <a:off x="5657850" y="1524000"/>
            <a:ext cx="2857500" cy="342900"/>
          </a:xfrm>
          <a:prstGeom prst="rect">
            <a:avLst/>
          </a:prstGeom>
          <a:solidFill>
            <a:srgbClr val="1E64C8"/>
          </a:solidFill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88" name="Group"/>
          <p:cNvGrpSpPr/>
          <p:nvPr/>
        </p:nvGrpSpPr>
        <p:grpSpPr>
          <a:xfrm>
            <a:off x="5734050" y="1600200"/>
            <a:ext cx="2705100" cy="228600"/>
            <a:chOff x="0" y="0"/>
            <a:chExt cx="2705100" cy="228600"/>
          </a:xfrm>
        </p:grpSpPr>
        <p:sp>
          <p:nvSpPr>
            <p:cNvPr id="186" name="Rectangle"/>
            <p:cNvSpPr/>
            <p:nvPr/>
          </p:nvSpPr>
          <p:spPr>
            <a:xfrm>
              <a:off x="0" y="0"/>
              <a:ext cx="2705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87" name="Vai trò trong bài toán"/>
            <p:cNvSpPr txBox="1"/>
            <p:nvPr/>
          </p:nvSpPr>
          <p:spPr>
            <a:xfrm>
              <a:off x="0" y="0"/>
              <a:ext cx="2705100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Vai trò trong bài toán</a:t>
              </a:r>
            </a:p>
          </p:txBody>
        </p:sp>
      </p:grpSp>
      <p:sp>
        <p:nvSpPr>
          <p:cNvPr id="189" name="Rectangle"/>
          <p:cNvSpPr/>
          <p:nvPr/>
        </p:nvSpPr>
        <p:spPr>
          <a:xfrm>
            <a:off x="609600" y="1866900"/>
            <a:ext cx="2000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92" name="Group"/>
          <p:cNvGrpSpPr/>
          <p:nvPr/>
        </p:nvGrpSpPr>
        <p:grpSpPr>
          <a:xfrm>
            <a:off x="685800" y="1933575"/>
            <a:ext cx="1847850" cy="381000"/>
            <a:chOff x="0" y="0"/>
            <a:chExt cx="1847850" cy="381000"/>
          </a:xfrm>
        </p:grpSpPr>
        <p:sp>
          <p:nvSpPr>
            <p:cNvPr id="190" name="Rectangle"/>
            <p:cNvSpPr/>
            <p:nvPr/>
          </p:nvSpPr>
          <p:spPr>
            <a:xfrm>
              <a:off x="0" y="0"/>
              <a:ext cx="184785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1" name="User"/>
            <p:cNvSpPr txBox="1"/>
            <p:nvPr/>
          </p:nvSpPr>
          <p:spPr>
            <a:xfrm>
              <a:off x="0" y="0"/>
              <a:ext cx="18478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User</a:t>
              </a:r>
            </a:p>
          </p:txBody>
        </p:sp>
      </p:grpSp>
      <p:sp>
        <p:nvSpPr>
          <p:cNvPr id="193" name="Rectangle"/>
          <p:cNvSpPr/>
          <p:nvPr/>
        </p:nvSpPr>
        <p:spPr>
          <a:xfrm>
            <a:off x="2609850" y="1866900"/>
            <a:ext cx="3048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96" name="Group"/>
          <p:cNvGrpSpPr/>
          <p:nvPr/>
        </p:nvGrpSpPr>
        <p:grpSpPr>
          <a:xfrm>
            <a:off x="2686050" y="1933575"/>
            <a:ext cx="2895600" cy="381000"/>
            <a:chOff x="0" y="0"/>
            <a:chExt cx="2895600" cy="381000"/>
          </a:xfrm>
        </p:grpSpPr>
        <p:sp>
          <p:nvSpPr>
            <p:cNvPr id="194" name="Rectangle"/>
            <p:cNvSpPr/>
            <p:nvPr/>
          </p:nvSpPr>
          <p:spPr>
            <a:xfrm>
              <a:off x="0" y="0"/>
              <a:ext cx="2895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5" name="user_id, nhóm tuổi, ngân sách tháng"/>
            <p:cNvSpPr txBox="1"/>
            <p:nvPr/>
          </p:nvSpPr>
          <p:spPr>
            <a:xfrm>
              <a:off x="0" y="0"/>
              <a:ext cx="2895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user_id, nhóm tuổi, ngân sách tháng</a:t>
              </a:r>
            </a:p>
          </p:txBody>
        </p:sp>
      </p:grpSp>
      <p:sp>
        <p:nvSpPr>
          <p:cNvPr id="197" name="Rectangle"/>
          <p:cNvSpPr/>
          <p:nvPr/>
        </p:nvSpPr>
        <p:spPr>
          <a:xfrm>
            <a:off x="5657850" y="1866900"/>
            <a:ext cx="2857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00" name="Group"/>
          <p:cNvGrpSpPr/>
          <p:nvPr/>
        </p:nvGrpSpPr>
        <p:grpSpPr>
          <a:xfrm>
            <a:off x="5734050" y="1933575"/>
            <a:ext cx="2705100" cy="381000"/>
            <a:chOff x="0" y="0"/>
            <a:chExt cx="2705100" cy="381000"/>
          </a:xfrm>
        </p:grpSpPr>
        <p:sp>
          <p:nvSpPr>
            <p:cNvPr id="198" name="Rectangle"/>
            <p:cNvSpPr/>
            <p:nvPr/>
          </p:nvSpPr>
          <p:spPr>
            <a:xfrm>
              <a:off x="0" y="0"/>
              <a:ext cx="2705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9" name="Xác định người dùng và ngưỡng chi tiêu"/>
            <p:cNvSpPr txBox="1"/>
            <p:nvPr/>
          </p:nvSpPr>
          <p:spPr>
            <a:xfrm>
              <a:off x="0" y="0"/>
              <a:ext cx="27051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Xác định người dùng và ngưỡng chi tiêu</a:t>
              </a:r>
            </a:p>
          </p:txBody>
        </p:sp>
      </p:grpSp>
      <p:sp>
        <p:nvSpPr>
          <p:cNvPr id="201" name="Rectangle"/>
          <p:cNvSpPr/>
          <p:nvPr/>
        </p:nvSpPr>
        <p:spPr>
          <a:xfrm>
            <a:off x="609600" y="2343150"/>
            <a:ext cx="2000250" cy="4762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04" name="Group"/>
          <p:cNvGrpSpPr/>
          <p:nvPr/>
        </p:nvGrpSpPr>
        <p:grpSpPr>
          <a:xfrm>
            <a:off x="685800" y="2409825"/>
            <a:ext cx="1847850" cy="381000"/>
            <a:chOff x="0" y="0"/>
            <a:chExt cx="1847850" cy="381000"/>
          </a:xfrm>
        </p:grpSpPr>
        <p:sp>
          <p:nvSpPr>
            <p:cNvPr id="202" name="Rectangle"/>
            <p:cNvSpPr/>
            <p:nvPr/>
          </p:nvSpPr>
          <p:spPr>
            <a:xfrm>
              <a:off x="0" y="0"/>
              <a:ext cx="184785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3" name="Card rule"/>
            <p:cNvSpPr txBox="1"/>
            <p:nvPr/>
          </p:nvSpPr>
          <p:spPr>
            <a:xfrm>
              <a:off x="0" y="0"/>
              <a:ext cx="18478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Card rule</a:t>
              </a:r>
            </a:p>
          </p:txBody>
        </p:sp>
      </p:grpSp>
      <p:sp>
        <p:nvSpPr>
          <p:cNvPr id="205" name="Rectangle"/>
          <p:cNvSpPr/>
          <p:nvPr/>
        </p:nvSpPr>
        <p:spPr>
          <a:xfrm>
            <a:off x="2609850" y="2343150"/>
            <a:ext cx="3048000" cy="4762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08" name="Group"/>
          <p:cNvGrpSpPr/>
          <p:nvPr/>
        </p:nvGrpSpPr>
        <p:grpSpPr>
          <a:xfrm>
            <a:off x="2686050" y="2409825"/>
            <a:ext cx="2895600" cy="381000"/>
            <a:chOff x="0" y="0"/>
            <a:chExt cx="2895600" cy="381000"/>
          </a:xfrm>
        </p:grpSpPr>
        <p:sp>
          <p:nvSpPr>
            <p:cNvPr id="206" name="Rectangle"/>
            <p:cNvSpPr/>
            <p:nvPr/>
          </p:nvSpPr>
          <p:spPr>
            <a:xfrm>
              <a:off x="0" y="0"/>
              <a:ext cx="2895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7" name="cashback rate, category, monthly cap"/>
            <p:cNvSpPr txBox="1"/>
            <p:nvPr/>
          </p:nvSpPr>
          <p:spPr>
            <a:xfrm>
              <a:off x="0" y="0"/>
              <a:ext cx="2895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cashback rate, category, monthly cap</a:t>
              </a:r>
            </a:p>
          </p:txBody>
        </p:sp>
      </p:grpSp>
      <p:sp>
        <p:nvSpPr>
          <p:cNvPr id="209" name="Rectangle"/>
          <p:cNvSpPr/>
          <p:nvPr/>
        </p:nvSpPr>
        <p:spPr>
          <a:xfrm>
            <a:off x="5657850" y="2343150"/>
            <a:ext cx="2857500" cy="4762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12" name="Group"/>
          <p:cNvGrpSpPr/>
          <p:nvPr/>
        </p:nvGrpSpPr>
        <p:grpSpPr>
          <a:xfrm>
            <a:off x="5734050" y="2409825"/>
            <a:ext cx="2705100" cy="381000"/>
            <a:chOff x="0" y="0"/>
            <a:chExt cx="2705100" cy="381000"/>
          </a:xfrm>
        </p:grpSpPr>
        <p:sp>
          <p:nvSpPr>
            <p:cNvPr id="210" name="Rectangle"/>
            <p:cNvSpPr/>
            <p:nvPr/>
          </p:nvSpPr>
          <p:spPr>
            <a:xfrm>
              <a:off x="0" y="0"/>
              <a:ext cx="2705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1" name="Tính cashback tiềm năng và thực nhận"/>
            <p:cNvSpPr txBox="1"/>
            <p:nvPr/>
          </p:nvSpPr>
          <p:spPr>
            <a:xfrm>
              <a:off x="0" y="0"/>
              <a:ext cx="27051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Tính cashback tiềm năng và thực nhận</a:t>
              </a:r>
            </a:p>
          </p:txBody>
        </p:sp>
      </p:grpSp>
      <p:sp>
        <p:nvSpPr>
          <p:cNvPr id="213" name="Rectangle"/>
          <p:cNvSpPr/>
          <p:nvPr/>
        </p:nvSpPr>
        <p:spPr>
          <a:xfrm>
            <a:off x="609600" y="2819400"/>
            <a:ext cx="2000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16" name="Group"/>
          <p:cNvGrpSpPr/>
          <p:nvPr/>
        </p:nvGrpSpPr>
        <p:grpSpPr>
          <a:xfrm>
            <a:off x="685800" y="2886075"/>
            <a:ext cx="1847850" cy="381000"/>
            <a:chOff x="0" y="0"/>
            <a:chExt cx="1847850" cy="381000"/>
          </a:xfrm>
        </p:grpSpPr>
        <p:sp>
          <p:nvSpPr>
            <p:cNvPr id="214" name="Rectangle"/>
            <p:cNvSpPr/>
            <p:nvPr/>
          </p:nvSpPr>
          <p:spPr>
            <a:xfrm>
              <a:off x="0" y="0"/>
              <a:ext cx="184785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5" name="Transaction"/>
            <p:cNvSpPr txBox="1"/>
            <p:nvPr/>
          </p:nvSpPr>
          <p:spPr>
            <a:xfrm>
              <a:off x="0" y="0"/>
              <a:ext cx="18478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Transaction</a:t>
              </a:r>
            </a:p>
          </p:txBody>
        </p:sp>
      </p:grpSp>
      <p:sp>
        <p:nvSpPr>
          <p:cNvPr id="217" name="Rectangle"/>
          <p:cNvSpPr/>
          <p:nvPr/>
        </p:nvSpPr>
        <p:spPr>
          <a:xfrm>
            <a:off x="2609850" y="2819400"/>
            <a:ext cx="3048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2686050" y="2886075"/>
            <a:ext cx="2895600" cy="381000"/>
            <a:chOff x="0" y="0"/>
            <a:chExt cx="2895600" cy="381000"/>
          </a:xfrm>
        </p:grpSpPr>
        <p:sp>
          <p:nvSpPr>
            <p:cNvPr id="218" name="Rectangle"/>
            <p:cNvSpPr/>
            <p:nvPr/>
          </p:nvSpPr>
          <p:spPr>
            <a:xfrm>
              <a:off x="0" y="0"/>
              <a:ext cx="2895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19" name="amount, date, merchant, MCC/category"/>
            <p:cNvSpPr txBox="1"/>
            <p:nvPr/>
          </p:nvSpPr>
          <p:spPr>
            <a:xfrm>
              <a:off x="0" y="0"/>
              <a:ext cx="2895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amount, date, merchant, MCC/category</a:t>
              </a:r>
            </a:p>
          </p:txBody>
        </p:sp>
      </p:grpSp>
      <p:sp>
        <p:nvSpPr>
          <p:cNvPr id="221" name="Rectangle"/>
          <p:cNvSpPr/>
          <p:nvPr/>
        </p:nvSpPr>
        <p:spPr>
          <a:xfrm>
            <a:off x="5657850" y="2819400"/>
            <a:ext cx="2857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24" name="Group"/>
          <p:cNvGrpSpPr/>
          <p:nvPr/>
        </p:nvGrpSpPr>
        <p:grpSpPr>
          <a:xfrm>
            <a:off x="5734050" y="2886075"/>
            <a:ext cx="2705100" cy="381000"/>
            <a:chOff x="0" y="0"/>
            <a:chExt cx="2705100" cy="381000"/>
          </a:xfrm>
        </p:grpSpPr>
        <p:sp>
          <p:nvSpPr>
            <p:cNvPr id="222" name="Rectangle"/>
            <p:cNvSpPr/>
            <p:nvPr/>
          </p:nvSpPr>
          <p:spPr>
            <a:xfrm>
              <a:off x="0" y="0"/>
              <a:ext cx="2705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3" name="Tổng hợp hành vi chi tiêu"/>
            <p:cNvSpPr txBox="1"/>
            <p:nvPr/>
          </p:nvSpPr>
          <p:spPr>
            <a:xfrm>
              <a:off x="0" y="0"/>
              <a:ext cx="27051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Tổng hợp hành vi chi tiêu</a:t>
              </a:r>
            </a:p>
          </p:txBody>
        </p:sp>
      </p:grpSp>
      <p:sp>
        <p:nvSpPr>
          <p:cNvPr id="225" name="Rectangle"/>
          <p:cNvSpPr/>
          <p:nvPr/>
        </p:nvSpPr>
        <p:spPr>
          <a:xfrm>
            <a:off x="609600" y="3295650"/>
            <a:ext cx="2000250" cy="4762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28" name="Group"/>
          <p:cNvGrpSpPr/>
          <p:nvPr/>
        </p:nvGrpSpPr>
        <p:grpSpPr>
          <a:xfrm>
            <a:off x="685800" y="3362325"/>
            <a:ext cx="1847850" cy="381000"/>
            <a:chOff x="0" y="0"/>
            <a:chExt cx="1847850" cy="381000"/>
          </a:xfrm>
        </p:grpSpPr>
        <p:sp>
          <p:nvSpPr>
            <p:cNvPr id="226" name="Rectangle"/>
            <p:cNvSpPr/>
            <p:nvPr/>
          </p:nvSpPr>
          <p:spPr>
            <a:xfrm>
              <a:off x="0" y="0"/>
              <a:ext cx="184785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27" name="Cost"/>
            <p:cNvSpPr txBox="1"/>
            <p:nvPr/>
          </p:nvSpPr>
          <p:spPr>
            <a:xfrm>
              <a:off x="0" y="0"/>
              <a:ext cx="18478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Cost</a:t>
              </a:r>
            </a:p>
          </p:txBody>
        </p:sp>
      </p:grpSp>
      <p:sp>
        <p:nvSpPr>
          <p:cNvPr id="229" name="Rectangle"/>
          <p:cNvSpPr/>
          <p:nvPr/>
        </p:nvSpPr>
        <p:spPr>
          <a:xfrm>
            <a:off x="2609850" y="3295650"/>
            <a:ext cx="3048000" cy="4762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2" name="Group"/>
          <p:cNvGrpSpPr/>
          <p:nvPr/>
        </p:nvGrpSpPr>
        <p:grpSpPr>
          <a:xfrm>
            <a:off x="2686050" y="3362325"/>
            <a:ext cx="2895600" cy="381000"/>
            <a:chOff x="0" y="0"/>
            <a:chExt cx="2895600" cy="381000"/>
          </a:xfrm>
        </p:grpSpPr>
        <p:sp>
          <p:nvSpPr>
            <p:cNvPr id="230" name="Rectangle"/>
            <p:cNvSpPr/>
            <p:nvPr/>
          </p:nvSpPr>
          <p:spPr>
            <a:xfrm>
              <a:off x="0" y="0"/>
              <a:ext cx="2895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1" name="annual fee, late fee, interest"/>
            <p:cNvSpPr txBox="1"/>
            <p:nvPr/>
          </p:nvSpPr>
          <p:spPr>
            <a:xfrm>
              <a:off x="0" y="0"/>
              <a:ext cx="2895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annual fee, late fee, interest</a:t>
              </a:r>
            </a:p>
          </p:txBody>
        </p:sp>
      </p:grpSp>
      <p:sp>
        <p:nvSpPr>
          <p:cNvPr id="233" name="Rectangle"/>
          <p:cNvSpPr/>
          <p:nvPr/>
        </p:nvSpPr>
        <p:spPr>
          <a:xfrm>
            <a:off x="5657850" y="3295650"/>
            <a:ext cx="2857500" cy="4762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6" name="Group"/>
          <p:cNvGrpSpPr/>
          <p:nvPr/>
        </p:nvGrpSpPr>
        <p:grpSpPr>
          <a:xfrm>
            <a:off x="5734050" y="3362325"/>
            <a:ext cx="2705100" cy="381000"/>
            <a:chOff x="0" y="0"/>
            <a:chExt cx="2705100" cy="381000"/>
          </a:xfrm>
        </p:grpSpPr>
        <p:sp>
          <p:nvSpPr>
            <p:cNvPr id="234" name="Rectangle"/>
            <p:cNvSpPr/>
            <p:nvPr/>
          </p:nvSpPr>
          <p:spPr>
            <a:xfrm>
              <a:off x="0" y="0"/>
              <a:ext cx="27051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5" name="Tính lợi ích ròng NET"/>
            <p:cNvSpPr txBox="1"/>
            <p:nvPr/>
          </p:nvSpPr>
          <p:spPr>
            <a:xfrm>
              <a:off x="0" y="0"/>
              <a:ext cx="27051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Tính lợi ích ròng NET</a:t>
              </a:r>
            </a:p>
          </p:txBody>
        </p:sp>
      </p:grpSp>
      <p:grpSp>
        <p:nvGrpSpPr>
          <p:cNvPr id="239" name="Group"/>
          <p:cNvGrpSpPr/>
          <p:nvPr/>
        </p:nvGrpSpPr>
        <p:grpSpPr>
          <a:xfrm>
            <a:off x="685800" y="4000500"/>
            <a:ext cx="7620000" cy="400050"/>
            <a:chOff x="0" y="0"/>
            <a:chExt cx="7620000" cy="400050"/>
          </a:xfrm>
        </p:grpSpPr>
        <p:sp>
          <p:nvSpPr>
            <p:cNvPr id="237" name="Rectangle"/>
            <p:cNvSpPr/>
            <p:nvPr/>
          </p:nvSpPr>
          <p:spPr>
            <a:xfrm>
              <a:off x="0" y="0"/>
              <a:ext cx="76200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8" name="Sau khi tiền xử lý, dữ liệu giao dịch được gom thành bảng feature theo từng user-month để đưa vào K-Means."/>
            <p:cNvSpPr txBox="1"/>
            <p:nvPr/>
          </p:nvSpPr>
          <p:spPr>
            <a:xfrm>
              <a:off x="0" y="0"/>
              <a:ext cx="7620000" cy="375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3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Sau khi tiền xử lý, dữ liệu giao dịch được gom thành bảng feature theo từng user-month để đưa vào K-Means.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2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45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243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4" name="Feature dùng cho K-Means là gì?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Feature dùng cho K-Means là gì?</a:t>
              </a:r>
            </a:p>
          </p:txBody>
        </p:sp>
      </p:grpSp>
      <p:grpSp>
        <p:nvGrpSpPr>
          <p:cNvPr id="248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246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7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grpSp>
        <p:nvGrpSpPr>
          <p:cNvPr id="251" name="Group"/>
          <p:cNvGrpSpPr/>
          <p:nvPr/>
        </p:nvGrpSpPr>
        <p:grpSpPr>
          <a:xfrm>
            <a:off x="571500" y="895350"/>
            <a:ext cx="8001000" cy="438150"/>
            <a:chOff x="0" y="0"/>
            <a:chExt cx="8001000" cy="438150"/>
          </a:xfrm>
        </p:grpSpPr>
        <p:sp>
          <p:nvSpPr>
            <p:cNvPr id="249" name="Rectangle"/>
            <p:cNvSpPr/>
            <p:nvPr/>
          </p:nvSpPr>
          <p:spPr>
            <a:xfrm>
              <a:off x="0" y="0"/>
              <a:ext cx="8001000" cy="4381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0" name="Feature là các biến số mô tả hành vi và hiệu quả cashback của mỗi user-month. K-Means chỉ hiểu con số, nên hành vi phải được chuyển thành feature."/>
            <p:cNvSpPr txBox="1"/>
            <p:nvPr/>
          </p:nvSpPr>
          <p:spPr>
            <a:xfrm>
              <a:off x="0" y="0"/>
              <a:ext cx="8001000" cy="4005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Feature là các biến số mô tả hành vi và hiệu quả cashback của mỗi user-month. K-Means chỉ hiểu con số, nên hành vi phải được chuyển thành feature.</a:t>
              </a:r>
            </a:p>
          </p:txBody>
        </p:sp>
      </p:grpSp>
      <p:sp>
        <p:nvSpPr>
          <p:cNvPr id="252" name="Rectangle"/>
          <p:cNvSpPr/>
          <p:nvPr/>
        </p:nvSpPr>
        <p:spPr>
          <a:xfrm>
            <a:off x="571500" y="1524000"/>
            <a:ext cx="2476500" cy="1809750"/>
          </a:xfrm>
          <a:prstGeom prst="rect">
            <a:avLst/>
          </a:prstGeom>
          <a:solidFill>
            <a:srgbClr val="EAF2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55" name="Group"/>
          <p:cNvGrpSpPr/>
          <p:nvPr/>
        </p:nvGrpSpPr>
        <p:grpSpPr>
          <a:xfrm>
            <a:off x="723900" y="1638300"/>
            <a:ext cx="2171700" cy="266700"/>
            <a:chOff x="0" y="0"/>
            <a:chExt cx="2171700" cy="266700"/>
          </a:xfrm>
        </p:grpSpPr>
        <p:sp>
          <p:nvSpPr>
            <p:cNvPr id="253" name="Rectangle"/>
            <p:cNvSpPr/>
            <p:nvPr/>
          </p:nvSpPr>
          <p:spPr>
            <a:xfrm>
              <a:off x="0" y="0"/>
              <a:ext cx="2171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4" name="1. Mức độ chi tiêu"/>
            <p:cNvSpPr txBox="1"/>
            <p:nvPr/>
          </p:nvSpPr>
          <p:spPr>
            <a:xfrm>
              <a:off x="0" y="0"/>
              <a:ext cx="217170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1. Mức độ chi tiêu</a:t>
              </a:r>
            </a:p>
          </p:txBody>
        </p:sp>
      </p:grpSp>
      <p:grpSp>
        <p:nvGrpSpPr>
          <p:cNvPr id="258" name="Group"/>
          <p:cNvGrpSpPr/>
          <p:nvPr/>
        </p:nvGrpSpPr>
        <p:grpSpPr>
          <a:xfrm>
            <a:off x="723900" y="1962150"/>
            <a:ext cx="2171700" cy="1276350"/>
            <a:chOff x="0" y="0"/>
            <a:chExt cx="2171700" cy="1276350"/>
          </a:xfrm>
        </p:grpSpPr>
        <p:sp>
          <p:nvSpPr>
            <p:cNvPr id="256" name="Rectangle"/>
            <p:cNvSpPr/>
            <p:nvPr/>
          </p:nvSpPr>
          <p:spPr>
            <a:xfrm>
              <a:off x="0" y="0"/>
              <a:ext cx="2171700" cy="1276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57" name="total_spending…"/>
            <p:cNvSpPr txBox="1"/>
            <p:nvPr/>
          </p:nvSpPr>
          <p:spPr>
            <a:xfrm>
              <a:off x="0" y="0"/>
              <a:ext cx="2171700" cy="75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total_spending</a:t>
              </a:r>
            </a:p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transaction_frequency</a:t>
              </a:r>
            </a:p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avg_transaction_value</a:t>
              </a:r>
            </a:p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active_days</a:t>
              </a:r>
            </a:p>
          </p:txBody>
        </p:sp>
      </p:grpSp>
      <p:sp>
        <p:nvSpPr>
          <p:cNvPr id="259" name="Rectangle"/>
          <p:cNvSpPr/>
          <p:nvPr/>
        </p:nvSpPr>
        <p:spPr>
          <a:xfrm>
            <a:off x="3333750" y="1524000"/>
            <a:ext cx="2476500" cy="1809750"/>
          </a:xfrm>
          <a:prstGeom prst="rect">
            <a:avLst/>
          </a:prstGeom>
          <a:solidFill>
            <a:srgbClr val="E7F7F7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62" name="Group"/>
          <p:cNvGrpSpPr/>
          <p:nvPr/>
        </p:nvGrpSpPr>
        <p:grpSpPr>
          <a:xfrm>
            <a:off x="3486150" y="1638300"/>
            <a:ext cx="2171700" cy="266700"/>
            <a:chOff x="0" y="0"/>
            <a:chExt cx="2171700" cy="266700"/>
          </a:xfrm>
        </p:grpSpPr>
        <p:sp>
          <p:nvSpPr>
            <p:cNvPr id="260" name="Rectangle"/>
            <p:cNvSpPr/>
            <p:nvPr/>
          </p:nvSpPr>
          <p:spPr>
            <a:xfrm>
              <a:off x="0" y="0"/>
              <a:ext cx="2171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1" name="2. Cơ cấu danh mục"/>
            <p:cNvSpPr txBox="1"/>
            <p:nvPr/>
          </p:nvSpPr>
          <p:spPr>
            <a:xfrm>
              <a:off x="0" y="0"/>
              <a:ext cx="217170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2. Cơ cấu danh mục</a:t>
              </a:r>
            </a:p>
          </p:txBody>
        </p:sp>
      </p:grpSp>
      <p:grpSp>
        <p:nvGrpSpPr>
          <p:cNvPr id="265" name="Group"/>
          <p:cNvGrpSpPr/>
          <p:nvPr/>
        </p:nvGrpSpPr>
        <p:grpSpPr>
          <a:xfrm>
            <a:off x="3486150" y="1962150"/>
            <a:ext cx="2171700" cy="1276350"/>
            <a:chOff x="0" y="0"/>
            <a:chExt cx="2171700" cy="1276350"/>
          </a:xfrm>
        </p:grpSpPr>
        <p:sp>
          <p:nvSpPr>
            <p:cNvPr id="263" name="Rectangle"/>
            <p:cNvSpPr/>
            <p:nvPr/>
          </p:nvSpPr>
          <p:spPr>
            <a:xfrm>
              <a:off x="0" y="0"/>
              <a:ext cx="2171700" cy="1276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4" name="food_ratio…"/>
            <p:cNvSpPr txBox="1"/>
            <p:nvPr/>
          </p:nvSpPr>
          <p:spPr>
            <a:xfrm>
              <a:off x="0" y="0"/>
              <a:ext cx="2171700" cy="75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food_ratio</a:t>
              </a:r>
            </a:p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shopping_ratio</a:t>
              </a:r>
            </a:p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travel_ratio</a:t>
              </a:r>
            </a:p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eligible_category_ratio</a:t>
              </a:r>
            </a:p>
          </p:txBody>
        </p:sp>
      </p:grpSp>
      <p:sp>
        <p:nvSpPr>
          <p:cNvPr id="266" name="Rectangle"/>
          <p:cNvSpPr/>
          <p:nvPr/>
        </p:nvSpPr>
        <p:spPr>
          <a:xfrm>
            <a:off x="6096000" y="1524000"/>
            <a:ext cx="2476500" cy="1809750"/>
          </a:xfrm>
          <a:prstGeom prst="rect">
            <a:avLst/>
          </a:prstGeom>
          <a:solidFill>
            <a:srgbClr val="FFF3D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69" name="Group"/>
          <p:cNvGrpSpPr/>
          <p:nvPr/>
        </p:nvGrpSpPr>
        <p:grpSpPr>
          <a:xfrm>
            <a:off x="6248400" y="1638300"/>
            <a:ext cx="2171700" cy="266700"/>
            <a:chOff x="0" y="0"/>
            <a:chExt cx="2171700" cy="266700"/>
          </a:xfrm>
        </p:grpSpPr>
        <p:sp>
          <p:nvSpPr>
            <p:cNvPr id="267" name="Rectangle"/>
            <p:cNvSpPr/>
            <p:nvPr/>
          </p:nvSpPr>
          <p:spPr>
            <a:xfrm>
              <a:off x="0" y="0"/>
              <a:ext cx="2171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D982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68" name="3. Hiệu quả &amp; rủi ro"/>
            <p:cNvSpPr txBox="1"/>
            <p:nvPr/>
          </p:nvSpPr>
          <p:spPr>
            <a:xfrm>
              <a:off x="0" y="0"/>
              <a:ext cx="217170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D982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3. Hiệu quả &amp; rủi ro</a:t>
              </a:r>
            </a:p>
          </p:txBody>
        </p:sp>
      </p:grpSp>
      <p:grpSp>
        <p:nvGrpSpPr>
          <p:cNvPr id="272" name="Group"/>
          <p:cNvGrpSpPr/>
          <p:nvPr/>
        </p:nvGrpSpPr>
        <p:grpSpPr>
          <a:xfrm>
            <a:off x="6248400" y="1962150"/>
            <a:ext cx="2171700" cy="1276350"/>
            <a:chOff x="0" y="0"/>
            <a:chExt cx="2171700" cy="1276350"/>
          </a:xfrm>
        </p:grpSpPr>
        <p:sp>
          <p:nvSpPr>
            <p:cNvPr id="270" name="Rectangle"/>
            <p:cNvSpPr/>
            <p:nvPr/>
          </p:nvSpPr>
          <p:spPr>
            <a:xfrm>
              <a:off x="0" y="0"/>
              <a:ext cx="2171700" cy="1276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1" name="ECR…"/>
            <p:cNvSpPr txBox="1"/>
            <p:nvPr/>
          </p:nvSpPr>
          <p:spPr>
            <a:xfrm>
              <a:off x="0" y="0"/>
              <a:ext cx="2171700" cy="75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ECR</a:t>
              </a:r>
            </a:p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NET</a:t>
              </a:r>
            </a:p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WST</a:t>
              </a:r>
            </a:p>
            <a:p>
              <a:pPr>
                <a:defRPr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RISK</a:t>
              </a:r>
            </a:p>
          </p:txBody>
        </p:sp>
      </p:grpSp>
      <p:sp>
        <p:nvSpPr>
          <p:cNvPr id="273" name="Rectangle"/>
          <p:cNvSpPr/>
          <p:nvPr/>
        </p:nvSpPr>
        <p:spPr>
          <a:xfrm>
            <a:off x="1123950" y="3676650"/>
            <a:ext cx="1714500" cy="342900"/>
          </a:xfrm>
          <a:prstGeom prst="rect">
            <a:avLst/>
          </a:prstGeom>
          <a:solidFill>
            <a:srgbClr val="EAF2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76" name="Group"/>
          <p:cNvGrpSpPr/>
          <p:nvPr/>
        </p:nvGrpSpPr>
        <p:grpSpPr>
          <a:xfrm>
            <a:off x="1200150" y="3733800"/>
            <a:ext cx="1562100" cy="228600"/>
            <a:chOff x="0" y="0"/>
            <a:chExt cx="1562100" cy="228600"/>
          </a:xfrm>
        </p:grpSpPr>
        <p:sp>
          <p:nvSpPr>
            <p:cNvPr id="274" name="Rectangle"/>
            <p:cNvSpPr/>
            <p:nvPr/>
          </p:nvSpPr>
          <p:spPr>
            <a:xfrm>
              <a:off x="0" y="0"/>
              <a:ext cx="1562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10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5" name="Hành vi chi tiêu"/>
            <p:cNvSpPr txBox="1"/>
            <p:nvPr/>
          </p:nvSpPr>
          <p:spPr>
            <a:xfrm>
              <a:off x="0" y="46527"/>
              <a:ext cx="156210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Hành vi chi tiêu</a:t>
              </a:r>
            </a:p>
          </p:txBody>
        </p:sp>
      </p:grpSp>
      <p:sp>
        <p:nvSpPr>
          <p:cNvPr id="277" name="Rectangle"/>
          <p:cNvSpPr/>
          <p:nvPr/>
        </p:nvSpPr>
        <p:spPr>
          <a:xfrm>
            <a:off x="3695700" y="3676650"/>
            <a:ext cx="1714500" cy="342900"/>
          </a:xfrm>
          <a:prstGeom prst="rect">
            <a:avLst/>
          </a:prstGeom>
          <a:solidFill>
            <a:srgbClr val="E7F7F7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80" name="Group"/>
          <p:cNvGrpSpPr/>
          <p:nvPr/>
        </p:nvGrpSpPr>
        <p:grpSpPr>
          <a:xfrm>
            <a:off x="3771900" y="3733800"/>
            <a:ext cx="1562100" cy="228600"/>
            <a:chOff x="0" y="0"/>
            <a:chExt cx="1562100" cy="228600"/>
          </a:xfrm>
        </p:grpSpPr>
        <p:sp>
          <p:nvSpPr>
            <p:cNvPr id="278" name="Rectangle"/>
            <p:cNvSpPr/>
            <p:nvPr/>
          </p:nvSpPr>
          <p:spPr>
            <a:xfrm>
              <a:off x="0" y="0"/>
              <a:ext cx="15621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1000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79" name="Danh mục chi tiêu"/>
            <p:cNvSpPr txBox="1"/>
            <p:nvPr/>
          </p:nvSpPr>
          <p:spPr>
            <a:xfrm>
              <a:off x="0" y="46527"/>
              <a:ext cx="156210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Danh mục chi tiêu</a:t>
              </a:r>
            </a:p>
          </p:txBody>
        </p:sp>
      </p:grpSp>
      <p:sp>
        <p:nvSpPr>
          <p:cNvPr id="281" name="Rectangle"/>
          <p:cNvSpPr/>
          <p:nvPr/>
        </p:nvSpPr>
        <p:spPr>
          <a:xfrm>
            <a:off x="6334125" y="3676650"/>
            <a:ext cx="1809750" cy="342900"/>
          </a:xfrm>
          <a:prstGeom prst="rect">
            <a:avLst/>
          </a:prstGeom>
          <a:solidFill>
            <a:srgbClr val="FFF3D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84" name="Group"/>
          <p:cNvGrpSpPr/>
          <p:nvPr/>
        </p:nvGrpSpPr>
        <p:grpSpPr>
          <a:xfrm>
            <a:off x="6410325" y="3733800"/>
            <a:ext cx="1657350" cy="228600"/>
            <a:chOff x="0" y="0"/>
            <a:chExt cx="1657350" cy="228600"/>
          </a:xfrm>
        </p:grpSpPr>
        <p:sp>
          <p:nvSpPr>
            <p:cNvPr id="282" name="Rectangle"/>
            <p:cNvSpPr/>
            <p:nvPr/>
          </p:nvSpPr>
          <p:spPr>
            <a:xfrm>
              <a:off x="0" y="0"/>
              <a:ext cx="16573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1000">
                  <a:solidFill>
                    <a:srgbClr val="D982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3" name="Cashback thật sự"/>
            <p:cNvSpPr txBox="1"/>
            <p:nvPr/>
          </p:nvSpPr>
          <p:spPr>
            <a:xfrm>
              <a:off x="0" y="46527"/>
              <a:ext cx="165735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000">
                  <a:solidFill>
                    <a:srgbClr val="D982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Cashback thật sự</a:t>
              </a:r>
            </a:p>
          </p:txBody>
        </p:sp>
      </p:grpSp>
      <p:grpSp>
        <p:nvGrpSpPr>
          <p:cNvPr id="287" name="Group"/>
          <p:cNvGrpSpPr/>
          <p:nvPr/>
        </p:nvGrpSpPr>
        <p:grpSpPr>
          <a:xfrm>
            <a:off x="781050" y="4229100"/>
            <a:ext cx="7600950" cy="375599"/>
            <a:chOff x="0" y="0"/>
            <a:chExt cx="7600950" cy="375598"/>
          </a:xfrm>
        </p:grpSpPr>
        <p:sp>
          <p:nvSpPr>
            <p:cNvPr id="285" name="Rectangle"/>
            <p:cNvSpPr/>
            <p:nvPr/>
          </p:nvSpPr>
          <p:spPr>
            <a:xfrm>
              <a:off x="0" y="0"/>
              <a:ext cx="76009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3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6" name="Ý tưởng: phân nhóm không chỉ theo chi tiêu cao/thấp, mà theo cả cách người dùng tạo ra hoặc làm mất lợi ích cashback."/>
            <p:cNvSpPr txBox="1"/>
            <p:nvPr/>
          </p:nvSpPr>
          <p:spPr>
            <a:xfrm>
              <a:off x="0" y="0"/>
              <a:ext cx="7600950" cy="375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3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Ý tưởng: phân nhóm không chỉ theo chi tiêu cao/thấp, mà theo cả cách người dùng tạo ra hoặc làm mất lợi ích cashback.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0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93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291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2" name="Các chỉ số đánh giá cashback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Các chỉ số đánh giá cashback</a:t>
              </a:r>
            </a:p>
          </p:txBody>
        </p:sp>
      </p:grpSp>
      <p:grpSp>
        <p:nvGrpSpPr>
          <p:cNvPr id="296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294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5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sp>
        <p:nvSpPr>
          <p:cNvPr id="297" name="Rectangle"/>
          <p:cNvSpPr/>
          <p:nvPr/>
        </p:nvSpPr>
        <p:spPr>
          <a:xfrm>
            <a:off x="552450" y="990600"/>
            <a:ext cx="1257300" cy="342900"/>
          </a:xfrm>
          <a:prstGeom prst="rect">
            <a:avLst/>
          </a:prstGeom>
          <a:solidFill>
            <a:srgbClr val="1E64C8"/>
          </a:solidFill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00" name="Group"/>
          <p:cNvGrpSpPr/>
          <p:nvPr/>
        </p:nvGrpSpPr>
        <p:grpSpPr>
          <a:xfrm>
            <a:off x="628650" y="1066800"/>
            <a:ext cx="1104900" cy="228600"/>
            <a:chOff x="0" y="0"/>
            <a:chExt cx="1104900" cy="228600"/>
          </a:xfrm>
        </p:grpSpPr>
        <p:sp>
          <p:nvSpPr>
            <p:cNvPr id="298" name="Rectangle"/>
            <p:cNvSpPr/>
            <p:nvPr/>
          </p:nvSpPr>
          <p:spPr>
            <a:xfrm>
              <a:off x="0" y="0"/>
              <a:ext cx="11049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9" name="Chỉ số"/>
            <p:cNvSpPr txBox="1"/>
            <p:nvPr/>
          </p:nvSpPr>
          <p:spPr>
            <a:xfrm>
              <a:off x="0" y="0"/>
              <a:ext cx="1104900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Chỉ số</a:t>
              </a:r>
            </a:p>
          </p:txBody>
        </p:sp>
      </p:grpSp>
      <p:sp>
        <p:nvSpPr>
          <p:cNvPr id="301" name="Rectangle"/>
          <p:cNvSpPr/>
          <p:nvPr/>
        </p:nvSpPr>
        <p:spPr>
          <a:xfrm>
            <a:off x="1809750" y="990600"/>
            <a:ext cx="2724150" cy="342900"/>
          </a:xfrm>
          <a:prstGeom prst="rect">
            <a:avLst/>
          </a:prstGeom>
          <a:solidFill>
            <a:srgbClr val="1E64C8"/>
          </a:solidFill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04" name="Group"/>
          <p:cNvGrpSpPr/>
          <p:nvPr/>
        </p:nvGrpSpPr>
        <p:grpSpPr>
          <a:xfrm>
            <a:off x="1885950" y="1066800"/>
            <a:ext cx="2571750" cy="228600"/>
            <a:chOff x="0" y="0"/>
            <a:chExt cx="2571750" cy="228600"/>
          </a:xfrm>
        </p:grpSpPr>
        <p:sp>
          <p:nvSpPr>
            <p:cNvPr id="302" name="Rectangle"/>
            <p:cNvSpPr/>
            <p:nvPr/>
          </p:nvSpPr>
          <p:spPr>
            <a:xfrm>
              <a:off x="0" y="0"/>
              <a:ext cx="25717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3" name="Công thức đơn giản"/>
            <p:cNvSpPr txBox="1"/>
            <p:nvPr/>
          </p:nvSpPr>
          <p:spPr>
            <a:xfrm>
              <a:off x="0" y="0"/>
              <a:ext cx="2571750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Công thức đơn giản</a:t>
              </a:r>
            </a:p>
          </p:txBody>
        </p:sp>
      </p:grpSp>
      <p:sp>
        <p:nvSpPr>
          <p:cNvPr id="305" name="Rectangle"/>
          <p:cNvSpPr/>
          <p:nvPr/>
        </p:nvSpPr>
        <p:spPr>
          <a:xfrm>
            <a:off x="4533900" y="990600"/>
            <a:ext cx="4210050" cy="342900"/>
          </a:xfrm>
          <a:prstGeom prst="rect">
            <a:avLst/>
          </a:prstGeom>
          <a:solidFill>
            <a:srgbClr val="1E64C8"/>
          </a:solidFill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08" name="Group"/>
          <p:cNvGrpSpPr/>
          <p:nvPr/>
        </p:nvGrpSpPr>
        <p:grpSpPr>
          <a:xfrm>
            <a:off x="4610100" y="1066800"/>
            <a:ext cx="4057650" cy="228600"/>
            <a:chOff x="0" y="0"/>
            <a:chExt cx="4057650" cy="228600"/>
          </a:xfrm>
        </p:grpSpPr>
        <p:sp>
          <p:nvSpPr>
            <p:cNvPr id="306" name="Rectangle"/>
            <p:cNvSpPr/>
            <p:nvPr/>
          </p:nvSpPr>
          <p:spPr>
            <a:xfrm>
              <a:off x="0" y="0"/>
              <a:ext cx="405765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07" name="Ý nghĩa khi diễn giải cụm"/>
            <p:cNvSpPr txBox="1"/>
            <p:nvPr/>
          </p:nvSpPr>
          <p:spPr>
            <a:xfrm>
              <a:off x="0" y="0"/>
              <a:ext cx="4057650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Ý nghĩa khi diễn giải cụm</a:t>
              </a:r>
            </a:p>
          </p:txBody>
        </p:sp>
      </p:grpSp>
      <p:sp>
        <p:nvSpPr>
          <p:cNvPr id="309" name="Rectangle"/>
          <p:cNvSpPr/>
          <p:nvPr/>
        </p:nvSpPr>
        <p:spPr>
          <a:xfrm>
            <a:off x="552450" y="1333500"/>
            <a:ext cx="1257300" cy="5905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12" name="Group"/>
          <p:cNvGrpSpPr/>
          <p:nvPr/>
        </p:nvGrpSpPr>
        <p:grpSpPr>
          <a:xfrm>
            <a:off x="628650" y="1400175"/>
            <a:ext cx="1104900" cy="495300"/>
            <a:chOff x="0" y="0"/>
            <a:chExt cx="1104900" cy="495300"/>
          </a:xfrm>
        </p:grpSpPr>
        <p:sp>
          <p:nvSpPr>
            <p:cNvPr id="310" name="Rectangle"/>
            <p:cNvSpPr/>
            <p:nvPr/>
          </p:nvSpPr>
          <p:spPr>
            <a:xfrm>
              <a:off x="0" y="0"/>
              <a:ext cx="11049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1" name="ECR"/>
            <p:cNvSpPr txBox="1"/>
            <p:nvPr/>
          </p:nvSpPr>
          <p:spPr>
            <a:xfrm>
              <a:off x="0" y="0"/>
              <a:ext cx="11049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ECR</a:t>
              </a:r>
            </a:p>
          </p:txBody>
        </p:sp>
      </p:grpSp>
      <p:sp>
        <p:nvSpPr>
          <p:cNvPr id="313" name="Rectangle"/>
          <p:cNvSpPr/>
          <p:nvPr/>
        </p:nvSpPr>
        <p:spPr>
          <a:xfrm>
            <a:off x="1809750" y="1333500"/>
            <a:ext cx="2724150" cy="5905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16" name="Group"/>
          <p:cNvGrpSpPr/>
          <p:nvPr/>
        </p:nvGrpSpPr>
        <p:grpSpPr>
          <a:xfrm>
            <a:off x="1885950" y="1400175"/>
            <a:ext cx="2571750" cy="495300"/>
            <a:chOff x="0" y="0"/>
            <a:chExt cx="2571750" cy="495300"/>
          </a:xfrm>
        </p:grpSpPr>
        <p:sp>
          <p:nvSpPr>
            <p:cNvPr id="314" name="Rectangle"/>
            <p:cNvSpPr/>
            <p:nvPr/>
          </p:nvSpPr>
          <p:spPr>
            <a:xfrm>
              <a:off x="0" y="0"/>
              <a:ext cx="257175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5" name="actual_cashback / spending"/>
            <p:cNvSpPr txBox="1"/>
            <p:nvPr/>
          </p:nvSpPr>
          <p:spPr>
            <a:xfrm>
              <a:off x="0" y="0"/>
              <a:ext cx="25717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actual_cashback / spending</a:t>
              </a:r>
            </a:p>
          </p:txBody>
        </p:sp>
      </p:grpSp>
      <p:sp>
        <p:nvSpPr>
          <p:cNvPr id="317" name="Rectangle"/>
          <p:cNvSpPr/>
          <p:nvPr/>
        </p:nvSpPr>
        <p:spPr>
          <a:xfrm>
            <a:off x="4533900" y="1333500"/>
            <a:ext cx="4210050" cy="5905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20" name="Group"/>
          <p:cNvGrpSpPr/>
          <p:nvPr/>
        </p:nvGrpSpPr>
        <p:grpSpPr>
          <a:xfrm>
            <a:off x="4610100" y="1400175"/>
            <a:ext cx="4057650" cy="495300"/>
            <a:chOff x="0" y="0"/>
            <a:chExt cx="4057650" cy="495300"/>
          </a:xfrm>
        </p:grpSpPr>
        <p:sp>
          <p:nvSpPr>
            <p:cNvPr id="318" name="Rectangle"/>
            <p:cNvSpPr/>
            <p:nvPr/>
          </p:nvSpPr>
          <p:spPr>
            <a:xfrm>
              <a:off x="0" y="0"/>
              <a:ext cx="405765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19" name="Tỷ lệ hoàn tiền thực tế; cao hơn nghĩa là chi tiêu tạo cashback hiệu quả hơn."/>
            <p:cNvSpPr txBox="1"/>
            <p:nvPr/>
          </p:nvSpPr>
          <p:spPr>
            <a:xfrm>
              <a:off x="0" y="0"/>
              <a:ext cx="40576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Tỷ lệ hoàn tiền thực tế; cao hơn nghĩa là chi tiêu tạo cashback hiệu quả hơn.</a:t>
              </a:r>
            </a:p>
          </p:txBody>
        </p:sp>
      </p:grpSp>
      <p:sp>
        <p:nvSpPr>
          <p:cNvPr id="321" name="Rectangle"/>
          <p:cNvSpPr/>
          <p:nvPr/>
        </p:nvSpPr>
        <p:spPr>
          <a:xfrm>
            <a:off x="552450" y="1924050"/>
            <a:ext cx="1257300" cy="5905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24" name="Group"/>
          <p:cNvGrpSpPr/>
          <p:nvPr/>
        </p:nvGrpSpPr>
        <p:grpSpPr>
          <a:xfrm>
            <a:off x="628650" y="1990725"/>
            <a:ext cx="1104900" cy="495300"/>
            <a:chOff x="0" y="0"/>
            <a:chExt cx="1104900" cy="495300"/>
          </a:xfrm>
        </p:grpSpPr>
        <p:sp>
          <p:nvSpPr>
            <p:cNvPr id="322" name="Rectangle"/>
            <p:cNvSpPr/>
            <p:nvPr/>
          </p:nvSpPr>
          <p:spPr>
            <a:xfrm>
              <a:off x="0" y="0"/>
              <a:ext cx="11049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3" name="NET"/>
            <p:cNvSpPr txBox="1"/>
            <p:nvPr/>
          </p:nvSpPr>
          <p:spPr>
            <a:xfrm>
              <a:off x="0" y="0"/>
              <a:ext cx="11049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NET</a:t>
              </a:r>
            </a:p>
          </p:txBody>
        </p:sp>
      </p:grpSp>
      <p:sp>
        <p:nvSpPr>
          <p:cNvPr id="325" name="Rectangle"/>
          <p:cNvSpPr/>
          <p:nvPr/>
        </p:nvSpPr>
        <p:spPr>
          <a:xfrm>
            <a:off x="1809750" y="1924050"/>
            <a:ext cx="2724150" cy="5905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28" name="Group"/>
          <p:cNvGrpSpPr/>
          <p:nvPr/>
        </p:nvGrpSpPr>
        <p:grpSpPr>
          <a:xfrm>
            <a:off x="1885950" y="1990725"/>
            <a:ext cx="2571750" cy="495300"/>
            <a:chOff x="0" y="0"/>
            <a:chExt cx="2571750" cy="495300"/>
          </a:xfrm>
        </p:grpSpPr>
        <p:sp>
          <p:nvSpPr>
            <p:cNvPr id="326" name="Rectangle"/>
            <p:cNvSpPr/>
            <p:nvPr/>
          </p:nvSpPr>
          <p:spPr>
            <a:xfrm>
              <a:off x="0" y="0"/>
              <a:ext cx="257175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27" name="cashback - fee - interest"/>
            <p:cNvSpPr txBox="1"/>
            <p:nvPr/>
          </p:nvSpPr>
          <p:spPr>
            <a:xfrm>
              <a:off x="0" y="0"/>
              <a:ext cx="25717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cashback - fee - interest</a:t>
              </a:r>
            </a:p>
          </p:txBody>
        </p:sp>
      </p:grpSp>
      <p:sp>
        <p:nvSpPr>
          <p:cNvPr id="329" name="Rectangle"/>
          <p:cNvSpPr/>
          <p:nvPr/>
        </p:nvSpPr>
        <p:spPr>
          <a:xfrm>
            <a:off x="4533900" y="1924050"/>
            <a:ext cx="4210050" cy="5905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32" name="Group"/>
          <p:cNvGrpSpPr/>
          <p:nvPr/>
        </p:nvGrpSpPr>
        <p:grpSpPr>
          <a:xfrm>
            <a:off x="4610100" y="1990725"/>
            <a:ext cx="4057650" cy="495300"/>
            <a:chOff x="0" y="0"/>
            <a:chExt cx="4057650" cy="495300"/>
          </a:xfrm>
        </p:grpSpPr>
        <p:sp>
          <p:nvSpPr>
            <p:cNvPr id="330" name="Rectangle"/>
            <p:cNvSpPr/>
            <p:nvPr/>
          </p:nvSpPr>
          <p:spPr>
            <a:xfrm>
              <a:off x="0" y="0"/>
              <a:ext cx="405765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1" name="Lợi ích ròng; NET âm cho thấy cashback không bù được chi phí phát sinh."/>
            <p:cNvSpPr txBox="1"/>
            <p:nvPr/>
          </p:nvSpPr>
          <p:spPr>
            <a:xfrm>
              <a:off x="0" y="0"/>
              <a:ext cx="40576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Lợi ích ròng; NET âm cho thấy cashback không bù được chi phí phát sinh.</a:t>
              </a:r>
            </a:p>
          </p:txBody>
        </p:sp>
      </p:grpSp>
      <p:sp>
        <p:nvSpPr>
          <p:cNvPr id="333" name="Rectangle"/>
          <p:cNvSpPr/>
          <p:nvPr/>
        </p:nvSpPr>
        <p:spPr>
          <a:xfrm>
            <a:off x="552450" y="2514600"/>
            <a:ext cx="1257300" cy="5905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36" name="Group"/>
          <p:cNvGrpSpPr/>
          <p:nvPr/>
        </p:nvGrpSpPr>
        <p:grpSpPr>
          <a:xfrm>
            <a:off x="628650" y="2581275"/>
            <a:ext cx="1104900" cy="495300"/>
            <a:chOff x="0" y="0"/>
            <a:chExt cx="1104900" cy="495300"/>
          </a:xfrm>
        </p:grpSpPr>
        <p:sp>
          <p:nvSpPr>
            <p:cNvPr id="334" name="Rectangle"/>
            <p:cNvSpPr/>
            <p:nvPr/>
          </p:nvSpPr>
          <p:spPr>
            <a:xfrm>
              <a:off x="0" y="0"/>
              <a:ext cx="11049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5" name="WST"/>
            <p:cNvSpPr txBox="1"/>
            <p:nvPr/>
          </p:nvSpPr>
          <p:spPr>
            <a:xfrm>
              <a:off x="0" y="0"/>
              <a:ext cx="11049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WST</a:t>
              </a:r>
            </a:p>
          </p:txBody>
        </p:sp>
      </p:grpSp>
      <p:sp>
        <p:nvSpPr>
          <p:cNvPr id="337" name="Rectangle"/>
          <p:cNvSpPr/>
          <p:nvPr/>
        </p:nvSpPr>
        <p:spPr>
          <a:xfrm>
            <a:off x="1809750" y="2514600"/>
            <a:ext cx="2724150" cy="5905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40" name="Group"/>
          <p:cNvGrpSpPr/>
          <p:nvPr/>
        </p:nvGrpSpPr>
        <p:grpSpPr>
          <a:xfrm>
            <a:off x="1885950" y="2581275"/>
            <a:ext cx="2571750" cy="495300"/>
            <a:chOff x="0" y="0"/>
            <a:chExt cx="2571750" cy="495300"/>
          </a:xfrm>
        </p:grpSpPr>
        <p:sp>
          <p:nvSpPr>
            <p:cNvPr id="338" name="Rectangle"/>
            <p:cNvSpPr/>
            <p:nvPr/>
          </p:nvSpPr>
          <p:spPr>
            <a:xfrm>
              <a:off x="0" y="0"/>
              <a:ext cx="257175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39" name="potential - actual"/>
            <p:cNvSpPr txBox="1"/>
            <p:nvPr/>
          </p:nvSpPr>
          <p:spPr>
            <a:xfrm>
              <a:off x="0" y="0"/>
              <a:ext cx="25717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potential - actual</a:t>
              </a:r>
            </a:p>
          </p:txBody>
        </p:sp>
      </p:grpSp>
      <p:sp>
        <p:nvSpPr>
          <p:cNvPr id="341" name="Rectangle"/>
          <p:cNvSpPr/>
          <p:nvPr/>
        </p:nvSpPr>
        <p:spPr>
          <a:xfrm>
            <a:off x="4533900" y="2514600"/>
            <a:ext cx="4210050" cy="59055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44" name="Group"/>
          <p:cNvGrpSpPr/>
          <p:nvPr/>
        </p:nvGrpSpPr>
        <p:grpSpPr>
          <a:xfrm>
            <a:off x="4610100" y="2581275"/>
            <a:ext cx="4057650" cy="495300"/>
            <a:chOff x="0" y="0"/>
            <a:chExt cx="4057650" cy="495300"/>
          </a:xfrm>
        </p:grpSpPr>
        <p:sp>
          <p:nvSpPr>
            <p:cNvPr id="342" name="Rectangle"/>
            <p:cNvSpPr/>
            <p:nvPr/>
          </p:nvSpPr>
          <p:spPr>
            <a:xfrm>
              <a:off x="0" y="0"/>
              <a:ext cx="405765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3" name="Cashback bị lãng phí do vượt cap, sai danh mục hoặc chưa dùng đúng thẻ."/>
            <p:cNvSpPr txBox="1"/>
            <p:nvPr/>
          </p:nvSpPr>
          <p:spPr>
            <a:xfrm>
              <a:off x="0" y="0"/>
              <a:ext cx="40576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Cashback bị lãng phí do vượt cap, sai danh mục hoặc chưa dùng đúng thẻ.</a:t>
              </a:r>
            </a:p>
          </p:txBody>
        </p:sp>
      </p:grpSp>
      <p:sp>
        <p:nvSpPr>
          <p:cNvPr id="345" name="Rectangle"/>
          <p:cNvSpPr/>
          <p:nvPr/>
        </p:nvSpPr>
        <p:spPr>
          <a:xfrm>
            <a:off x="552450" y="3105150"/>
            <a:ext cx="1257300" cy="5905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48" name="Group"/>
          <p:cNvGrpSpPr/>
          <p:nvPr/>
        </p:nvGrpSpPr>
        <p:grpSpPr>
          <a:xfrm>
            <a:off x="628650" y="3171825"/>
            <a:ext cx="1104900" cy="495300"/>
            <a:chOff x="0" y="0"/>
            <a:chExt cx="1104900" cy="495300"/>
          </a:xfrm>
        </p:grpSpPr>
        <p:sp>
          <p:nvSpPr>
            <p:cNvPr id="346" name="Rectangle"/>
            <p:cNvSpPr/>
            <p:nvPr/>
          </p:nvSpPr>
          <p:spPr>
            <a:xfrm>
              <a:off x="0" y="0"/>
              <a:ext cx="110490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7" name="RISK"/>
            <p:cNvSpPr txBox="1"/>
            <p:nvPr/>
          </p:nvSpPr>
          <p:spPr>
            <a:xfrm>
              <a:off x="0" y="0"/>
              <a:ext cx="11049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RISK</a:t>
              </a:r>
            </a:p>
          </p:txBody>
        </p:sp>
      </p:grpSp>
      <p:sp>
        <p:nvSpPr>
          <p:cNvPr id="349" name="Rectangle"/>
          <p:cNvSpPr/>
          <p:nvPr/>
        </p:nvSpPr>
        <p:spPr>
          <a:xfrm>
            <a:off x="1809750" y="3105150"/>
            <a:ext cx="2724150" cy="5905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52" name="Group"/>
          <p:cNvGrpSpPr/>
          <p:nvPr/>
        </p:nvGrpSpPr>
        <p:grpSpPr>
          <a:xfrm>
            <a:off x="1885950" y="3171825"/>
            <a:ext cx="2571750" cy="495300"/>
            <a:chOff x="0" y="0"/>
            <a:chExt cx="2571750" cy="495300"/>
          </a:xfrm>
        </p:grpSpPr>
        <p:sp>
          <p:nvSpPr>
            <p:cNvPr id="350" name="Rectangle"/>
            <p:cNvSpPr/>
            <p:nvPr/>
          </p:nvSpPr>
          <p:spPr>
            <a:xfrm>
              <a:off x="0" y="0"/>
              <a:ext cx="257175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1" name="overspending / budget"/>
            <p:cNvSpPr txBox="1"/>
            <p:nvPr/>
          </p:nvSpPr>
          <p:spPr>
            <a:xfrm>
              <a:off x="0" y="0"/>
              <a:ext cx="25717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overspending / budget</a:t>
              </a:r>
            </a:p>
          </p:txBody>
        </p:sp>
      </p:grpSp>
      <p:sp>
        <p:nvSpPr>
          <p:cNvPr id="353" name="Rectangle"/>
          <p:cNvSpPr/>
          <p:nvPr/>
        </p:nvSpPr>
        <p:spPr>
          <a:xfrm>
            <a:off x="4533900" y="3105150"/>
            <a:ext cx="4210050" cy="59055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56" name="Group"/>
          <p:cNvGrpSpPr/>
          <p:nvPr/>
        </p:nvGrpSpPr>
        <p:grpSpPr>
          <a:xfrm>
            <a:off x="4610100" y="3171825"/>
            <a:ext cx="4057650" cy="495300"/>
            <a:chOff x="0" y="0"/>
            <a:chExt cx="4057650" cy="495300"/>
          </a:xfrm>
        </p:grpSpPr>
        <p:sp>
          <p:nvSpPr>
            <p:cNvPr id="354" name="Rectangle"/>
            <p:cNvSpPr/>
            <p:nvPr/>
          </p:nvSpPr>
          <p:spPr>
            <a:xfrm>
              <a:off x="0" y="0"/>
              <a:ext cx="4057650" cy="4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5" name="Mức rủi ro chi tiêu quá mức; dùng để nhận diện nhóm bị cashback kích thích chi tiêu."/>
            <p:cNvSpPr txBox="1"/>
            <p:nvPr/>
          </p:nvSpPr>
          <p:spPr>
            <a:xfrm>
              <a:off x="0" y="0"/>
              <a:ext cx="4057650" cy="2502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Mức rủi ro chi tiêu quá mức; dùng để nhận diện nhóm bị cashback kích thích chi tiêu.</a:t>
              </a:r>
            </a:p>
          </p:txBody>
        </p:sp>
      </p:grpSp>
      <p:grpSp>
        <p:nvGrpSpPr>
          <p:cNvPr id="359" name="Group"/>
          <p:cNvGrpSpPr/>
          <p:nvPr/>
        </p:nvGrpSpPr>
        <p:grpSpPr>
          <a:xfrm>
            <a:off x="666750" y="4000500"/>
            <a:ext cx="7810500" cy="400050"/>
            <a:chOff x="0" y="0"/>
            <a:chExt cx="7810500" cy="400050"/>
          </a:xfrm>
        </p:grpSpPr>
        <p:sp>
          <p:nvSpPr>
            <p:cNvPr id="357" name="Rectangle"/>
            <p:cNvSpPr/>
            <p:nvPr/>
          </p:nvSpPr>
          <p:spPr>
            <a:xfrm>
              <a:off x="0" y="0"/>
              <a:ext cx="78105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2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8" name="Khi đặt tên cụm, không chỉ nhìn một chỉ số riêng lẻ mà xem mẫu hình kết hợp giữa ECR, NET, WST và RISK."/>
            <p:cNvSpPr txBox="1"/>
            <p:nvPr/>
          </p:nvSpPr>
          <p:spPr>
            <a:xfrm>
              <a:off x="0" y="0"/>
              <a:ext cx="7810500" cy="350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2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Khi đặt tên cụm, không chỉ nhìn một chỉ số riêng lẻ mà xem mẫu hình kết hợp giữa ECR, NET, WST và RISK.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2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65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363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4" name="K-Means được áp dụng như thế nào?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K-Means được áp dụng như thế nào?</a:t>
              </a:r>
            </a:p>
          </p:txBody>
        </p:sp>
      </p:grpSp>
      <p:grpSp>
        <p:nvGrpSpPr>
          <p:cNvPr id="368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366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67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sp>
        <p:nvSpPr>
          <p:cNvPr id="369" name="Rectangle"/>
          <p:cNvSpPr/>
          <p:nvPr/>
        </p:nvSpPr>
        <p:spPr>
          <a:xfrm>
            <a:off x="552450" y="933450"/>
            <a:ext cx="2381250" cy="2857500"/>
          </a:xfrm>
          <a:prstGeom prst="rect">
            <a:avLst/>
          </a:prstGeom>
          <a:solidFill>
            <a:srgbClr val="EAF2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72" name="Group"/>
          <p:cNvGrpSpPr/>
          <p:nvPr/>
        </p:nvGrpSpPr>
        <p:grpSpPr>
          <a:xfrm>
            <a:off x="704850" y="1047750"/>
            <a:ext cx="2076450" cy="266700"/>
            <a:chOff x="0" y="0"/>
            <a:chExt cx="2076450" cy="266700"/>
          </a:xfrm>
        </p:grpSpPr>
        <p:sp>
          <p:nvSpPr>
            <p:cNvPr id="370" name="Rectangle"/>
            <p:cNvSpPr/>
            <p:nvPr/>
          </p:nvSpPr>
          <p:spPr>
            <a:xfrm>
              <a:off x="0" y="0"/>
              <a:ext cx="20764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1" name="Input"/>
            <p:cNvSpPr txBox="1"/>
            <p:nvPr/>
          </p:nvSpPr>
          <p:spPr>
            <a:xfrm>
              <a:off x="0" y="0"/>
              <a:ext cx="20764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Input</a:t>
              </a:r>
            </a:p>
          </p:txBody>
        </p:sp>
      </p:grpSp>
      <p:grpSp>
        <p:nvGrpSpPr>
          <p:cNvPr id="375" name="Group"/>
          <p:cNvGrpSpPr/>
          <p:nvPr/>
        </p:nvGrpSpPr>
        <p:grpSpPr>
          <a:xfrm>
            <a:off x="704850" y="1371600"/>
            <a:ext cx="2076450" cy="2324100"/>
            <a:chOff x="0" y="0"/>
            <a:chExt cx="2076450" cy="2324100"/>
          </a:xfrm>
        </p:grpSpPr>
        <p:sp>
          <p:nvSpPr>
            <p:cNvPr id="373" name="Rectangle"/>
            <p:cNvSpPr/>
            <p:nvPr/>
          </p:nvSpPr>
          <p:spPr>
            <a:xfrm>
              <a:off x="0" y="0"/>
              <a:ext cx="2076450" cy="23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4" name="Bảng user-month đã có feature:…"/>
            <p:cNvSpPr txBox="1"/>
            <p:nvPr/>
          </p:nvSpPr>
          <p:spPr>
            <a:xfrm>
              <a:off x="0" y="0"/>
              <a:ext cx="2076450" cy="8840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Bảng user-month đã có feature:</a:t>
              </a:r>
            </a:p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spending, frequency,</a:t>
              </a:r>
            </a:p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category ratio,</a:t>
              </a:r>
            </a:p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ECR, NET, WST, RISK</a:t>
              </a:r>
            </a:p>
          </p:txBody>
        </p:sp>
      </p:grpSp>
      <p:sp>
        <p:nvSpPr>
          <p:cNvPr id="376" name="Rectangle"/>
          <p:cNvSpPr/>
          <p:nvPr/>
        </p:nvSpPr>
        <p:spPr>
          <a:xfrm>
            <a:off x="3381375" y="933450"/>
            <a:ext cx="2381250" cy="2857500"/>
          </a:xfrm>
          <a:prstGeom prst="rect">
            <a:avLst/>
          </a:prstGeom>
          <a:solidFill>
            <a:srgbClr val="E7F7F7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79" name="Group"/>
          <p:cNvGrpSpPr/>
          <p:nvPr/>
        </p:nvGrpSpPr>
        <p:grpSpPr>
          <a:xfrm>
            <a:off x="3533775" y="1047750"/>
            <a:ext cx="2076450" cy="266700"/>
            <a:chOff x="0" y="0"/>
            <a:chExt cx="2076450" cy="266700"/>
          </a:xfrm>
        </p:grpSpPr>
        <p:sp>
          <p:nvSpPr>
            <p:cNvPr id="377" name="Rectangle"/>
            <p:cNvSpPr/>
            <p:nvPr/>
          </p:nvSpPr>
          <p:spPr>
            <a:xfrm>
              <a:off x="0" y="0"/>
              <a:ext cx="20764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78" name="K-Means"/>
            <p:cNvSpPr txBox="1"/>
            <p:nvPr/>
          </p:nvSpPr>
          <p:spPr>
            <a:xfrm>
              <a:off x="0" y="0"/>
              <a:ext cx="20764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K-Means</a:t>
              </a:r>
            </a:p>
          </p:txBody>
        </p:sp>
      </p:grpSp>
      <p:grpSp>
        <p:nvGrpSpPr>
          <p:cNvPr id="382" name="Group"/>
          <p:cNvGrpSpPr/>
          <p:nvPr/>
        </p:nvGrpSpPr>
        <p:grpSpPr>
          <a:xfrm>
            <a:off x="3533775" y="1371600"/>
            <a:ext cx="2076450" cy="2324100"/>
            <a:chOff x="0" y="0"/>
            <a:chExt cx="2076450" cy="2324100"/>
          </a:xfrm>
        </p:grpSpPr>
        <p:sp>
          <p:nvSpPr>
            <p:cNvPr id="380" name="Rectangle"/>
            <p:cNvSpPr/>
            <p:nvPr/>
          </p:nvSpPr>
          <p:spPr>
            <a:xfrm>
              <a:off x="0" y="0"/>
              <a:ext cx="2076450" cy="23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1" name="1. Khởi tạo k tâm cụm…"/>
            <p:cNvSpPr txBox="1"/>
            <p:nvPr/>
          </p:nvSpPr>
          <p:spPr>
            <a:xfrm>
              <a:off x="0" y="0"/>
              <a:ext cx="2076450" cy="706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1. Khởi tạo k tâm cụm</a:t>
              </a:r>
            </a:p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2. Gán điểm vào tâm gần nhất</a:t>
              </a:r>
            </a:p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3. Cập nhật lại tâm cụm</a:t>
              </a:r>
            </a:p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4. Lặp đến khi ổn định</a:t>
              </a:r>
            </a:p>
          </p:txBody>
        </p:sp>
      </p:grpSp>
      <p:sp>
        <p:nvSpPr>
          <p:cNvPr id="383" name="Rectangle"/>
          <p:cNvSpPr/>
          <p:nvPr/>
        </p:nvSpPr>
        <p:spPr>
          <a:xfrm>
            <a:off x="6210300" y="933450"/>
            <a:ext cx="2381250" cy="2857500"/>
          </a:xfrm>
          <a:prstGeom prst="rect">
            <a:avLst/>
          </a:prstGeom>
          <a:solidFill>
            <a:srgbClr val="FFF3D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86" name="Group"/>
          <p:cNvGrpSpPr/>
          <p:nvPr/>
        </p:nvGrpSpPr>
        <p:grpSpPr>
          <a:xfrm>
            <a:off x="6362700" y="1047750"/>
            <a:ext cx="2076450" cy="266700"/>
            <a:chOff x="0" y="0"/>
            <a:chExt cx="2076450" cy="266700"/>
          </a:xfrm>
        </p:grpSpPr>
        <p:sp>
          <p:nvSpPr>
            <p:cNvPr id="384" name="Rectangle"/>
            <p:cNvSpPr/>
            <p:nvPr/>
          </p:nvSpPr>
          <p:spPr>
            <a:xfrm>
              <a:off x="0" y="0"/>
              <a:ext cx="207645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D982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5" name="Output"/>
            <p:cNvSpPr txBox="1"/>
            <p:nvPr/>
          </p:nvSpPr>
          <p:spPr>
            <a:xfrm>
              <a:off x="0" y="0"/>
              <a:ext cx="2076450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400">
                  <a:solidFill>
                    <a:srgbClr val="D982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Output</a:t>
              </a:r>
            </a:p>
          </p:txBody>
        </p:sp>
      </p:grpSp>
      <p:grpSp>
        <p:nvGrpSpPr>
          <p:cNvPr id="389" name="Group"/>
          <p:cNvGrpSpPr/>
          <p:nvPr/>
        </p:nvGrpSpPr>
        <p:grpSpPr>
          <a:xfrm>
            <a:off x="6362700" y="1371600"/>
            <a:ext cx="2076450" cy="2324100"/>
            <a:chOff x="0" y="0"/>
            <a:chExt cx="2076450" cy="2324100"/>
          </a:xfrm>
        </p:grpSpPr>
        <p:sp>
          <p:nvSpPr>
            <p:cNvPr id="387" name="Rectangle"/>
            <p:cNvSpPr/>
            <p:nvPr/>
          </p:nvSpPr>
          <p:spPr>
            <a:xfrm>
              <a:off x="0" y="0"/>
              <a:ext cx="2076450" cy="23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88" name="Mỗi user-month có một cluster label.…"/>
            <p:cNvSpPr txBox="1"/>
            <p:nvPr/>
          </p:nvSpPr>
          <p:spPr>
            <a:xfrm>
              <a:off x="0" y="0"/>
              <a:ext cx="2076450" cy="706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Mỗi user-month có một cluster label.</a:t>
              </a:r>
            </a:p>
            <a:p>
              <a:pPr>
                <a:defRPr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Sau đó tính trung bình chỉ số từng cụm để đặt tên segment.</a:t>
              </a:r>
            </a:p>
          </p:txBody>
        </p:sp>
      </p:grpSp>
      <p:sp>
        <p:nvSpPr>
          <p:cNvPr id="390" name="Rectangle"/>
          <p:cNvSpPr/>
          <p:nvPr/>
        </p:nvSpPr>
        <p:spPr>
          <a:xfrm>
            <a:off x="3000375" y="2238375"/>
            <a:ext cx="285750" cy="47625"/>
          </a:xfrm>
          <a:prstGeom prst="rect">
            <a:avLst/>
          </a:prstGeom>
          <a:solidFill>
            <a:srgbClr val="1E64C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1" name="Rectangle"/>
          <p:cNvSpPr/>
          <p:nvPr/>
        </p:nvSpPr>
        <p:spPr>
          <a:xfrm>
            <a:off x="5829300" y="2238375"/>
            <a:ext cx="285750" cy="47625"/>
          </a:xfrm>
          <a:prstGeom prst="rect">
            <a:avLst/>
          </a:prstGeom>
          <a:solidFill>
            <a:srgbClr val="1E64C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94" name="Group"/>
          <p:cNvGrpSpPr/>
          <p:nvPr/>
        </p:nvGrpSpPr>
        <p:grpSpPr>
          <a:xfrm>
            <a:off x="838200" y="4095750"/>
            <a:ext cx="7467600" cy="350615"/>
            <a:chOff x="0" y="0"/>
            <a:chExt cx="7467600" cy="350614"/>
          </a:xfrm>
        </p:grpSpPr>
        <p:sp>
          <p:nvSpPr>
            <p:cNvPr id="392" name="Rectangle"/>
            <p:cNvSpPr/>
            <p:nvPr/>
          </p:nvSpPr>
          <p:spPr>
            <a:xfrm>
              <a:off x="0" y="0"/>
              <a:ext cx="74676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3" name="Lưu ý: K-Means không tự hiểu “Efficient User” hay “Overspender”; tên cụm là phần diễn giải sau khi xem profile trung bình của từng cluster."/>
            <p:cNvSpPr txBox="1"/>
            <p:nvPr/>
          </p:nvSpPr>
          <p:spPr>
            <a:xfrm>
              <a:off x="0" y="0"/>
              <a:ext cx="7467600" cy="350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Lưu ý: K-Means không tự hiểu “Efficient User” hay “Overspender”; tên cụm là phần diễn giải sau khi xem profile trung bình của từng cluster.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7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00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398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99" name="Chọn số cụm k: Elbow và Silhouette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Chọn số cụm k: Elbow và Silhouette</a:t>
              </a:r>
            </a:p>
          </p:txBody>
        </p:sp>
      </p:grpSp>
      <p:grpSp>
        <p:nvGrpSpPr>
          <p:cNvPr id="403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401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2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grpSp>
        <p:nvGrpSpPr>
          <p:cNvPr id="406" name="Group"/>
          <p:cNvGrpSpPr/>
          <p:nvPr/>
        </p:nvGrpSpPr>
        <p:grpSpPr>
          <a:xfrm>
            <a:off x="533400" y="895350"/>
            <a:ext cx="3905250" cy="323850"/>
            <a:chOff x="0" y="0"/>
            <a:chExt cx="3905250" cy="323850"/>
          </a:xfrm>
        </p:grpSpPr>
        <p:sp>
          <p:nvSpPr>
            <p:cNvPr id="404" name="Rectangle"/>
            <p:cNvSpPr/>
            <p:nvPr/>
          </p:nvSpPr>
          <p:spPr>
            <a:xfrm>
              <a:off x="0" y="0"/>
              <a:ext cx="390525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5" name="Elbow Method"/>
            <p:cNvSpPr txBox="1"/>
            <p:nvPr/>
          </p:nvSpPr>
          <p:spPr>
            <a:xfrm>
              <a:off x="0" y="0"/>
              <a:ext cx="3905250" cy="2592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Elbow Method</a:t>
              </a:r>
            </a:p>
          </p:txBody>
        </p:sp>
      </p:grpSp>
      <p:grpSp>
        <p:nvGrpSpPr>
          <p:cNvPr id="409" name="Group"/>
          <p:cNvGrpSpPr/>
          <p:nvPr/>
        </p:nvGrpSpPr>
        <p:grpSpPr>
          <a:xfrm>
            <a:off x="819150" y="3676650"/>
            <a:ext cx="3000375" cy="514350"/>
            <a:chOff x="0" y="0"/>
            <a:chExt cx="3000375" cy="514350"/>
          </a:xfrm>
        </p:grpSpPr>
        <p:sp>
          <p:nvSpPr>
            <p:cNvPr id="407" name="Rectangle"/>
            <p:cNvSpPr/>
            <p:nvPr/>
          </p:nvSpPr>
          <p:spPr>
            <a:xfrm>
              <a:off x="0" y="0"/>
              <a:ext cx="3000375" cy="5143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08" name="Chọn k tại điểm mà inertia bắt đầu giảm chậm lại. Ví dụ minh họa: k = 4."/>
            <p:cNvSpPr txBox="1"/>
            <p:nvPr/>
          </p:nvSpPr>
          <p:spPr>
            <a:xfrm>
              <a:off x="0" y="0"/>
              <a:ext cx="3000375" cy="3506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2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Chọn k tại điểm mà inertia bắt đầu giảm chậm lại. Ví dụ minh họa: k = 4.</a:t>
              </a:r>
            </a:p>
          </p:txBody>
        </p:sp>
      </p:grpSp>
      <p:grpSp>
        <p:nvGrpSpPr>
          <p:cNvPr id="412" name="Group"/>
          <p:cNvGrpSpPr/>
          <p:nvPr/>
        </p:nvGrpSpPr>
        <p:grpSpPr>
          <a:xfrm>
            <a:off x="4953000" y="895350"/>
            <a:ext cx="3619500" cy="323850"/>
            <a:chOff x="0" y="0"/>
            <a:chExt cx="3619500" cy="323850"/>
          </a:xfrm>
        </p:grpSpPr>
        <p:sp>
          <p:nvSpPr>
            <p:cNvPr id="410" name="Rectangle"/>
            <p:cNvSpPr/>
            <p:nvPr/>
          </p:nvSpPr>
          <p:spPr>
            <a:xfrm>
              <a:off x="0" y="0"/>
              <a:ext cx="36195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1" name="Silhouette Score"/>
            <p:cNvSpPr txBox="1"/>
            <p:nvPr/>
          </p:nvSpPr>
          <p:spPr>
            <a:xfrm>
              <a:off x="0" y="0"/>
              <a:ext cx="3619500" cy="2592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>
                  <a:solidFill>
                    <a:srgbClr val="0F8B8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Silhouette Score</a:t>
              </a:r>
            </a:p>
          </p:txBody>
        </p:sp>
      </p:grpSp>
      <p:sp>
        <p:nvSpPr>
          <p:cNvPr id="413" name="Rectangle"/>
          <p:cNvSpPr/>
          <p:nvPr/>
        </p:nvSpPr>
        <p:spPr>
          <a:xfrm>
            <a:off x="5143500" y="3524250"/>
            <a:ext cx="3143250" cy="19050"/>
          </a:xfrm>
          <a:prstGeom prst="rect">
            <a:avLst/>
          </a:prstGeom>
          <a:solidFill>
            <a:srgbClr val="103B73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4" name="Rectangle"/>
          <p:cNvSpPr/>
          <p:nvPr/>
        </p:nvSpPr>
        <p:spPr>
          <a:xfrm>
            <a:off x="5143500" y="1524000"/>
            <a:ext cx="19050" cy="2000250"/>
          </a:xfrm>
          <a:prstGeom prst="rect">
            <a:avLst/>
          </a:prstGeom>
          <a:solidFill>
            <a:srgbClr val="103B73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15" name="Rectangle"/>
          <p:cNvSpPr/>
          <p:nvPr/>
        </p:nvSpPr>
        <p:spPr>
          <a:xfrm>
            <a:off x="5381625" y="2857500"/>
            <a:ext cx="323850" cy="666750"/>
          </a:xfrm>
          <a:prstGeom prst="rect">
            <a:avLst/>
          </a:prstGeom>
          <a:solidFill>
            <a:srgbClr val="1E64C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18" name="Group"/>
          <p:cNvGrpSpPr/>
          <p:nvPr/>
        </p:nvGrpSpPr>
        <p:grpSpPr>
          <a:xfrm>
            <a:off x="5362575" y="3562350"/>
            <a:ext cx="361950" cy="190500"/>
            <a:chOff x="0" y="0"/>
            <a:chExt cx="361950" cy="190500"/>
          </a:xfrm>
        </p:grpSpPr>
        <p:sp>
          <p:nvSpPr>
            <p:cNvPr id="416" name="Rectangle"/>
            <p:cNvSpPr/>
            <p:nvPr/>
          </p:nvSpPr>
          <p:spPr>
            <a:xfrm>
              <a:off x="0" y="0"/>
              <a:ext cx="3619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17" name="2"/>
            <p:cNvSpPr txBox="1"/>
            <p:nvPr/>
          </p:nvSpPr>
          <p:spPr>
            <a:xfrm>
              <a:off x="0" y="0"/>
              <a:ext cx="361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419" name="Rectangle"/>
          <p:cNvSpPr/>
          <p:nvPr/>
        </p:nvSpPr>
        <p:spPr>
          <a:xfrm>
            <a:off x="5953125" y="2571750"/>
            <a:ext cx="323850" cy="952500"/>
          </a:xfrm>
          <a:prstGeom prst="rect">
            <a:avLst/>
          </a:prstGeom>
          <a:solidFill>
            <a:srgbClr val="0F8B8D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22" name="Group"/>
          <p:cNvGrpSpPr/>
          <p:nvPr/>
        </p:nvGrpSpPr>
        <p:grpSpPr>
          <a:xfrm>
            <a:off x="5934075" y="3562350"/>
            <a:ext cx="361950" cy="190500"/>
            <a:chOff x="0" y="0"/>
            <a:chExt cx="361950" cy="190500"/>
          </a:xfrm>
        </p:grpSpPr>
        <p:sp>
          <p:nvSpPr>
            <p:cNvPr id="420" name="Rectangle"/>
            <p:cNvSpPr/>
            <p:nvPr/>
          </p:nvSpPr>
          <p:spPr>
            <a:xfrm>
              <a:off x="0" y="0"/>
              <a:ext cx="3619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1" name="3"/>
            <p:cNvSpPr txBox="1"/>
            <p:nvPr/>
          </p:nvSpPr>
          <p:spPr>
            <a:xfrm>
              <a:off x="0" y="0"/>
              <a:ext cx="361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423" name="Rectangle"/>
          <p:cNvSpPr/>
          <p:nvPr/>
        </p:nvSpPr>
        <p:spPr>
          <a:xfrm>
            <a:off x="6524625" y="2143125"/>
            <a:ext cx="323850" cy="1381125"/>
          </a:xfrm>
          <a:prstGeom prst="rect">
            <a:avLst/>
          </a:prstGeom>
          <a:solidFill>
            <a:srgbClr val="C62828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26" name="Group"/>
          <p:cNvGrpSpPr/>
          <p:nvPr/>
        </p:nvGrpSpPr>
        <p:grpSpPr>
          <a:xfrm>
            <a:off x="6505575" y="3562350"/>
            <a:ext cx="361950" cy="190500"/>
            <a:chOff x="0" y="0"/>
            <a:chExt cx="361950" cy="190500"/>
          </a:xfrm>
        </p:grpSpPr>
        <p:sp>
          <p:nvSpPr>
            <p:cNvPr id="424" name="Rectangle"/>
            <p:cNvSpPr/>
            <p:nvPr/>
          </p:nvSpPr>
          <p:spPr>
            <a:xfrm>
              <a:off x="0" y="0"/>
              <a:ext cx="3619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5" name="4"/>
            <p:cNvSpPr txBox="1"/>
            <p:nvPr/>
          </p:nvSpPr>
          <p:spPr>
            <a:xfrm>
              <a:off x="0" y="0"/>
              <a:ext cx="361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427" name="Rectangle"/>
          <p:cNvSpPr/>
          <p:nvPr/>
        </p:nvSpPr>
        <p:spPr>
          <a:xfrm>
            <a:off x="7096125" y="2724150"/>
            <a:ext cx="323850" cy="800100"/>
          </a:xfrm>
          <a:prstGeom prst="rect">
            <a:avLst/>
          </a:prstGeom>
          <a:solidFill>
            <a:srgbClr val="D98200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30" name="Group"/>
          <p:cNvGrpSpPr/>
          <p:nvPr/>
        </p:nvGrpSpPr>
        <p:grpSpPr>
          <a:xfrm>
            <a:off x="7077075" y="3562350"/>
            <a:ext cx="361950" cy="190500"/>
            <a:chOff x="0" y="0"/>
            <a:chExt cx="361950" cy="190500"/>
          </a:xfrm>
        </p:grpSpPr>
        <p:sp>
          <p:nvSpPr>
            <p:cNvPr id="428" name="Rectangle"/>
            <p:cNvSpPr/>
            <p:nvPr/>
          </p:nvSpPr>
          <p:spPr>
            <a:xfrm>
              <a:off x="0" y="0"/>
              <a:ext cx="3619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29" name="5"/>
            <p:cNvSpPr txBox="1"/>
            <p:nvPr/>
          </p:nvSpPr>
          <p:spPr>
            <a:xfrm>
              <a:off x="0" y="0"/>
              <a:ext cx="361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431" name="Rectangle"/>
          <p:cNvSpPr/>
          <p:nvPr/>
        </p:nvSpPr>
        <p:spPr>
          <a:xfrm>
            <a:off x="7667625" y="2952750"/>
            <a:ext cx="323850" cy="571500"/>
          </a:xfrm>
          <a:prstGeom prst="rect">
            <a:avLst/>
          </a:prstGeom>
          <a:solidFill>
            <a:srgbClr val="4B5563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34" name="Group"/>
          <p:cNvGrpSpPr/>
          <p:nvPr/>
        </p:nvGrpSpPr>
        <p:grpSpPr>
          <a:xfrm>
            <a:off x="7648575" y="3562350"/>
            <a:ext cx="361950" cy="190500"/>
            <a:chOff x="0" y="0"/>
            <a:chExt cx="361950" cy="190500"/>
          </a:xfrm>
        </p:grpSpPr>
        <p:sp>
          <p:nvSpPr>
            <p:cNvPr id="432" name="Rectangle"/>
            <p:cNvSpPr/>
            <p:nvPr/>
          </p:nvSpPr>
          <p:spPr>
            <a:xfrm>
              <a:off x="0" y="0"/>
              <a:ext cx="36195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3" name="6"/>
            <p:cNvSpPr txBox="1"/>
            <p:nvPr/>
          </p:nvSpPr>
          <p:spPr>
            <a:xfrm>
              <a:off x="0" y="0"/>
              <a:ext cx="36195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437" name="Group"/>
          <p:cNvGrpSpPr/>
          <p:nvPr/>
        </p:nvGrpSpPr>
        <p:grpSpPr>
          <a:xfrm>
            <a:off x="5238750" y="3857625"/>
            <a:ext cx="3000375" cy="400050"/>
            <a:chOff x="0" y="0"/>
            <a:chExt cx="3000375" cy="400050"/>
          </a:xfrm>
        </p:grpSpPr>
        <p:sp>
          <p:nvSpPr>
            <p:cNvPr id="435" name="Rectangle"/>
            <p:cNvSpPr/>
            <p:nvPr/>
          </p:nvSpPr>
          <p:spPr>
            <a:xfrm>
              <a:off x="0" y="0"/>
              <a:ext cx="3000375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6" name="Chọn k có score cao và cụm dễ tách biệt. Nếu k = 4 tốt cả hai tiêu chí, có thể dùng 4 cụm."/>
            <p:cNvSpPr txBox="1"/>
            <p:nvPr/>
          </p:nvSpPr>
          <p:spPr>
            <a:xfrm>
              <a:off x="0" y="0"/>
              <a:ext cx="3000375" cy="3002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Chọn k có score cao và cụm dễ tách biệt. Nếu k = 4 tốt cả hai tiêu chí, có thể dùng 4 cụm.</a:t>
              </a:r>
            </a:p>
          </p:txBody>
        </p:sp>
      </p:grpSp>
      <p:grpSp>
        <p:nvGrpSpPr>
          <p:cNvPr id="440" name="Group"/>
          <p:cNvGrpSpPr/>
          <p:nvPr/>
        </p:nvGrpSpPr>
        <p:grpSpPr>
          <a:xfrm>
            <a:off x="2647950" y="4362450"/>
            <a:ext cx="3848100" cy="300230"/>
            <a:chOff x="0" y="0"/>
            <a:chExt cx="3848100" cy="300229"/>
          </a:xfrm>
        </p:grpSpPr>
        <p:sp>
          <p:nvSpPr>
            <p:cNvPr id="438" name="Rectangle"/>
            <p:cNvSpPr/>
            <p:nvPr/>
          </p:nvSpPr>
          <p:spPr>
            <a:xfrm>
              <a:off x="0" y="0"/>
              <a:ext cx="38481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1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39" name="K cuối cùng cần vừa hợp lý về thống kê vừa dễ diễn giải trong bối cảnh cashback."/>
            <p:cNvSpPr txBox="1"/>
            <p:nvPr/>
          </p:nvSpPr>
          <p:spPr>
            <a:xfrm>
              <a:off x="0" y="0"/>
              <a:ext cx="3848100" cy="3002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1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 cuối cùng cần vừa hợp lý về thống kê vừa dễ diễn giải trong bối cảnh cashback.</a:t>
              </a:r>
            </a:p>
          </p:txBody>
        </p:sp>
      </p:grpSp>
      <p:pic>
        <p:nvPicPr>
          <p:cNvPr id="44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9344" y="1181586"/>
            <a:ext cx="3260019" cy="24231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4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47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445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6" name="Kết quả dự kiến: các nhóm người dùng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Kết quả dự kiến: các nhóm người dùng</a:t>
              </a:r>
            </a:p>
          </p:txBody>
        </p:sp>
      </p:grpSp>
      <p:grpSp>
        <p:nvGrpSpPr>
          <p:cNvPr id="450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448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49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sp>
        <p:nvSpPr>
          <p:cNvPr id="451" name="Rectangle"/>
          <p:cNvSpPr/>
          <p:nvPr/>
        </p:nvSpPr>
        <p:spPr>
          <a:xfrm>
            <a:off x="514350" y="895350"/>
            <a:ext cx="811530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452" name="image3.png" descr="image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6376" y="933450"/>
            <a:ext cx="6431249" cy="3619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55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58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456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57" name="Diễn giải cụm và ý nghĩa kết quả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Diễn giải cụm và ý nghĩa kết quả</a:t>
              </a:r>
            </a:p>
          </p:txBody>
        </p:sp>
      </p:grpSp>
      <p:grpSp>
        <p:nvGrpSpPr>
          <p:cNvPr id="461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459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0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sp>
        <p:nvSpPr>
          <p:cNvPr id="462" name="Rectangle"/>
          <p:cNvSpPr/>
          <p:nvPr/>
        </p:nvSpPr>
        <p:spPr>
          <a:xfrm>
            <a:off x="400050" y="952500"/>
            <a:ext cx="1524000" cy="342900"/>
          </a:xfrm>
          <a:prstGeom prst="rect">
            <a:avLst/>
          </a:prstGeom>
          <a:solidFill>
            <a:srgbClr val="1E64C8"/>
          </a:solidFill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65" name="Group"/>
          <p:cNvGrpSpPr/>
          <p:nvPr/>
        </p:nvGrpSpPr>
        <p:grpSpPr>
          <a:xfrm>
            <a:off x="476250" y="1028700"/>
            <a:ext cx="1371600" cy="228600"/>
            <a:chOff x="0" y="0"/>
            <a:chExt cx="1371600" cy="228600"/>
          </a:xfrm>
        </p:grpSpPr>
        <p:sp>
          <p:nvSpPr>
            <p:cNvPr id="463" name="Rectangle"/>
            <p:cNvSpPr/>
            <p:nvPr/>
          </p:nvSpPr>
          <p:spPr>
            <a:xfrm>
              <a:off x="0" y="0"/>
              <a:ext cx="1371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4" name="Segment"/>
            <p:cNvSpPr txBox="1"/>
            <p:nvPr/>
          </p:nvSpPr>
          <p:spPr>
            <a:xfrm>
              <a:off x="0" y="0"/>
              <a:ext cx="137160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Segment</a:t>
              </a:r>
            </a:p>
          </p:txBody>
        </p:sp>
      </p:grpSp>
      <p:sp>
        <p:nvSpPr>
          <p:cNvPr id="466" name="Rectangle"/>
          <p:cNvSpPr/>
          <p:nvPr/>
        </p:nvSpPr>
        <p:spPr>
          <a:xfrm>
            <a:off x="1924050" y="952500"/>
            <a:ext cx="3429000" cy="342900"/>
          </a:xfrm>
          <a:prstGeom prst="rect">
            <a:avLst/>
          </a:prstGeom>
          <a:solidFill>
            <a:srgbClr val="1E64C8"/>
          </a:solidFill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69" name="Group"/>
          <p:cNvGrpSpPr/>
          <p:nvPr/>
        </p:nvGrpSpPr>
        <p:grpSpPr>
          <a:xfrm>
            <a:off x="2000250" y="1028700"/>
            <a:ext cx="3276600" cy="228600"/>
            <a:chOff x="0" y="0"/>
            <a:chExt cx="3276600" cy="228600"/>
          </a:xfrm>
        </p:grpSpPr>
        <p:sp>
          <p:nvSpPr>
            <p:cNvPr id="467" name="Rectangle"/>
            <p:cNvSpPr/>
            <p:nvPr/>
          </p:nvSpPr>
          <p:spPr>
            <a:xfrm>
              <a:off x="0" y="0"/>
              <a:ext cx="3276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68" name="Dấu hiệu chính"/>
            <p:cNvSpPr txBox="1"/>
            <p:nvPr/>
          </p:nvSpPr>
          <p:spPr>
            <a:xfrm>
              <a:off x="0" y="0"/>
              <a:ext cx="327660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Dấu hiệu chính</a:t>
              </a:r>
            </a:p>
          </p:txBody>
        </p:sp>
      </p:grpSp>
      <p:sp>
        <p:nvSpPr>
          <p:cNvPr id="470" name="Rectangle"/>
          <p:cNvSpPr/>
          <p:nvPr/>
        </p:nvSpPr>
        <p:spPr>
          <a:xfrm>
            <a:off x="5353050" y="952500"/>
            <a:ext cx="3429000" cy="342900"/>
          </a:xfrm>
          <a:prstGeom prst="rect">
            <a:avLst/>
          </a:prstGeom>
          <a:solidFill>
            <a:srgbClr val="1E64C8"/>
          </a:solidFill>
          <a:ln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73" name="Group"/>
          <p:cNvGrpSpPr/>
          <p:nvPr/>
        </p:nvGrpSpPr>
        <p:grpSpPr>
          <a:xfrm>
            <a:off x="5429250" y="1028700"/>
            <a:ext cx="3276600" cy="228600"/>
            <a:chOff x="0" y="0"/>
            <a:chExt cx="3276600" cy="228600"/>
          </a:xfrm>
        </p:grpSpPr>
        <p:sp>
          <p:nvSpPr>
            <p:cNvPr id="471" name="Rectangle"/>
            <p:cNvSpPr/>
            <p:nvPr/>
          </p:nvSpPr>
          <p:spPr>
            <a:xfrm>
              <a:off x="0" y="0"/>
              <a:ext cx="32766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2" name="Khuyến nghị diễn giải"/>
            <p:cNvSpPr txBox="1"/>
            <p:nvPr/>
          </p:nvSpPr>
          <p:spPr>
            <a:xfrm>
              <a:off x="0" y="0"/>
              <a:ext cx="3276600" cy="1355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Khuyến nghị diễn giải</a:t>
              </a:r>
            </a:p>
          </p:txBody>
        </p:sp>
      </p:grpSp>
      <p:sp>
        <p:nvSpPr>
          <p:cNvPr id="474" name="Rectangle"/>
          <p:cNvSpPr/>
          <p:nvPr/>
        </p:nvSpPr>
        <p:spPr>
          <a:xfrm>
            <a:off x="400050" y="1295400"/>
            <a:ext cx="1524000" cy="64770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77" name="Group"/>
          <p:cNvGrpSpPr/>
          <p:nvPr/>
        </p:nvGrpSpPr>
        <p:grpSpPr>
          <a:xfrm>
            <a:off x="476250" y="1362075"/>
            <a:ext cx="1371600" cy="552450"/>
            <a:chOff x="0" y="0"/>
            <a:chExt cx="1371600" cy="552450"/>
          </a:xfrm>
        </p:grpSpPr>
        <p:sp>
          <p:nvSpPr>
            <p:cNvPr id="475" name="Rectangle"/>
            <p:cNvSpPr/>
            <p:nvPr/>
          </p:nvSpPr>
          <p:spPr>
            <a:xfrm>
              <a:off x="0" y="0"/>
              <a:ext cx="1371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76" name="Efficient User"/>
            <p:cNvSpPr txBox="1"/>
            <p:nvPr/>
          </p:nvSpPr>
          <p:spPr>
            <a:xfrm>
              <a:off x="0" y="0"/>
              <a:ext cx="1371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Efficient User</a:t>
              </a:r>
            </a:p>
          </p:txBody>
        </p:sp>
      </p:grpSp>
      <p:sp>
        <p:nvSpPr>
          <p:cNvPr id="478" name="Rectangle"/>
          <p:cNvSpPr/>
          <p:nvPr/>
        </p:nvSpPr>
        <p:spPr>
          <a:xfrm>
            <a:off x="1924050" y="1295400"/>
            <a:ext cx="3429000" cy="64770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81" name="Group"/>
          <p:cNvGrpSpPr/>
          <p:nvPr/>
        </p:nvGrpSpPr>
        <p:grpSpPr>
          <a:xfrm>
            <a:off x="2000250" y="1362075"/>
            <a:ext cx="3276600" cy="552450"/>
            <a:chOff x="0" y="0"/>
            <a:chExt cx="3276600" cy="552450"/>
          </a:xfrm>
        </p:grpSpPr>
        <p:sp>
          <p:nvSpPr>
            <p:cNvPr id="479" name="Rectangle"/>
            <p:cNvSpPr/>
            <p:nvPr/>
          </p:nvSpPr>
          <p:spPr>
            <a:xfrm>
              <a:off x="0" y="0"/>
              <a:ext cx="3276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0" name="ECR cao, NET dương, WST thấp, RISK thấp"/>
            <p:cNvSpPr txBox="1"/>
            <p:nvPr/>
          </p:nvSpPr>
          <p:spPr>
            <a:xfrm>
              <a:off x="0" y="0"/>
              <a:ext cx="3276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ECR cao, NET dương, WST thấp, RISK thấp</a:t>
              </a:r>
            </a:p>
          </p:txBody>
        </p:sp>
      </p:grpSp>
      <p:sp>
        <p:nvSpPr>
          <p:cNvPr id="482" name="Rectangle"/>
          <p:cNvSpPr/>
          <p:nvPr/>
        </p:nvSpPr>
        <p:spPr>
          <a:xfrm>
            <a:off x="5353050" y="1295400"/>
            <a:ext cx="3429000" cy="64770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85" name="Group"/>
          <p:cNvGrpSpPr/>
          <p:nvPr/>
        </p:nvGrpSpPr>
        <p:grpSpPr>
          <a:xfrm>
            <a:off x="5429250" y="1362075"/>
            <a:ext cx="3276600" cy="552450"/>
            <a:chOff x="0" y="0"/>
            <a:chExt cx="3276600" cy="552450"/>
          </a:xfrm>
        </p:grpSpPr>
        <p:sp>
          <p:nvSpPr>
            <p:cNvPr id="483" name="Rectangle"/>
            <p:cNvSpPr/>
            <p:nvPr/>
          </p:nvSpPr>
          <p:spPr>
            <a:xfrm>
              <a:off x="0" y="0"/>
              <a:ext cx="3276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4" name="Cashback tạo lợi ích thật sự; hành vi chi tiêu tương đối lành mạnh."/>
            <p:cNvSpPr txBox="1"/>
            <p:nvPr/>
          </p:nvSpPr>
          <p:spPr>
            <a:xfrm>
              <a:off x="0" y="0"/>
              <a:ext cx="3276600" cy="2502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Cashback tạo lợi ích thật sự; hành vi chi tiêu tương đối lành mạnh.</a:t>
              </a:r>
            </a:p>
          </p:txBody>
        </p:sp>
      </p:grpSp>
      <p:sp>
        <p:nvSpPr>
          <p:cNvPr id="486" name="Rectangle"/>
          <p:cNvSpPr/>
          <p:nvPr/>
        </p:nvSpPr>
        <p:spPr>
          <a:xfrm>
            <a:off x="400050" y="1943100"/>
            <a:ext cx="1524000" cy="64770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89" name="Group"/>
          <p:cNvGrpSpPr/>
          <p:nvPr/>
        </p:nvGrpSpPr>
        <p:grpSpPr>
          <a:xfrm>
            <a:off x="476250" y="2009775"/>
            <a:ext cx="1371600" cy="552450"/>
            <a:chOff x="0" y="0"/>
            <a:chExt cx="1371600" cy="552450"/>
          </a:xfrm>
        </p:grpSpPr>
        <p:sp>
          <p:nvSpPr>
            <p:cNvPr id="487" name="Rectangle"/>
            <p:cNvSpPr/>
            <p:nvPr/>
          </p:nvSpPr>
          <p:spPr>
            <a:xfrm>
              <a:off x="0" y="0"/>
              <a:ext cx="1371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88" name="Overspender"/>
            <p:cNvSpPr txBox="1"/>
            <p:nvPr/>
          </p:nvSpPr>
          <p:spPr>
            <a:xfrm>
              <a:off x="0" y="0"/>
              <a:ext cx="1371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Overspender</a:t>
              </a:r>
            </a:p>
          </p:txBody>
        </p:sp>
      </p:grpSp>
      <p:sp>
        <p:nvSpPr>
          <p:cNvPr id="490" name="Rectangle"/>
          <p:cNvSpPr/>
          <p:nvPr/>
        </p:nvSpPr>
        <p:spPr>
          <a:xfrm>
            <a:off x="1924050" y="1943100"/>
            <a:ext cx="3429000" cy="64770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93" name="Group"/>
          <p:cNvGrpSpPr/>
          <p:nvPr/>
        </p:nvGrpSpPr>
        <p:grpSpPr>
          <a:xfrm>
            <a:off x="2000250" y="2009775"/>
            <a:ext cx="3276600" cy="552450"/>
            <a:chOff x="0" y="0"/>
            <a:chExt cx="3276600" cy="552450"/>
          </a:xfrm>
        </p:grpSpPr>
        <p:sp>
          <p:nvSpPr>
            <p:cNvPr id="491" name="Rectangle"/>
            <p:cNvSpPr/>
            <p:nvPr/>
          </p:nvSpPr>
          <p:spPr>
            <a:xfrm>
              <a:off x="0" y="0"/>
              <a:ext cx="3276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2" name="Spending cao, NET thấp/âm, RISK cao"/>
            <p:cNvSpPr txBox="1"/>
            <p:nvPr/>
          </p:nvSpPr>
          <p:spPr>
            <a:xfrm>
              <a:off x="0" y="0"/>
              <a:ext cx="3276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Spending cao, NET thấp/âm, RISK cao</a:t>
              </a:r>
            </a:p>
          </p:txBody>
        </p:sp>
      </p:grpSp>
      <p:sp>
        <p:nvSpPr>
          <p:cNvPr id="494" name="Rectangle"/>
          <p:cNvSpPr/>
          <p:nvPr/>
        </p:nvSpPr>
        <p:spPr>
          <a:xfrm>
            <a:off x="5353050" y="1943100"/>
            <a:ext cx="3429000" cy="64770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97" name="Group"/>
          <p:cNvGrpSpPr/>
          <p:nvPr/>
        </p:nvGrpSpPr>
        <p:grpSpPr>
          <a:xfrm>
            <a:off x="5429250" y="2009775"/>
            <a:ext cx="3276600" cy="552450"/>
            <a:chOff x="0" y="0"/>
            <a:chExt cx="3276600" cy="552450"/>
          </a:xfrm>
        </p:grpSpPr>
        <p:sp>
          <p:nvSpPr>
            <p:cNvPr id="495" name="Rectangle"/>
            <p:cNvSpPr/>
            <p:nvPr/>
          </p:nvSpPr>
          <p:spPr>
            <a:xfrm>
              <a:off x="0" y="0"/>
              <a:ext cx="3276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496" name="Cần cảnh báo: cashback có thể đang khuyến khích chi tiêu vượt nhu cầu."/>
            <p:cNvSpPr txBox="1"/>
            <p:nvPr/>
          </p:nvSpPr>
          <p:spPr>
            <a:xfrm>
              <a:off x="0" y="0"/>
              <a:ext cx="3276600" cy="2502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Cần cảnh báo: cashback có thể đang khuyến khích chi tiêu vượt nhu cầu.</a:t>
              </a:r>
            </a:p>
          </p:txBody>
        </p:sp>
      </p:grpSp>
      <p:sp>
        <p:nvSpPr>
          <p:cNvPr id="498" name="Rectangle"/>
          <p:cNvSpPr/>
          <p:nvPr/>
        </p:nvSpPr>
        <p:spPr>
          <a:xfrm>
            <a:off x="400050" y="2590800"/>
            <a:ext cx="1524000" cy="64770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01" name="Group"/>
          <p:cNvGrpSpPr/>
          <p:nvPr/>
        </p:nvGrpSpPr>
        <p:grpSpPr>
          <a:xfrm>
            <a:off x="476250" y="2657475"/>
            <a:ext cx="1371600" cy="552450"/>
            <a:chOff x="0" y="0"/>
            <a:chExt cx="1371600" cy="552450"/>
          </a:xfrm>
        </p:grpSpPr>
        <p:sp>
          <p:nvSpPr>
            <p:cNvPr id="499" name="Rectangle"/>
            <p:cNvSpPr/>
            <p:nvPr/>
          </p:nvSpPr>
          <p:spPr>
            <a:xfrm>
              <a:off x="0" y="0"/>
              <a:ext cx="1371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0" name="Cap Ignorer"/>
            <p:cNvSpPr txBox="1"/>
            <p:nvPr/>
          </p:nvSpPr>
          <p:spPr>
            <a:xfrm>
              <a:off x="0" y="0"/>
              <a:ext cx="1371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Cap Ignorer</a:t>
              </a:r>
            </a:p>
          </p:txBody>
        </p:sp>
      </p:grpSp>
      <p:sp>
        <p:nvSpPr>
          <p:cNvPr id="502" name="Rectangle"/>
          <p:cNvSpPr/>
          <p:nvPr/>
        </p:nvSpPr>
        <p:spPr>
          <a:xfrm>
            <a:off x="1924050" y="2590800"/>
            <a:ext cx="3429000" cy="64770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05" name="Group"/>
          <p:cNvGrpSpPr/>
          <p:nvPr/>
        </p:nvGrpSpPr>
        <p:grpSpPr>
          <a:xfrm>
            <a:off x="2000250" y="2657475"/>
            <a:ext cx="3276600" cy="552450"/>
            <a:chOff x="0" y="0"/>
            <a:chExt cx="3276600" cy="552450"/>
          </a:xfrm>
        </p:grpSpPr>
        <p:sp>
          <p:nvSpPr>
            <p:cNvPr id="503" name="Rectangle"/>
            <p:cNvSpPr/>
            <p:nvPr/>
          </p:nvSpPr>
          <p:spPr>
            <a:xfrm>
              <a:off x="0" y="0"/>
              <a:ext cx="3276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4" name="WST cao, chi tiêu tiếp sau khi đạt cap"/>
            <p:cNvSpPr txBox="1"/>
            <p:nvPr/>
          </p:nvSpPr>
          <p:spPr>
            <a:xfrm>
              <a:off x="0" y="0"/>
              <a:ext cx="3276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WST cao, chi tiêu tiếp sau khi đạt cap</a:t>
              </a:r>
            </a:p>
          </p:txBody>
        </p:sp>
      </p:grpSp>
      <p:sp>
        <p:nvSpPr>
          <p:cNvPr id="506" name="Rectangle"/>
          <p:cNvSpPr/>
          <p:nvPr/>
        </p:nvSpPr>
        <p:spPr>
          <a:xfrm>
            <a:off x="5353050" y="2590800"/>
            <a:ext cx="3429000" cy="647700"/>
          </a:xfrm>
          <a:prstGeom prst="rect">
            <a:avLst/>
          </a:prstGeom>
          <a:solidFill>
            <a:srgbClr val="FFFF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09" name="Group"/>
          <p:cNvGrpSpPr/>
          <p:nvPr/>
        </p:nvGrpSpPr>
        <p:grpSpPr>
          <a:xfrm>
            <a:off x="5429250" y="2657475"/>
            <a:ext cx="3276600" cy="552450"/>
            <a:chOff x="0" y="0"/>
            <a:chExt cx="3276600" cy="552450"/>
          </a:xfrm>
        </p:grpSpPr>
        <p:sp>
          <p:nvSpPr>
            <p:cNvPr id="507" name="Rectangle"/>
            <p:cNvSpPr/>
            <p:nvPr/>
          </p:nvSpPr>
          <p:spPr>
            <a:xfrm>
              <a:off x="0" y="0"/>
              <a:ext cx="3276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08" name="Cần theo dõi giới hạn hoàn tiền để tránh mất lợi ích."/>
            <p:cNvSpPr txBox="1"/>
            <p:nvPr/>
          </p:nvSpPr>
          <p:spPr>
            <a:xfrm>
              <a:off x="0" y="0"/>
              <a:ext cx="3276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Cần theo dõi giới hạn hoàn tiền để tránh mất lợi ích.</a:t>
              </a:r>
            </a:p>
          </p:txBody>
        </p:sp>
      </p:grpSp>
      <p:sp>
        <p:nvSpPr>
          <p:cNvPr id="510" name="Rectangle"/>
          <p:cNvSpPr/>
          <p:nvPr/>
        </p:nvSpPr>
        <p:spPr>
          <a:xfrm>
            <a:off x="400050" y="3238500"/>
            <a:ext cx="1524000" cy="64770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13" name="Group"/>
          <p:cNvGrpSpPr/>
          <p:nvPr/>
        </p:nvGrpSpPr>
        <p:grpSpPr>
          <a:xfrm>
            <a:off x="476250" y="3305175"/>
            <a:ext cx="1371600" cy="552450"/>
            <a:chOff x="0" y="0"/>
            <a:chExt cx="1371600" cy="552450"/>
          </a:xfrm>
        </p:grpSpPr>
        <p:sp>
          <p:nvSpPr>
            <p:cNvPr id="511" name="Rectangle"/>
            <p:cNvSpPr/>
            <p:nvPr/>
          </p:nvSpPr>
          <p:spPr>
            <a:xfrm>
              <a:off x="0" y="0"/>
              <a:ext cx="1371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2" name="Wrong-Card User"/>
            <p:cNvSpPr txBox="1"/>
            <p:nvPr/>
          </p:nvSpPr>
          <p:spPr>
            <a:xfrm>
              <a:off x="0" y="0"/>
              <a:ext cx="1371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900">
                  <a:solidFill>
                    <a:srgbClr val="1E64C8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Wrong-Card User</a:t>
              </a:r>
            </a:p>
          </p:txBody>
        </p:sp>
      </p:grpSp>
      <p:sp>
        <p:nvSpPr>
          <p:cNvPr id="514" name="Rectangle"/>
          <p:cNvSpPr/>
          <p:nvPr/>
        </p:nvSpPr>
        <p:spPr>
          <a:xfrm>
            <a:off x="1924050" y="3238500"/>
            <a:ext cx="3429000" cy="64770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17" name="Group"/>
          <p:cNvGrpSpPr/>
          <p:nvPr/>
        </p:nvGrpSpPr>
        <p:grpSpPr>
          <a:xfrm>
            <a:off x="2000250" y="3305175"/>
            <a:ext cx="3276600" cy="552450"/>
            <a:chOff x="0" y="0"/>
            <a:chExt cx="3276600" cy="552450"/>
          </a:xfrm>
        </p:grpSpPr>
        <p:sp>
          <p:nvSpPr>
            <p:cNvPr id="515" name="Rectangle"/>
            <p:cNvSpPr/>
            <p:nvPr/>
          </p:nvSpPr>
          <p:spPr>
            <a:xfrm>
              <a:off x="0" y="0"/>
              <a:ext cx="3276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16" name="ECR thấp, WST cao, sai danh mục ưu đãi"/>
            <p:cNvSpPr txBox="1"/>
            <p:nvPr/>
          </p:nvSpPr>
          <p:spPr>
            <a:xfrm>
              <a:off x="0" y="0"/>
              <a:ext cx="3276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ECR thấp, WST cao, sai danh mục ưu đãi</a:t>
              </a:r>
            </a:p>
          </p:txBody>
        </p:sp>
      </p:grpSp>
      <p:sp>
        <p:nvSpPr>
          <p:cNvPr id="518" name="Rectangle"/>
          <p:cNvSpPr/>
          <p:nvPr/>
        </p:nvSpPr>
        <p:spPr>
          <a:xfrm>
            <a:off x="5353050" y="3238500"/>
            <a:ext cx="3429000" cy="647700"/>
          </a:xfrm>
          <a:prstGeom prst="rect">
            <a:avLst/>
          </a:prstGeom>
          <a:solidFill>
            <a:srgbClr val="F7FAFF"/>
          </a:solidFill>
          <a:ln>
            <a:solidFill>
              <a:srgbClr val="C9DDFB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21" name="Group"/>
          <p:cNvGrpSpPr/>
          <p:nvPr/>
        </p:nvGrpSpPr>
        <p:grpSpPr>
          <a:xfrm>
            <a:off x="5429250" y="3305175"/>
            <a:ext cx="3276600" cy="552450"/>
            <a:chOff x="0" y="0"/>
            <a:chExt cx="3276600" cy="552450"/>
          </a:xfrm>
        </p:grpSpPr>
        <p:sp>
          <p:nvSpPr>
            <p:cNvPr id="519" name="Rectangle"/>
            <p:cNvSpPr/>
            <p:nvPr/>
          </p:nvSpPr>
          <p:spPr>
            <a:xfrm>
              <a:off x="0" y="0"/>
              <a:ext cx="3276600" cy="552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0" name="Cần tối ưu chọn thẻ hoặc điều chỉnh danh mục chi tiêu."/>
            <p:cNvSpPr txBox="1"/>
            <p:nvPr/>
          </p:nvSpPr>
          <p:spPr>
            <a:xfrm>
              <a:off x="0" y="0"/>
              <a:ext cx="32766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Cần tối ưu chọn thẻ hoặc điều chỉnh danh mục chi tiêu.</a:t>
              </a:r>
            </a:p>
          </p:txBody>
        </p:sp>
      </p:grpSp>
      <p:grpSp>
        <p:nvGrpSpPr>
          <p:cNvPr id="524" name="Group"/>
          <p:cNvGrpSpPr/>
          <p:nvPr/>
        </p:nvGrpSpPr>
        <p:grpSpPr>
          <a:xfrm>
            <a:off x="666750" y="4057650"/>
            <a:ext cx="7810500" cy="419100"/>
            <a:chOff x="0" y="0"/>
            <a:chExt cx="7810500" cy="419100"/>
          </a:xfrm>
        </p:grpSpPr>
        <p:sp>
          <p:nvSpPr>
            <p:cNvPr id="522" name="Rectangle"/>
            <p:cNvSpPr/>
            <p:nvPr/>
          </p:nvSpPr>
          <p:spPr>
            <a:xfrm>
              <a:off x="0" y="0"/>
              <a:ext cx="78105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b="1" sz="13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3" name="Kết luận: đề tài không chỉ hỏi người dùng nhận bao nhiêu cashback, mà hỏi cashback đó có tạo lợi ích ròng và hành vi chi tiêu hợp lý hay không."/>
            <p:cNvSpPr txBox="1"/>
            <p:nvPr/>
          </p:nvSpPr>
          <p:spPr>
            <a:xfrm>
              <a:off x="0" y="0"/>
              <a:ext cx="7810500" cy="375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b="1" sz="1300">
                  <a:solidFill>
                    <a:srgbClr val="103B7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Kết luận: đề tài không chỉ hỏi người dùng nhận bao nhiêu cashback, mà hỏi cashback đó có tạo lợi ích ròng và hành vi chi tiêu hợp lý hay không.</a:t>
              </a:r>
            </a:p>
          </p:txBody>
        </p:sp>
      </p:grpSp>
      <p:grpSp>
        <p:nvGrpSpPr>
          <p:cNvPr id="527" name="Group"/>
          <p:cNvGrpSpPr/>
          <p:nvPr/>
        </p:nvGrpSpPr>
        <p:grpSpPr>
          <a:xfrm>
            <a:off x="666750" y="4476750"/>
            <a:ext cx="7810500" cy="228600"/>
            <a:chOff x="0" y="0"/>
            <a:chExt cx="7810500" cy="228600"/>
          </a:xfrm>
        </p:grpSpPr>
        <p:sp>
          <p:nvSpPr>
            <p:cNvPr id="525" name="Rectangle"/>
            <p:cNvSpPr/>
            <p:nvPr/>
          </p:nvSpPr>
          <p:spPr>
            <a:xfrm>
              <a:off x="0" y="0"/>
              <a:ext cx="7810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9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26" name="Tài liệu tham khảo: MacQueen (1967), Lloyd (1982), scikit-learn K-Means documentation, tài liệu về cashback và hành vi chi tiêu có trách nhiệm."/>
            <p:cNvSpPr txBox="1"/>
            <p:nvPr/>
          </p:nvSpPr>
          <p:spPr>
            <a:xfrm>
              <a:off x="0" y="0"/>
              <a:ext cx="7810500" cy="127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defRPr sz="9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Tài liệu tham khảo: MacQueen (1967), Lloyd (1982), scikit-learn K-Means documentation, tài liệu về cashback và hành vi chi tiêu có trách nhiệm.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30" name="Rectangle"/>
          <p:cNvSpPr/>
          <p:nvPr/>
        </p:nvSpPr>
        <p:spPr>
          <a:xfrm>
            <a:off x="0" y="4810125"/>
            <a:ext cx="9144000" cy="333375"/>
          </a:xfrm>
          <a:prstGeom prst="rect">
            <a:avLst/>
          </a:prstGeom>
          <a:solidFill>
            <a:srgbClr val="4285EA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33" name="Group"/>
          <p:cNvGrpSpPr/>
          <p:nvPr/>
        </p:nvGrpSpPr>
        <p:grpSpPr>
          <a:xfrm>
            <a:off x="514350" y="161925"/>
            <a:ext cx="8115300" cy="400050"/>
            <a:chOff x="0" y="0"/>
            <a:chExt cx="8115300" cy="400050"/>
          </a:xfrm>
        </p:grpSpPr>
        <p:sp>
          <p:nvSpPr>
            <p:cNvPr id="531" name="Rectangle"/>
            <p:cNvSpPr/>
            <p:nvPr/>
          </p:nvSpPr>
          <p:spPr>
            <a:xfrm>
              <a:off x="0" y="0"/>
              <a:ext cx="8115300" cy="4000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2" name="Tài liệu tham khảo"/>
            <p:cNvSpPr txBox="1"/>
            <p:nvPr/>
          </p:nvSpPr>
          <p:spPr>
            <a:xfrm>
              <a:off x="0" y="21068"/>
              <a:ext cx="8115300" cy="357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Tài liệu tham khảo</a:t>
              </a:r>
            </a:p>
          </p:txBody>
        </p:sp>
      </p:grpSp>
      <p:grpSp>
        <p:nvGrpSpPr>
          <p:cNvPr id="536" name="Group"/>
          <p:cNvGrpSpPr/>
          <p:nvPr/>
        </p:nvGrpSpPr>
        <p:grpSpPr>
          <a:xfrm>
            <a:off x="552450" y="4876800"/>
            <a:ext cx="5334000" cy="209550"/>
            <a:chOff x="0" y="0"/>
            <a:chExt cx="5334000" cy="209550"/>
          </a:xfrm>
        </p:grpSpPr>
        <p:sp>
          <p:nvSpPr>
            <p:cNvPr id="534" name="Rectangle"/>
            <p:cNvSpPr/>
            <p:nvPr/>
          </p:nvSpPr>
          <p:spPr>
            <a:xfrm>
              <a:off x="0" y="0"/>
              <a:ext cx="5334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5" name="UIT.CS2205.ResearchMethodology"/>
            <p:cNvSpPr txBox="1"/>
            <p:nvPr/>
          </p:nvSpPr>
          <p:spPr>
            <a:xfrm>
              <a:off x="0" y="0"/>
              <a:ext cx="5334000" cy="1728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UIT.CS2205.ResearchMethodology</a:t>
              </a:r>
            </a:p>
          </p:txBody>
        </p:sp>
      </p:grpSp>
      <p:grpSp>
        <p:nvGrpSpPr>
          <p:cNvPr id="539" name="Group"/>
          <p:cNvGrpSpPr/>
          <p:nvPr/>
        </p:nvGrpSpPr>
        <p:grpSpPr>
          <a:xfrm>
            <a:off x="236168" y="919956"/>
            <a:ext cx="7810501" cy="3530601"/>
            <a:chOff x="0" y="0"/>
            <a:chExt cx="7810500" cy="3530600"/>
          </a:xfrm>
        </p:grpSpPr>
        <p:sp>
          <p:nvSpPr>
            <p:cNvPr id="537" name="Rectangle"/>
            <p:cNvSpPr/>
            <p:nvPr/>
          </p:nvSpPr>
          <p:spPr>
            <a:xfrm>
              <a:off x="0" y="0"/>
              <a:ext cx="78105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9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538" name="[1]. Stuart P. Lloyd: Least squares quantization in PCM. IEEE Trans. Inf. Theory 28(2): 129-136 (1982).…"/>
            <p:cNvSpPr txBox="1"/>
            <p:nvPr/>
          </p:nvSpPr>
          <p:spPr>
            <a:xfrm>
              <a:off x="0" y="0"/>
              <a:ext cx="7810500" cy="3530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defTabSz="457200">
                <a:defRPr sz="1866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[1]. Stuart P. Lloyd: Least squares quantization in PCM. IEEE Trans. Inf. Theory 28(2): 129-136 (1982).</a:t>
              </a:r>
              <a:endParaRPr sz="1200">
                <a:latin typeface="Times Roman"/>
                <a:ea typeface="Times Roman"/>
                <a:cs typeface="Times Roman"/>
                <a:sym typeface="Times Roman"/>
              </a:endParaRPr>
            </a:p>
            <a:p>
              <a:pPr defTabSz="457200">
                <a:defRPr sz="1866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[2]. Anil K. Jain: Data Clustering: 50 Years Beyond K-means. ECML/PKDD (1) 2008: 3-4.</a:t>
              </a:r>
              <a:endParaRPr sz="1200">
                <a:latin typeface="Times Roman"/>
                <a:ea typeface="Times Roman"/>
                <a:cs typeface="Times Roman"/>
                <a:sym typeface="Times Roman"/>
              </a:endParaRPr>
            </a:p>
            <a:p>
              <a:pPr defTabSz="457200">
                <a:defRPr sz="1866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[3]. Peter J. Rousseeuw: Silhouettes: a graphical aid to the interpretation and validation of cluster analysis. J. Comput. Appl. Math. 20: 53-65 (1987).</a:t>
              </a:r>
              <a:endParaRPr sz="1200">
                <a:latin typeface="Times Roman"/>
                <a:ea typeface="Times Roman"/>
                <a:cs typeface="Times Roman"/>
                <a:sym typeface="Times Roman"/>
              </a:endParaRPr>
            </a:p>
            <a:p>
              <a:pPr defTabSz="457200">
                <a:defRPr sz="1866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[4]. James MacQueen: Some methods for classification and analysis of multivariate observations. Berkeley Symposium on Mathematical Statistics and Probability 1967: 281-297.</a:t>
              </a:r>
              <a:endParaRPr sz="1200">
                <a:latin typeface="Times Roman"/>
                <a:ea typeface="Times Roman"/>
                <a:cs typeface="Times Roman"/>
                <a:sym typeface="Times Roman"/>
              </a:endParaRPr>
            </a:p>
            <a:p>
              <a:pPr defTabSz="457200">
                <a:defRPr sz="1866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[5]. Renuka Agrawal, Aryan Khanna, Safa Hamdare:</a:t>
              </a:r>
              <a:endParaRPr sz="1200">
                <a:latin typeface="Times Roman"/>
                <a:ea typeface="Times Roman"/>
                <a:cs typeface="Times Roman"/>
                <a:sym typeface="Times Roman"/>
              </a:endParaRPr>
            </a:p>
            <a:p>
              <a:pPr defTabSz="457200">
                <a:defRPr sz="1866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Analyzing and Rewarding Credit Card Spending Habits in India: a Machine Learning Approach. Int. J. Comput. Intell. Syst. 18(1): 165 (2025).</a:t>
              </a:r>
              <a:endParaRPr sz="1200">
                <a:latin typeface="Times Roman"/>
                <a:ea typeface="Times Roman"/>
                <a:cs typeface="Times Roman"/>
                <a:sym typeface="Times Roman"/>
              </a:endParaR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