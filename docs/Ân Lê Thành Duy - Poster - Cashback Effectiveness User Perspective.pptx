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0e58a771ff4925" /><Relationship Type="http://schemas.openxmlformats.org/officeDocument/2006/relationships/extended-properties" Target="/docProps/app.xml" Id="R2200a3a3e5b043bf" /><Relationship Type="http://schemas.openxmlformats.org/officeDocument/2006/relationships/officeDocument" Target="/ppt/presentation.xml" Id="R5cde01823a174ae6" /></Relationships>
</file>

<file path=ppt/presentation.xml><?xml version="1.0" encoding="utf-8"?>
<p:presentation xmlns:p="http://schemas.openxmlformats.org/presentationml/2006/main">
  <p:sldMasterIdLst>
    <p:sldMasterId xmlns:r="http://schemas.openxmlformats.org/officeDocument/2006/relationships" id="2147483648" r:id="R1f7122e7a0c14cd7"/>
  </p:sldMasterIdLst>
  <p:notesMasterIdLst>
    <p:notesMasterId xmlns:r="http://schemas.openxmlformats.org/officeDocument/2006/relationships" r:id="R1a09168d0ff14d74"/>
  </p:notesMasterIdLst>
  <p:sldIdLst>
    <p:sldId xmlns:r="http://schemas.openxmlformats.org/officeDocument/2006/relationships" id="256" r:id="R3db437a1438b41bd"/>
  </p:sldIdLst>
  <p:sldSz cx="10687050" cy="15116175"/>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99e28fc151440d7" /><Relationship Type="http://schemas.openxmlformats.org/officeDocument/2006/relationships/slideMaster" Target="/ppt/slideMasters/slideMaster1.xml" Id="R1f7122e7a0c14cd7" /><Relationship Type="http://schemas.openxmlformats.org/officeDocument/2006/relationships/notesMaster" Target="/ppt/notesMasters/notesMaster1.xml" Id="R1a09168d0ff14d74" /><Relationship Type="http://schemas.openxmlformats.org/officeDocument/2006/relationships/presProps" Target="/ppt/presProps.xml" Id="Rb83540150cf440a3" /><Relationship Type="http://schemas.openxmlformats.org/officeDocument/2006/relationships/viewProps" Target="/ppt/viewProps.xml" Id="Rf2c7fa1031434afb" /><Relationship Type="http://schemas.openxmlformats.org/officeDocument/2006/relationships/tableStyles" Target="/ppt/tableStyles.xml" Id="R8082f7f14fd1479f" /><Relationship Type="http://schemas.openxmlformats.org/officeDocument/2006/relationships/slide" Target="/ppt/slides/slide1.xml" Id="R3db437a1438b41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2aaf671b0642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2e363107744472" /><Relationship Type="http://schemas.openxmlformats.org/officeDocument/2006/relationships/notesMaster" Target="/ppt/notesMasters/notesMaster1.xml" Id="R6d8d193c17d949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b85940a97c45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cc5238697e4357" /><Relationship Type="http://schemas.openxmlformats.org/officeDocument/2006/relationships/slideLayout" Target="/ppt/slideLayouts/slideLayout1.xml" Id="R6e7a84a31f7f44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7a84a31f7f44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ce2af0d4a24ca3" /><Relationship Type="http://schemas.openxmlformats.org/officeDocument/2006/relationships/notesSlide" Target="/ppt/notesSlides/notesSlide1.xml" Id="R4e17b0fef27444b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FB5E930-2963-4E06-80D2-BF9F77C7EB1E}"/>
              </a:ext>
            </a:extLst>
          </p:cNvPr>
          <p:cNvSpPr>
            <a:spLocks xmlns:a="http://schemas.openxmlformats.org/drawingml/2006/main" noGrp="1"/>
          </p:cNvSpPr>
          <p:nvPr/>
        </p:nvSpPr>
        <p:spPr>
          <a:xfrm xmlns:a="http://schemas.openxmlformats.org/drawingml/2006/main">
            <a:off x="0" y="0"/>
            <a:ext cx="10687050" cy="15116175"/>
          </a:xfrm>
          <a:prstGeom xmlns:a="http://schemas.openxmlformats.org/drawingml/2006/main" prst="rect">
            <a:avLst/>
          </a:prstGeom>
          <a:solidFill xmlns:a="http://schemas.openxmlformats.org/drawingml/2006/main">
            <a:srgbClr val="F7F4E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95C473F-AF99-4601-AD19-AC3596886881}"/>
              </a:ext>
            </a:extLst>
          </p:cNvPr>
          <p:cNvSpPr>
            <a:spLocks xmlns:a="http://schemas.openxmlformats.org/drawingml/2006/main" noGrp="1"/>
          </p:cNvSpPr>
          <p:nvPr/>
        </p:nvSpPr>
        <p:spPr>
          <a:xfrm xmlns:a="http://schemas.openxmlformats.org/drawingml/2006/main">
            <a:off x="361950" y="361950"/>
            <a:ext cx="9982200" cy="2000250"/>
          </a:xfrm>
          <a:prstGeom xmlns:a="http://schemas.openxmlformats.org/drawingml/2006/main" prst="rect">
            <a:avLst/>
          </a:prstGeom>
          <a:solidFill xmlns:a="http://schemas.openxmlformats.org/drawingml/2006/main">
            <a:srgbClr val="172033"/>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6617EC8-BF0D-4C19-B2C6-A21F35138F9D}"/>
              </a:ext>
            </a:extLst>
          </p:cNvPr>
          <p:cNvSpPr>
            <a:spLocks xmlns:a="http://schemas.openxmlformats.org/drawingml/2006/main" noGrp="1"/>
          </p:cNvSpPr>
          <p:nvPr/>
        </p:nvSpPr>
        <p:spPr>
          <a:xfrm xmlns:a="http://schemas.openxmlformats.org/drawingml/2006/main">
            <a:off x="361950" y="2228850"/>
            <a:ext cx="9982200" cy="133350"/>
          </a:xfrm>
          <a:prstGeom xmlns:a="http://schemas.openxmlformats.org/drawingml/2006/main" prst="rect">
            <a:avLst/>
          </a:prstGeom>
          <a:solidFill xmlns:a="http://schemas.openxmlformats.org/drawingml/2006/main">
            <a:srgbClr val="0FBCD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7C1BC48-B959-4800-9DBA-D27492CB9165}"/>
              </a:ext>
            </a:extLst>
          </p:cNvPr>
          <p:cNvSpPr>
            <a:spLocks xmlns:a="http://schemas.openxmlformats.org/drawingml/2006/main" noGrp="1"/>
          </p:cNvSpPr>
          <p:nvPr/>
        </p:nvSpPr>
        <p:spPr>
          <a:xfrm xmlns:a="http://schemas.openxmlformats.org/drawingml/2006/main">
            <a:off x="666750" y="666750"/>
            <a:ext cx="914400" cy="76200"/>
          </a:xfrm>
          <a:prstGeom xmlns:a="http://schemas.openxmlformats.org/drawingml/2006/main" prst="rect">
            <a:avLst/>
          </a:prstGeom>
          <a:solidFill xmlns:a="http://schemas.openxmlformats.org/drawingml/2006/main">
            <a:srgbClr val="0FBCD4"/>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AA2C1FA-7522-4485-9DC6-FACDD24C7064}"/>
              </a:ext>
            </a:extLst>
          </p:cNvPr>
          <p:cNvSpPr>
            <a:spLocks xmlns:a="http://schemas.openxmlformats.org/drawingml/2006/main" noGrp="1"/>
          </p:cNvSpPr>
          <p:nvPr/>
        </p:nvSpPr>
        <p:spPr>
          <a:xfrm xmlns:a="http://schemas.openxmlformats.org/drawingml/2006/main">
            <a:off x="666750" y="876300"/>
            <a:ext cx="9239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Cashback có thật sự có lợi cho người dùng?</a:t>
            </a:r>
          </a:p>
        </p:txBody>
      </p:sp>
      <p:sp>
        <p:nvSpPr>
          <p:cNvPr id="6" name="">
            <a:extLst xmlns:a="http://schemas.openxmlformats.org/drawingml/2006/main">
              <a:ext uri="{FF2B5EF4-FFF2-40B4-BE49-F238E27FC236}">
                <a16:creationId xmlns:a16="http://schemas.microsoft.com/office/drawing/2014/main" id="{AC4EB23A-302C-4641-8B12-2924BACF58B0}"/>
              </a:ext>
            </a:extLst>
          </p:cNvPr>
          <p:cNvSpPr>
            <a:spLocks xmlns:a="http://schemas.openxmlformats.org/drawingml/2006/main" noGrp="1"/>
          </p:cNvSpPr>
          <p:nvPr/>
        </p:nvSpPr>
        <p:spPr>
          <a:xfrm xmlns:a="http://schemas.openxmlformats.org/drawingml/2006/main">
            <a:off x="685800" y="1524000"/>
            <a:ext cx="6286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1365" b="1">
                <a:solidFill>
                  <a:srgbClr val="D6F8FF"/>
                </a:solidFill>
                <a:latin typeface="Arial"/>
                <a:ea typeface="Arial"/>
                <a:cs typeface="Arial"/>
              </a:defRPr>
            </a:pPr>
            <a:r>
              <a:rPr sz="1365" b="1">
                <a:solidFill>
                  <a:srgbClr val="D6F8FF"/>
                </a:solidFill>
                <a:latin typeface="Arial"/>
                <a:ea typeface="Arial"/>
                <a:cs typeface="Arial"/>
              </a:rPr>
              <a:t>Phân tích hiệu quả hoàn tiền và rủi ro chi tiêu quá mức của người dùng thẻ tín dụng</a:t>
            </a:r>
          </a:p>
        </p:txBody>
      </p:sp>
      <p:sp>
        <p:nvSpPr>
          <p:cNvPr id="7" name="">
            <a:extLst xmlns:a="http://schemas.openxmlformats.org/drawingml/2006/main">
              <a:ext uri="{FF2B5EF4-FFF2-40B4-BE49-F238E27FC236}">
                <a16:creationId xmlns:a16="http://schemas.microsoft.com/office/drawing/2014/main" id="{D60220CB-C4DD-495A-88D5-A1C265E95EC9}"/>
              </a:ext>
            </a:extLst>
          </p:cNvPr>
          <p:cNvSpPr>
            <a:spLocks xmlns:a="http://schemas.openxmlformats.org/drawingml/2006/main" noGrp="1"/>
          </p:cNvSpPr>
          <p:nvPr/>
        </p:nvSpPr>
        <p:spPr>
          <a:xfrm xmlns:a="http://schemas.openxmlformats.org/drawingml/2006/main">
            <a:off x="685800" y="1981200"/>
            <a:ext cx="285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Sinh viên: Ân Lê Thành Duy</a:t>
            </a:r>
          </a:p>
        </p:txBody>
      </p:sp>
      <p:sp>
        <p:nvSpPr>
          <p:cNvPr id="8" name="">
            <a:extLst xmlns:a="http://schemas.openxmlformats.org/drawingml/2006/main">
              <a:ext uri="{FF2B5EF4-FFF2-40B4-BE49-F238E27FC236}">
                <a16:creationId xmlns:a16="http://schemas.microsoft.com/office/drawing/2014/main" id="{04546D73-CCF7-41B3-8593-4C629237CC66}"/>
              </a:ext>
            </a:extLst>
          </p:cNvPr>
          <p:cNvSpPr>
            <a:spLocks xmlns:a="http://schemas.openxmlformats.org/drawingml/2006/main" noGrp="1"/>
          </p:cNvSpPr>
          <p:nvPr/>
        </p:nvSpPr>
        <p:spPr>
          <a:xfrm xmlns:a="http://schemas.openxmlformats.org/drawingml/2006/main">
            <a:off x="3848100" y="1981200"/>
            <a:ext cx="3028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ctr">
              <a:defRPr sz="1005" b="0">
                <a:solidFill>
                  <a:srgbClr val="FFFFFF"/>
                </a:solidFill>
                <a:latin typeface="Arial"/>
                <a:ea typeface="Arial"/>
                <a:cs typeface="Arial"/>
              </a:defRPr>
            </a:pPr>
            <a:r>
              <a:rPr sz="1005" b="0">
                <a:solidFill>
                  <a:srgbClr val="FFFFFF"/>
                </a:solidFill>
                <a:latin typeface="Arial"/>
                <a:ea typeface="Arial"/>
                <a:cs typeface="Arial"/>
              </a:rPr>
              <a:t>CS2205.CH203 - Phương pháp NCKH</a:t>
            </a:r>
          </a:p>
        </p:txBody>
      </p:sp>
      <p:sp>
        <p:nvSpPr>
          <p:cNvPr id="9" name="">
            <a:extLst xmlns:a="http://schemas.openxmlformats.org/drawingml/2006/main">
              <a:ext uri="{FF2B5EF4-FFF2-40B4-BE49-F238E27FC236}">
                <a16:creationId xmlns:a16="http://schemas.microsoft.com/office/drawing/2014/main" id="{CACE8CCE-1BFD-4CF0-B029-7B6DB84D57B9}"/>
              </a:ext>
            </a:extLst>
          </p:cNvPr>
          <p:cNvSpPr>
            <a:spLocks xmlns:a="http://schemas.openxmlformats.org/drawingml/2006/main" noGrp="1"/>
          </p:cNvSpPr>
          <p:nvPr/>
        </p:nvSpPr>
        <p:spPr>
          <a:xfrm xmlns:a="http://schemas.openxmlformats.org/drawingml/2006/main">
            <a:off x="7143750" y="1809750"/>
            <a:ext cx="27432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r">
              <a:defRPr sz="945" b="0">
                <a:solidFill>
                  <a:srgbClr val="FFFFFF"/>
                </a:solidFill>
                <a:latin typeface="Arial"/>
                <a:ea typeface="Arial"/>
                <a:cs typeface="Arial"/>
              </a:defRPr>
            </a:pPr>
            <a:r>
              <a:rPr sz="945" b="0">
                <a:solidFill>
                  <a:srgbClr val="FFFFFF"/>
                </a:solidFill>
                <a:latin typeface="Arial"/>
                <a:ea typeface="Arial"/>
                <a:cs typeface="Arial"/>
              </a:rPr>
              <a:t>Trường Đại học Công nghệ Thông tin, ĐHQG-HCM</a:t>
            </a:r>
          </a:p>
        </p:txBody>
      </p:sp>
      <p:sp>
        <p:nvSpPr>
          <p:cNvPr id="10" name="">
            <a:extLst xmlns:a="http://schemas.openxmlformats.org/drawingml/2006/main">
              <a:ext uri="{FF2B5EF4-FFF2-40B4-BE49-F238E27FC236}">
                <a16:creationId xmlns:a16="http://schemas.microsoft.com/office/drawing/2014/main" id="{63C73D70-EB25-4B77-B120-5410FE70EBCF}"/>
              </a:ext>
            </a:extLst>
          </p:cNvPr>
          <p:cNvSpPr>
            <a:spLocks xmlns:a="http://schemas.openxmlformats.org/drawingml/2006/main" noGrp="1"/>
          </p:cNvSpPr>
          <p:nvPr/>
        </p:nvSpPr>
        <p:spPr>
          <a:xfrm xmlns:a="http://schemas.openxmlformats.org/drawingml/2006/main">
            <a:off x="647700" y="2686050"/>
            <a:ext cx="4476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1" name="">
            <a:extLst xmlns:a="http://schemas.openxmlformats.org/drawingml/2006/main">
              <a:ext uri="{FF2B5EF4-FFF2-40B4-BE49-F238E27FC236}">
                <a16:creationId xmlns:a16="http://schemas.microsoft.com/office/drawing/2014/main" id="{FA43D4A3-B2D7-4F1F-8744-113A2E87AE0F}"/>
              </a:ext>
            </a:extLst>
          </p:cNvPr>
          <p:cNvSpPr>
            <a:spLocks xmlns:a="http://schemas.openxmlformats.org/drawingml/2006/main" noGrp="1"/>
          </p:cNvSpPr>
          <p:nvPr/>
        </p:nvSpPr>
        <p:spPr>
          <a:xfrm xmlns:a="http://schemas.openxmlformats.org/drawingml/2006/main">
            <a:off x="647700" y="2686050"/>
            <a:ext cx="66675" cy="120015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B34EA8C-3A9B-49F4-837C-6254FC4A6B20}"/>
              </a:ext>
            </a:extLst>
          </p:cNvPr>
          <p:cNvSpPr>
            <a:spLocks xmlns:a="http://schemas.openxmlformats.org/drawingml/2006/main" noGrp="1"/>
          </p:cNvSpPr>
          <p:nvPr/>
        </p:nvSpPr>
        <p:spPr>
          <a:xfrm xmlns:a="http://schemas.openxmlformats.org/drawingml/2006/main">
            <a:off x="819150" y="2790825"/>
            <a:ext cx="41719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1313" b="1">
                <a:solidFill>
                  <a:srgbClr val="0B8FA5"/>
                </a:solidFill>
                <a:latin typeface="Arial"/>
                <a:ea typeface="Arial"/>
                <a:cs typeface="Arial"/>
              </a:defRPr>
            </a:pPr>
            <a:r>
              <a:rPr sz="1313" b="1">
                <a:solidFill>
                  <a:srgbClr val="0B8FA5"/>
                </a:solidFill>
                <a:latin typeface="Arial"/>
                <a:ea typeface="Arial"/>
                <a:cs typeface="Arial"/>
              </a:rPr>
              <a:t>What?</a:t>
            </a:r>
          </a:p>
        </p:txBody>
      </p:sp>
      <p:sp>
        <p:nvSpPr>
          <p:cNvPr id="13" name="">
            <a:extLst xmlns:a="http://schemas.openxmlformats.org/drawingml/2006/main">
              <a:ext uri="{FF2B5EF4-FFF2-40B4-BE49-F238E27FC236}">
                <a16:creationId xmlns:a16="http://schemas.microsoft.com/office/drawing/2014/main" id="{894AF278-45E7-4323-99D0-7931229AD7FE}"/>
              </a:ext>
            </a:extLst>
          </p:cNvPr>
          <p:cNvSpPr>
            <a:spLocks xmlns:a="http://schemas.openxmlformats.org/drawingml/2006/main" noGrp="1"/>
          </p:cNvSpPr>
          <p:nvPr/>
        </p:nvSpPr>
        <p:spPr>
          <a:xfrm xmlns:a="http://schemas.openxmlformats.org/drawingml/2006/main">
            <a:off x="819150" y="3105150"/>
            <a:ext cx="41719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982" b="0">
                <a:solidFill>
                  <a:srgbClr val="0F172A"/>
                </a:solidFill>
                <a:latin typeface="Arial"/>
                <a:ea typeface="Arial"/>
                <a:cs typeface="Arial"/>
              </a:defRPr>
            </a:pPr>
            <a:r>
              <a:rPr sz="982" b="0">
                <a:solidFill>
                  <a:srgbClr val="0F172A"/>
                </a:solidFill>
                <a:latin typeface="Arial"/>
                <a:ea typeface="Arial"/>
                <a:cs typeface="Arial"/>
              </a:rPr>
              <a:t>Đánh giá hiệu quả cashback từ góc nhìn người dùng bằng dữ liệu giao dịch, quy tắc hoàn tiền, phí/lãi và ngân sách cá nhân. Đầu ra là phân khúc hành vi và khuyến nghị sử dụng thẻ có trách nhiệm.</a:t>
            </a:r>
          </a:p>
        </p:txBody>
      </p:sp>
      <p:sp>
        <p:nvSpPr>
          <p:cNvPr id="14" name="">
            <a:extLst xmlns:a="http://schemas.openxmlformats.org/drawingml/2006/main">
              <a:ext uri="{FF2B5EF4-FFF2-40B4-BE49-F238E27FC236}">
                <a16:creationId xmlns:a16="http://schemas.microsoft.com/office/drawing/2014/main" id="{03D1E195-E1D9-4209-B4EA-EE88E6977EBB}"/>
              </a:ext>
            </a:extLst>
          </p:cNvPr>
          <p:cNvSpPr>
            <a:spLocks xmlns:a="http://schemas.openxmlformats.org/drawingml/2006/main" noGrp="1"/>
          </p:cNvSpPr>
          <p:nvPr/>
        </p:nvSpPr>
        <p:spPr>
          <a:xfrm xmlns:a="http://schemas.openxmlformats.org/drawingml/2006/main">
            <a:off x="5562600" y="2686050"/>
            <a:ext cx="4476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5" name="">
            <a:extLst xmlns:a="http://schemas.openxmlformats.org/drawingml/2006/main">
              <a:ext uri="{FF2B5EF4-FFF2-40B4-BE49-F238E27FC236}">
                <a16:creationId xmlns:a16="http://schemas.microsoft.com/office/drawing/2014/main" id="{D11B154B-09FD-4074-8899-DE03B028BCA2}"/>
              </a:ext>
            </a:extLst>
          </p:cNvPr>
          <p:cNvSpPr>
            <a:spLocks xmlns:a="http://schemas.openxmlformats.org/drawingml/2006/main" noGrp="1"/>
          </p:cNvSpPr>
          <p:nvPr/>
        </p:nvSpPr>
        <p:spPr>
          <a:xfrm xmlns:a="http://schemas.openxmlformats.org/drawingml/2006/main">
            <a:off x="5562600" y="2686050"/>
            <a:ext cx="66675" cy="1200150"/>
          </a:xfrm>
          <a:prstGeom xmlns:a="http://schemas.openxmlformats.org/drawingml/2006/main" prst="rect">
            <a:avLst/>
          </a:prstGeom>
          <a:solidFill xmlns:a="http://schemas.openxmlformats.org/drawingml/2006/main">
            <a:srgbClr val="E0523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15C1C98-4984-44BD-9085-D73172A401CD}"/>
              </a:ext>
            </a:extLst>
          </p:cNvPr>
          <p:cNvSpPr>
            <a:spLocks xmlns:a="http://schemas.openxmlformats.org/drawingml/2006/main" noGrp="1"/>
          </p:cNvSpPr>
          <p:nvPr/>
        </p:nvSpPr>
        <p:spPr>
          <a:xfrm xmlns:a="http://schemas.openxmlformats.org/drawingml/2006/main">
            <a:off x="5734050" y="2790825"/>
            <a:ext cx="41719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1313" b="1">
                <a:solidFill>
                  <a:srgbClr val="E0523F"/>
                </a:solidFill>
                <a:latin typeface="Arial"/>
                <a:ea typeface="Arial"/>
                <a:cs typeface="Arial"/>
              </a:defRPr>
            </a:pPr>
            <a:r>
              <a:rPr sz="1313" b="1">
                <a:solidFill>
                  <a:srgbClr val="E0523F"/>
                </a:solidFill>
                <a:latin typeface="Arial"/>
                <a:ea typeface="Arial"/>
                <a:cs typeface="Arial"/>
              </a:rPr>
              <a:t>Why?</a:t>
            </a:r>
          </a:p>
        </p:txBody>
      </p:sp>
      <p:sp>
        <p:nvSpPr>
          <p:cNvPr id="17" name="">
            <a:extLst xmlns:a="http://schemas.openxmlformats.org/drawingml/2006/main">
              <a:ext uri="{FF2B5EF4-FFF2-40B4-BE49-F238E27FC236}">
                <a16:creationId xmlns:a16="http://schemas.microsoft.com/office/drawing/2014/main" id="{802B1612-B8CA-4641-B1D3-3185B7FBAFDD}"/>
              </a:ext>
            </a:extLst>
          </p:cNvPr>
          <p:cNvSpPr>
            <a:spLocks xmlns:a="http://schemas.openxmlformats.org/drawingml/2006/main" noGrp="1"/>
          </p:cNvSpPr>
          <p:nvPr/>
        </p:nvSpPr>
        <p:spPr>
          <a:xfrm xmlns:a="http://schemas.openxmlformats.org/drawingml/2006/main">
            <a:off x="5734050" y="3105150"/>
            <a:ext cx="41719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982" b="0">
                <a:solidFill>
                  <a:srgbClr val="0F172A"/>
                </a:solidFill>
                <a:latin typeface="Arial"/>
                <a:ea typeface="Arial"/>
                <a:cs typeface="Arial"/>
              </a:defRPr>
            </a:pPr>
            <a:r>
              <a:rPr sz="982" b="0">
                <a:solidFill>
                  <a:srgbClr val="0F172A"/>
                </a:solidFill>
                <a:latin typeface="Arial"/>
                <a:ea typeface="Arial"/>
                <a:cs typeface="Arial"/>
              </a:rPr>
              <a:t>Tổng cashback cao không đồng nghĩa có lợi. Người dùng có thể mất lợi ích vì vượt cap, chọn sai thẻ, chi tiêu ngoài danh mục ưu đãi, trả chậm hoặc chi tiêu vượt nhu cầu.</a:t>
            </a:r>
          </a:p>
        </p:txBody>
      </p:sp>
      <p:sp>
        <p:nvSpPr>
          <p:cNvPr id="18" name="">
            <a:extLst xmlns:a="http://schemas.openxmlformats.org/drawingml/2006/main">
              <a:ext uri="{FF2B5EF4-FFF2-40B4-BE49-F238E27FC236}">
                <a16:creationId xmlns:a16="http://schemas.microsoft.com/office/drawing/2014/main" id="{6E574436-F658-4E41-8C5E-09F48C8B1CA9}"/>
              </a:ext>
            </a:extLst>
          </p:cNvPr>
          <p:cNvSpPr>
            <a:spLocks xmlns:a="http://schemas.openxmlformats.org/drawingml/2006/main" noGrp="1"/>
          </p:cNvSpPr>
          <p:nvPr/>
        </p:nvSpPr>
        <p:spPr>
          <a:xfrm xmlns:a="http://schemas.openxmlformats.org/drawingml/2006/main">
            <a:off x="647700" y="4152900"/>
            <a:ext cx="9391650" cy="38100"/>
          </a:xfrm>
          <a:prstGeom xmlns:a="http://schemas.openxmlformats.org/drawingml/2006/main" prst="rect">
            <a:avLst/>
          </a:prstGeom>
          <a:solidFill xmlns:a="http://schemas.openxmlformats.org/drawingml/2006/main">
            <a:srgbClr val="0B4B8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B113E6B-E943-4323-BFB3-CECBDADA1490}"/>
              </a:ext>
            </a:extLst>
          </p:cNvPr>
          <p:cNvSpPr>
            <a:spLocks xmlns:a="http://schemas.openxmlformats.org/drawingml/2006/main" noGrp="1"/>
          </p:cNvSpPr>
          <p:nvPr/>
        </p:nvSpPr>
        <p:spPr>
          <a:xfrm xmlns:a="http://schemas.openxmlformats.org/drawingml/2006/main">
            <a:off x="647700" y="4248150"/>
            <a:ext cx="9391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1463" b="1">
                <a:solidFill>
                  <a:srgbClr val="0B4B8A"/>
                </a:solidFill>
                <a:latin typeface="Arial"/>
                <a:ea typeface="Arial"/>
                <a:cs typeface="Arial"/>
              </a:defRPr>
            </a:pPr>
            <a:r>
              <a:rPr sz="1463" b="1">
                <a:solidFill>
                  <a:srgbClr val="0B4B8A"/>
                </a:solidFill>
                <a:latin typeface="Arial"/>
                <a:ea typeface="Arial"/>
                <a:cs typeface="Arial"/>
              </a:rPr>
              <a:t>Sơ đồ phương pháp nghiên cứu chi tiết</a:t>
            </a:r>
          </a:p>
        </p:txBody>
      </p:sp>
      <p:sp>
        <p:nvSpPr>
          <p:cNvPr id="20" name="">
            <a:extLst xmlns:a="http://schemas.openxmlformats.org/drawingml/2006/main">
              <a:ext uri="{FF2B5EF4-FFF2-40B4-BE49-F238E27FC236}">
                <a16:creationId xmlns:a16="http://schemas.microsoft.com/office/drawing/2014/main" id="{66D12920-590F-487F-A028-88D91D38E3C2}"/>
              </a:ext>
            </a:extLst>
          </p:cNvPr>
          <p:cNvSpPr>
            <a:spLocks xmlns:a="http://schemas.openxmlformats.org/drawingml/2006/main" noGrp="1"/>
          </p:cNvSpPr>
          <p:nvPr/>
        </p:nvSpPr>
        <p:spPr>
          <a:xfrm xmlns:a="http://schemas.openxmlformats.org/drawingml/2006/main">
            <a:off x="666750" y="4686300"/>
            <a:ext cx="12573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21" name="">
            <a:extLst xmlns:a="http://schemas.openxmlformats.org/drawingml/2006/main">
              <a:ext uri="{FF2B5EF4-FFF2-40B4-BE49-F238E27FC236}">
                <a16:creationId xmlns:a16="http://schemas.microsoft.com/office/drawing/2014/main" id="{B6ED6D22-A10E-4F6C-8258-FD05785BEFFE}"/>
              </a:ext>
            </a:extLst>
          </p:cNvPr>
          <p:cNvSpPr>
            <a:spLocks xmlns:a="http://schemas.openxmlformats.org/drawingml/2006/main" noGrp="1"/>
          </p:cNvSpPr>
          <p:nvPr/>
        </p:nvSpPr>
        <p:spPr>
          <a:xfrm xmlns:a="http://schemas.openxmlformats.org/drawingml/2006/main">
            <a:off x="666750" y="4686300"/>
            <a:ext cx="1257300" cy="238125"/>
          </a:xfrm>
          <a:prstGeom xmlns:a="http://schemas.openxmlformats.org/drawingml/2006/main" prst="rect">
            <a:avLst/>
          </a:prstGeom>
          <a:solidFill xmlns:a="http://schemas.openxmlformats.org/drawingml/2006/main">
            <a:srgbClr val="0B4B8A"/>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8356755-4109-423B-9CF2-D8E7E21AE879}"/>
              </a:ext>
            </a:extLst>
          </p:cNvPr>
          <p:cNvSpPr>
            <a:spLocks xmlns:a="http://schemas.openxmlformats.org/drawingml/2006/main" noGrp="1"/>
          </p:cNvSpPr>
          <p:nvPr/>
        </p:nvSpPr>
        <p:spPr>
          <a:xfrm xmlns:a="http://schemas.openxmlformats.org/drawingml/2006/main">
            <a:off x="723900" y="4714875"/>
            <a:ext cx="11430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840" b="1">
                <a:solidFill>
                  <a:srgbClr val="FFFFFF"/>
                </a:solidFill>
                <a:latin typeface="Arial"/>
                <a:ea typeface="Arial"/>
                <a:cs typeface="Arial"/>
              </a:defRPr>
            </a:pPr>
            <a:r>
              <a:rPr sz="840" b="1">
                <a:solidFill>
                  <a:srgbClr val="FFFFFF"/>
                </a:solidFill>
                <a:latin typeface="Arial"/>
                <a:ea typeface="Arial"/>
                <a:cs typeface="Arial"/>
              </a:rPr>
              <a:t>1. Thu thập</a:t>
            </a:r>
          </a:p>
        </p:txBody>
      </p:sp>
      <p:sp>
        <p:nvSpPr>
          <p:cNvPr id="23" name="">
            <a:extLst xmlns:a="http://schemas.openxmlformats.org/drawingml/2006/main">
              <a:ext uri="{FF2B5EF4-FFF2-40B4-BE49-F238E27FC236}">
                <a16:creationId xmlns:a16="http://schemas.microsoft.com/office/drawing/2014/main" id="{9B55848C-94AB-4ABF-8F1A-A9ED4E0304C1}"/>
              </a:ext>
            </a:extLst>
          </p:cNvPr>
          <p:cNvSpPr>
            <a:spLocks xmlns:a="http://schemas.openxmlformats.org/drawingml/2006/main" noGrp="1"/>
          </p:cNvSpPr>
          <p:nvPr/>
        </p:nvSpPr>
        <p:spPr>
          <a:xfrm xmlns:a="http://schemas.openxmlformats.org/drawingml/2006/main">
            <a:off x="752475" y="5010150"/>
            <a:ext cx="1085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user profile</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card rules</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transactions</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budget/payment</a:t>
            </a:r>
          </a:p>
        </p:txBody>
      </p:sp>
      <p:sp>
        <p:nvSpPr>
          <p:cNvPr id="24" name="">
            <a:extLst xmlns:a="http://schemas.openxmlformats.org/drawingml/2006/main">
              <a:ext uri="{FF2B5EF4-FFF2-40B4-BE49-F238E27FC236}">
                <a16:creationId xmlns:a16="http://schemas.microsoft.com/office/drawing/2014/main" id="{58865792-8E06-46CC-8543-DE38DFA82E8C}"/>
              </a:ext>
            </a:extLst>
          </p:cNvPr>
          <p:cNvSpPr>
            <a:spLocks xmlns:a="http://schemas.openxmlformats.org/drawingml/2006/main" noGrp="1"/>
          </p:cNvSpPr>
          <p:nvPr/>
        </p:nvSpPr>
        <p:spPr>
          <a:xfrm xmlns:a="http://schemas.openxmlformats.org/drawingml/2006/main">
            <a:off x="2133600" y="4686300"/>
            <a:ext cx="12573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25" name="">
            <a:extLst xmlns:a="http://schemas.openxmlformats.org/drawingml/2006/main">
              <a:ext uri="{FF2B5EF4-FFF2-40B4-BE49-F238E27FC236}">
                <a16:creationId xmlns:a16="http://schemas.microsoft.com/office/drawing/2014/main" id="{37DEDC93-43CD-4296-B323-6B42B2BBB496}"/>
              </a:ext>
            </a:extLst>
          </p:cNvPr>
          <p:cNvSpPr>
            <a:spLocks xmlns:a="http://schemas.openxmlformats.org/drawingml/2006/main" noGrp="1"/>
          </p:cNvSpPr>
          <p:nvPr/>
        </p:nvSpPr>
        <p:spPr>
          <a:xfrm xmlns:a="http://schemas.openxmlformats.org/drawingml/2006/main">
            <a:off x="2133600" y="4686300"/>
            <a:ext cx="1257300" cy="238125"/>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1A54668-258F-46F3-9625-A3A863935480}"/>
              </a:ext>
            </a:extLst>
          </p:cNvPr>
          <p:cNvSpPr>
            <a:spLocks xmlns:a="http://schemas.openxmlformats.org/drawingml/2006/main" noGrp="1"/>
          </p:cNvSpPr>
          <p:nvPr/>
        </p:nvSpPr>
        <p:spPr>
          <a:xfrm xmlns:a="http://schemas.openxmlformats.org/drawingml/2006/main">
            <a:off x="2190750" y="4714875"/>
            <a:ext cx="11430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840" b="1">
                <a:solidFill>
                  <a:srgbClr val="FFFFFF"/>
                </a:solidFill>
                <a:latin typeface="Arial"/>
                <a:ea typeface="Arial"/>
                <a:cs typeface="Arial"/>
              </a:defRPr>
            </a:pPr>
            <a:r>
              <a:rPr sz="840" b="1">
                <a:solidFill>
                  <a:srgbClr val="FFFFFF"/>
                </a:solidFill>
                <a:latin typeface="Arial"/>
                <a:ea typeface="Arial"/>
                <a:cs typeface="Arial"/>
              </a:rPr>
              <a:t>2. Tiền xử lý</a:t>
            </a:r>
          </a:p>
        </p:txBody>
      </p:sp>
      <p:sp>
        <p:nvSpPr>
          <p:cNvPr id="27" name="">
            <a:extLst xmlns:a="http://schemas.openxmlformats.org/drawingml/2006/main">
              <a:ext uri="{FF2B5EF4-FFF2-40B4-BE49-F238E27FC236}">
                <a16:creationId xmlns:a16="http://schemas.microsoft.com/office/drawing/2014/main" id="{6144A70F-8E53-41D8-95A6-66668985EFF5}"/>
              </a:ext>
            </a:extLst>
          </p:cNvPr>
          <p:cNvSpPr>
            <a:spLocks xmlns:a="http://schemas.openxmlformats.org/drawingml/2006/main" noGrp="1"/>
          </p:cNvSpPr>
          <p:nvPr/>
        </p:nvSpPr>
        <p:spPr>
          <a:xfrm xmlns:a="http://schemas.openxmlformats.org/drawingml/2006/main">
            <a:off x="2219325" y="5010150"/>
            <a:ext cx="1085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làm sạch</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chuẩn hóa MCC</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gộp user-tháng</a:t>
            </a:r>
          </a:p>
        </p:txBody>
      </p:sp>
      <p:sp>
        <p:nvSpPr>
          <p:cNvPr id="28" name="">
            <a:extLst xmlns:a="http://schemas.openxmlformats.org/drawingml/2006/main">
              <a:ext uri="{FF2B5EF4-FFF2-40B4-BE49-F238E27FC236}">
                <a16:creationId xmlns:a16="http://schemas.microsoft.com/office/drawing/2014/main" id="{7BF2C9DD-4785-492A-AD34-F60C749B291D}"/>
              </a:ext>
            </a:extLst>
          </p:cNvPr>
          <p:cNvSpPr>
            <a:spLocks xmlns:a="http://schemas.openxmlformats.org/drawingml/2006/main" noGrp="1"/>
          </p:cNvSpPr>
          <p:nvPr/>
        </p:nvSpPr>
        <p:spPr>
          <a:xfrm xmlns:a="http://schemas.openxmlformats.org/drawingml/2006/main">
            <a:off x="3600450" y="4686300"/>
            <a:ext cx="12573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29" name="">
            <a:extLst xmlns:a="http://schemas.openxmlformats.org/drawingml/2006/main">
              <a:ext uri="{FF2B5EF4-FFF2-40B4-BE49-F238E27FC236}">
                <a16:creationId xmlns:a16="http://schemas.microsoft.com/office/drawing/2014/main" id="{B25118EF-F45D-483C-99C2-4DAAF1681692}"/>
              </a:ext>
            </a:extLst>
          </p:cNvPr>
          <p:cNvSpPr>
            <a:spLocks xmlns:a="http://schemas.openxmlformats.org/drawingml/2006/main" noGrp="1"/>
          </p:cNvSpPr>
          <p:nvPr/>
        </p:nvSpPr>
        <p:spPr>
          <a:xfrm xmlns:a="http://schemas.openxmlformats.org/drawingml/2006/main">
            <a:off x="3600450" y="4686300"/>
            <a:ext cx="1257300" cy="238125"/>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EF9226A-07D6-42E3-B863-A1C35F63ED46}"/>
              </a:ext>
            </a:extLst>
          </p:cNvPr>
          <p:cNvSpPr>
            <a:spLocks xmlns:a="http://schemas.openxmlformats.org/drawingml/2006/main" noGrp="1"/>
          </p:cNvSpPr>
          <p:nvPr/>
        </p:nvSpPr>
        <p:spPr>
          <a:xfrm xmlns:a="http://schemas.openxmlformats.org/drawingml/2006/main">
            <a:off x="3657600" y="4714875"/>
            <a:ext cx="11430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840" b="1">
                <a:solidFill>
                  <a:srgbClr val="FFFFFF"/>
                </a:solidFill>
                <a:latin typeface="Arial"/>
                <a:ea typeface="Arial"/>
                <a:cs typeface="Arial"/>
              </a:defRPr>
            </a:pPr>
            <a:r>
              <a:rPr sz="840" b="1">
                <a:solidFill>
                  <a:srgbClr val="FFFFFF"/>
                </a:solidFill>
                <a:latin typeface="Arial"/>
                <a:ea typeface="Arial"/>
                <a:cs typeface="Arial"/>
              </a:rPr>
              <a:t>3. Cashback rule</a:t>
            </a:r>
          </a:p>
        </p:txBody>
      </p:sp>
      <p:sp>
        <p:nvSpPr>
          <p:cNvPr id="31" name="">
            <a:extLst xmlns:a="http://schemas.openxmlformats.org/drawingml/2006/main">
              <a:ext uri="{FF2B5EF4-FFF2-40B4-BE49-F238E27FC236}">
                <a16:creationId xmlns:a16="http://schemas.microsoft.com/office/drawing/2014/main" id="{1A734EE3-441B-40FB-9D35-A5BFFAF80964}"/>
              </a:ext>
            </a:extLst>
          </p:cNvPr>
          <p:cNvSpPr>
            <a:spLocks xmlns:a="http://schemas.openxmlformats.org/drawingml/2006/main" noGrp="1"/>
          </p:cNvSpPr>
          <p:nvPr/>
        </p:nvSpPr>
        <p:spPr>
          <a:xfrm xmlns:a="http://schemas.openxmlformats.org/drawingml/2006/main">
            <a:off x="3686175" y="5010150"/>
            <a:ext cx="1085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rate theo danh mục</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cap theo tháng</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actual vs potential</a:t>
            </a:r>
          </a:p>
        </p:txBody>
      </p:sp>
      <p:sp>
        <p:nvSpPr>
          <p:cNvPr id="32" name="">
            <a:extLst xmlns:a="http://schemas.openxmlformats.org/drawingml/2006/main">
              <a:ext uri="{FF2B5EF4-FFF2-40B4-BE49-F238E27FC236}">
                <a16:creationId xmlns:a16="http://schemas.microsoft.com/office/drawing/2014/main" id="{F028AD90-4B25-4A3E-96E6-BD1C90AD0589}"/>
              </a:ext>
            </a:extLst>
          </p:cNvPr>
          <p:cNvSpPr>
            <a:spLocks xmlns:a="http://schemas.openxmlformats.org/drawingml/2006/main" noGrp="1"/>
          </p:cNvSpPr>
          <p:nvPr/>
        </p:nvSpPr>
        <p:spPr>
          <a:xfrm xmlns:a="http://schemas.openxmlformats.org/drawingml/2006/main">
            <a:off x="5067300" y="4686300"/>
            <a:ext cx="12573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33" name="">
            <a:extLst xmlns:a="http://schemas.openxmlformats.org/drawingml/2006/main">
              <a:ext uri="{FF2B5EF4-FFF2-40B4-BE49-F238E27FC236}">
                <a16:creationId xmlns:a16="http://schemas.microsoft.com/office/drawing/2014/main" id="{C9A76E96-D529-4422-AF08-6BFBAC1DA072}"/>
              </a:ext>
            </a:extLst>
          </p:cNvPr>
          <p:cNvSpPr>
            <a:spLocks xmlns:a="http://schemas.openxmlformats.org/drawingml/2006/main" noGrp="1"/>
          </p:cNvSpPr>
          <p:nvPr/>
        </p:nvSpPr>
        <p:spPr>
          <a:xfrm xmlns:a="http://schemas.openxmlformats.org/drawingml/2006/main">
            <a:off x="5067300" y="4686300"/>
            <a:ext cx="1257300" cy="238125"/>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E1A760B-90D8-49D0-B4FB-6E7B19835D6B}"/>
              </a:ext>
            </a:extLst>
          </p:cNvPr>
          <p:cNvSpPr>
            <a:spLocks xmlns:a="http://schemas.openxmlformats.org/drawingml/2006/main" noGrp="1"/>
          </p:cNvSpPr>
          <p:nvPr/>
        </p:nvSpPr>
        <p:spPr>
          <a:xfrm xmlns:a="http://schemas.openxmlformats.org/drawingml/2006/main">
            <a:off x="5124450" y="4714875"/>
            <a:ext cx="11430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840" b="1">
                <a:solidFill>
                  <a:srgbClr val="FFFFFF"/>
                </a:solidFill>
                <a:latin typeface="Arial"/>
                <a:ea typeface="Arial"/>
                <a:cs typeface="Arial"/>
              </a:defRPr>
            </a:pPr>
            <a:r>
              <a:rPr sz="840" b="1">
                <a:solidFill>
                  <a:srgbClr val="FFFFFF"/>
                </a:solidFill>
                <a:latin typeface="Arial"/>
                <a:ea typeface="Arial"/>
                <a:cs typeface="Arial"/>
              </a:rPr>
              <a:t>4. Tính chỉ số</a:t>
            </a:r>
          </a:p>
        </p:txBody>
      </p:sp>
      <p:sp>
        <p:nvSpPr>
          <p:cNvPr id="35" name="">
            <a:extLst xmlns:a="http://schemas.openxmlformats.org/drawingml/2006/main">
              <a:ext uri="{FF2B5EF4-FFF2-40B4-BE49-F238E27FC236}">
                <a16:creationId xmlns:a16="http://schemas.microsoft.com/office/drawing/2014/main" id="{42DD10FE-C2E3-42A4-A422-AD9A25CFFC00}"/>
              </a:ext>
            </a:extLst>
          </p:cNvPr>
          <p:cNvSpPr>
            <a:spLocks xmlns:a="http://schemas.openxmlformats.org/drawingml/2006/main" noGrp="1"/>
          </p:cNvSpPr>
          <p:nvPr/>
        </p:nvSpPr>
        <p:spPr>
          <a:xfrm xmlns:a="http://schemas.openxmlformats.org/drawingml/2006/main">
            <a:off x="5153025" y="5010150"/>
            <a:ext cx="1085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ECR, NET</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WST, RISK</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per user-month</a:t>
            </a:r>
          </a:p>
        </p:txBody>
      </p:sp>
      <p:sp>
        <p:nvSpPr>
          <p:cNvPr id="36" name="">
            <a:extLst xmlns:a="http://schemas.openxmlformats.org/drawingml/2006/main">
              <a:ext uri="{FF2B5EF4-FFF2-40B4-BE49-F238E27FC236}">
                <a16:creationId xmlns:a16="http://schemas.microsoft.com/office/drawing/2014/main" id="{B6B4E127-4455-405E-9A6F-1C37A7CA3B27}"/>
              </a:ext>
            </a:extLst>
          </p:cNvPr>
          <p:cNvSpPr>
            <a:spLocks xmlns:a="http://schemas.openxmlformats.org/drawingml/2006/main" noGrp="1"/>
          </p:cNvSpPr>
          <p:nvPr/>
        </p:nvSpPr>
        <p:spPr>
          <a:xfrm xmlns:a="http://schemas.openxmlformats.org/drawingml/2006/main">
            <a:off x="6534150" y="4686300"/>
            <a:ext cx="12573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37" name="">
            <a:extLst xmlns:a="http://schemas.openxmlformats.org/drawingml/2006/main">
              <a:ext uri="{FF2B5EF4-FFF2-40B4-BE49-F238E27FC236}">
                <a16:creationId xmlns:a16="http://schemas.microsoft.com/office/drawing/2014/main" id="{15A6D80C-E3BD-4B0F-A3A7-9058577D6C0E}"/>
              </a:ext>
            </a:extLst>
          </p:cNvPr>
          <p:cNvSpPr>
            <a:spLocks xmlns:a="http://schemas.openxmlformats.org/drawingml/2006/main" noGrp="1"/>
          </p:cNvSpPr>
          <p:nvPr/>
        </p:nvSpPr>
        <p:spPr>
          <a:xfrm xmlns:a="http://schemas.openxmlformats.org/drawingml/2006/main">
            <a:off x="6534150" y="4686300"/>
            <a:ext cx="1257300" cy="238125"/>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1EB2DAC6-5B0E-467D-8636-B4B25C1C4A08}"/>
              </a:ext>
            </a:extLst>
          </p:cNvPr>
          <p:cNvSpPr>
            <a:spLocks xmlns:a="http://schemas.openxmlformats.org/drawingml/2006/main" noGrp="1"/>
          </p:cNvSpPr>
          <p:nvPr/>
        </p:nvSpPr>
        <p:spPr>
          <a:xfrm xmlns:a="http://schemas.openxmlformats.org/drawingml/2006/main">
            <a:off x="6591300" y="4714875"/>
            <a:ext cx="11430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840" b="1">
                <a:solidFill>
                  <a:srgbClr val="FFFFFF"/>
                </a:solidFill>
                <a:latin typeface="Arial"/>
                <a:ea typeface="Arial"/>
                <a:cs typeface="Arial"/>
              </a:defRPr>
            </a:pPr>
            <a:r>
              <a:rPr sz="840" b="1">
                <a:solidFill>
                  <a:srgbClr val="FFFFFF"/>
                </a:solidFill>
                <a:latin typeface="Arial"/>
                <a:ea typeface="Arial"/>
                <a:cs typeface="Arial"/>
              </a:rPr>
              <a:t>5. Feature set</a:t>
            </a:r>
          </a:p>
        </p:txBody>
      </p:sp>
      <p:sp>
        <p:nvSpPr>
          <p:cNvPr id="39" name="">
            <a:extLst xmlns:a="http://schemas.openxmlformats.org/drawingml/2006/main">
              <a:ext uri="{FF2B5EF4-FFF2-40B4-BE49-F238E27FC236}">
                <a16:creationId xmlns:a16="http://schemas.microsoft.com/office/drawing/2014/main" id="{EF167B02-6070-4465-B034-D85057143BFF}"/>
              </a:ext>
            </a:extLst>
          </p:cNvPr>
          <p:cNvSpPr>
            <a:spLocks xmlns:a="http://schemas.openxmlformats.org/drawingml/2006/main" noGrp="1"/>
          </p:cNvSpPr>
          <p:nvPr/>
        </p:nvSpPr>
        <p:spPr>
          <a:xfrm xmlns:a="http://schemas.openxmlformats.org/drawingml/2006/main">
            <a:off x="6619875" y="5010150"/>
            <a:ext cx="1085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spending mix</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frequency</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cap/budget ratio</a:t>
            </a:r>
          </a:p>
        </p:txBody>
      </p:sp>
      <p:sp>
        <p:nvSpPr>
          <p:cNvPr id="40" name="">
            <a:extLst xmlns:a="http://schemas.openxmlformats.org/drawingml/2006/main">
              <a:ext uri="{FF2B5EF4-FFF2-40B4-BE49-F238E27FC236}">
                <a16:creationId xmlns:a16="http://schemas.microsoft.com/office/drawing/2014/main" id="{58D314A9-6A5B-41FD-8BD4-3FEDBEB69326}"/>
              </a:ext>
            </a:extLst>
          </p:cNvPr>
          <p:cNvSpPr>
            <a:spLocks xmlns:a="http://schemas.openxmlformats.org/drawingml/2006/main" noGrp="1"/>
          </p:cNvSpPr>
          <p:nvPr/>
        </p:nvSpPr>
        <p:spPr>
          <a:xfrm xmlns:a="http://schemas.openxmlformats.org/drawingml/2006/main">
            <a:off x="8001000" y="4686300"/>
            <a:ext cx="12573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41" name="">
            <a:extLst xmlns:a="http://schemas.openxmlformats.org/drawingml/2006/main">
              <a:ext uri="{FF2B5EF4-FFF2-40B4-BE49-F238E27FC236}">
                <a16:creationId xmlns:a16="http://schemas.microsoft.com/office/drawing/2014/main" id="{CF205A45-A972-4BC5-A570-B81464949CFB}"/>
              </a:ext>
            </a:extLst>
          </p:cNvPr>
          <p:cNvSpPr>
            <a:spLocks xmlns:a="http://schemas.openxmlformats.org/drawingml/2006/main" noGrp="1"/>
          </p:cNvSpPr>
          <p:nvPr/>
        </p:nvSpPr>
        <p:spPr>
          <a:xfrm xmlns:a="http://schemas.openxmlformats.org/drawingml/2006/main">
            <a:off x="8001000" y="4686300"/>
            <a:ext cx="1257300" cy="238125"/>
          </a:xfrm>
          <a:prstGeom xmlns:a="http://schemas.openxmlformats.org/drawingml/2006/main" prst="rect">
            <a:avLst/>
          </a:prstGeom>
          <a:solidFill xmlns:a="http://schemas.openxmlformats.org/drawingml/2006/main">
            <a:srgbClr val="0B4B8A"/>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AC4146A3-0572-46C9-BAF6-DD217C22D931}"/>
              </a:ext>
            </a:extLst>
          </p:cNvPr>
          <p:cNvSpPr>
            <a:spLocks xmlns:a="http://schemas.openxmlformats.org/drawingml/2006/main" noGrp="1"/>
          </p:cNvSpPr>
          <p:nvPr/>
        </p:nvSpPr>
        <p:spPr>
          <a:xfrm xmlns:a="http://schemas.openxmlformats.org/drawingml/2006/main">
            <a:off x="8058150" y="4714875"/>
            <a:ext cx="11430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840" b="1">
                <a:solidFill>
                  <a:srgbClr val="FFFFFF"/>
                </a:solidFill>
                <a:latin typeface="Arial"/>
                <a:ea typeface="Arial"/>
                <a:cs typeface="Arial"/>
              </a:defRPr>
            </a:pPr>
            <a:r>
              <a:rPr sz="840" b="1">
                <a:solidFill>
                  <a:srgbClr val="FFFFFF"/>
                </a:solidFill>
                <a:latin typeface="Arial"/>
                <a:ea typeface="Arial"/>
                <a:cs typeface="Arial"/>
              </a:rPr>
              <a:t>6. K-Means</a:t>
            </a:r>
          </a:p>
        </p:txBody>
      </p:sp>
      <p:sp>
        <p:nvSpPr>
          <p:cNvPr id="43" name="">
            <a:extLst xmlns:a="http://schemas.openxmlformats.org/drawingml/2006/main">
              <a:ext uri="{FF2B5EF4-FFF2-40B4-BE49-F238E27FC236}">
                <a16:creationId xmlns:a16="http://schemas.microsoft.com/office/drawing/2014/main" id="{85F71FB8-DD8F-4F0D-861A-35B59D67C379}"/>
              </a:ext>
            </a:extLst>
          </p:cNvPr>
          <p:cNvSpPr>
            <a:spLocks xmlns:a="http://schemas.openxmlformats.org/drawingml/2006/main" noGrp="1"/>
          </p:cNvSpPr>
          <p:nvPr/>
        </p:nvSpPr>
        <p:spPr>
          <a:xfrm xmlns:a="http://schemas.openxmlformats.org/drawingml/2006/main">
            <a:off x="8086725" y="5010150"/>
            <a:ext cx="1085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scale feature</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chọn k</a:t>
            </a:r>
          </a:p>
          <a:p xmlns:a="http://schemas.openxmlformats.org/drawingml/2006/main">
            <a:pPr algn="ctr">
              <a:defRPr sz="765" b="0">
                <a:solidFill>
                  <a:srgbClr val="0F172A"/>
                </a:solidFill>
                <a:latin typeface="Arial"/>
                <a:ea typeface="Arial"/>
                <a:cs typeface="Arial"/>
              </a:defRPr>
            </a:pPr>
            <a:r>
              <a:rPr sz="765" b="0">
                <a:solidFill>
                  <a:srgbClr val="0F172A"/>
                </a:solidFill>
                <a:latin typeface="Arial"/>
                <a:ea typeface="Arial"/>
                <a:cs typeface="Arial"/>
              </a:rPr>
              <a:t>cluster users</a:t>
            </a:r>
          </a:p>
        </p:txBody>
      </p:sp>
      <p:sp>
        <p:nvSpPr>
          <p:cNvPr id="44" name="">
            <a:extLst xmlns:a="http://schemas.openxmlformats.org/drawingml/2006/main">
              <a:ext uri="{FF2B5EF4-FFF2-40B4-BE49-F238E27FC236}">
                <a16:creationId xmlns:a16="http://schemas.microsoft.com/office/drawing/2014/main" id="{D2EAB9FF-789A-478C-B0CC-0B2D159A4E45}"/>
              </a:ext>
            </a:extLst>
          </p:cNvPr>
          <p:cNvSpPr>
            <a:spLocks xmlns:a="http://schemas.openxmlformats.org/drawingml/2006/main" noGrp="1"/>
          </p:cNvSpPr>
          <p:nvPr/>
        </p:nvSpPr>
        <p:spPr>
          <a:xfrm xmlns:a="http://schemas.openxmlformats.org/drawingml/2006/main">
            <a:off x="2000250" y="5086350"/>
            <a:ext cx="-19050" cy="381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5DF0C427-40AB-419A-83C1-EC536FBAE020}"/>
              </a:ext>
            </a:extLst>
          </p:cNvPr>
          <p:cNvSpPr>
            <a:spLocks xmlns:a="http://schemas.openxmlformats.org/drawingml/2006/main" noGrp="1"/>
          </p:cNvSpPr>
          <p:nvPr/>
        </p:nvSpPr>
        <p:spPr>
          <a:xfrm xmlns:a="http://schemas.openxmlformats.org/drawingml/2006/main">
            <a:off x="1924050" y="5029200"/>
            <a:ext cx="152400" cy="152400"/>
          </a:xfrm>
          <a:prstGeom xmlns:a="http://schemas.openxmlformats.org/drawingml/2006/main" prst="triangle">
            <a:avLst/>
          </a:prstGeom>
          <a:solidFill xmlns:a="http://schemas.openxmlformats.org/drawingml/2006/main">
            <a:srgbClr val="0B8FA5"/>
          </a:solidFill>
          <a:ln xmlns:a="http://schemas.openxmlformats.org/drawingml/2006/main" w="0">
            <a:solidFill>
              <a:srgbClr val="0B8FA5"/>
            </a:solidFill>
            <a:prstDash val="solid"/>
          </a:ln>
        </p:spPr>
      </p:sp>
      <p:sp>
        <p:nvSpPr>
          <p:cNvPr id="46" name="">
            <a:extLst xmlns:a="http://schemas.openxmlformats.org/drawingml/2006/main">
              <a:ext uri="{FF2B5EF4-FFF2-40B4-BE49-F238E27FC236}">
                <a16:creationId xmlns:a16="http://schemas.microsoft.com/office/drawing/2014/main" id="{B005C877-B799-4CA2-A043-D9AF08483839}"/>
              </a:ext>
            </a:extLst>
          </p:cNvPr>
          <p:cNvSpPr>
            <a:spLocks xmlns:a="http://schemas.openxmlformats.org/drawingml/2006/main" noGrp="1"/>
          </p:cNvSpPr>
          <p:nvPr/>
        </p:nvSpPr>
        <p:spPr>
          <a:xfrm xmlns:a="http://schemas.openxmlformats.org/drawingml/2006/main">
            <a:off x="3467100" y="5086350"/>
            <a:ext cx="-19050" cy="381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8F07A334-A1BB-4347-8486-E93791AF45DD}"/>
              </a:ext>
            </a:extLst>
          </p:cNvPr>
          <p:cNvSpPr>
            <a:spLocks xmlns:a="http://schemas.openxmlformats.org/drawingml/2006/main" noGrp="1"/>
          </p:cNvSpPr>
          <p:nvPr/>
        </p:nvSpPr>
        <p:spPr>
          <a:xfrm xmlns:a="http://schemas.openxmlformats.org/drawingml/2006/main">
            <a:off x="3390900" y="5029200"/>
            <a:ext cx="152400" cy="152400"/>
          </a:xfrm>
          <a:prstGeom xmlns:a="http://schemas.openxmlformats.org/drawingml/2006/main" prst="triangle">
            <a:avLst/>
          </a:prstGeom>
          <a:solidFill xmlns:a="http://schemas.openxmlformats.org/drawingml/2006/main">
            <a:srgbClr val="0B8FA5"/>
          </a:solidFill>
          <a:ln xmlns:a="http://schemas.openxmlformats.org/drawingml/2006/main" w="0">
            <a:solidFill>
              <a:srgbClr val="0B8FA5"/>
            </a:solidFill>
            <a:prstDash val="solid"/>
          </a:ln>
        </p:spPr>
      </p:sp>
      <p:sp>
        <p:nvSpPr>
          <p:cNvPr id="48" name="">
            <a:extLst xmlns:a="http://schemas.openxmlformats.org/drawingml/2006/main">
              <a:ext uri="{FF2B5EF4-FFF2-40B4-BE49-F238E27FC236}">
                <a16:creationId xmlns:a16="http://schemas.microsoft.com/office/drawing/2014/main" id="{D7FA72B8-39C3-4146-9E37-6086DAE719BF}"/>
              </a:ext>
            </a:extLst>
          </p:cNvPr>
          <p:cNvSpPr>
            <a:spLocks xmlns:a="http://schemas.openxmlformats.org/drawingml/2006/main" noGrp="1"/>
          </p:cNvSpPr>
          <p:nvPr/>
        </p:nvSpPr>
        <p:spPr>
          <a:xfrm xmlns:a="http://schemas.openxmlformats.org/drawingml/2006/main">
            <a:off x="4933950" y="5086350"/>
            <a:ext cx="-19050" cy="381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FE647508-053C-40FA-AEC7-A0B5BB637CF5}"/>
              </a:ext>
            </a:extLst>
          </p:cNvPr>
          <p:cNvSpPr>
            <a:spLocks xmlns:a="http://schemas.openxmlformats.org/drawingml/2006/main" noGrp="1"/>
          </p:cNvSpPr>
          <p:nvPr/>
        </p:nvSpPr>
        <p:spPr>
          <a:xfrm xmlns:a="http://schemas.openxmlformats.org/drawingml/2006/main">
            <a:off x="4857750" y="5029200"/>
            <a:ext cx="152400" cy="152400"/>
          </a:xfrm>
          <a:prstGeom xmlns:a="http://schemas.openxmlformats.org/drawingml/2006/main" prst="triangle">
            <a:avLst/>
          </a:prstGeom>
          <a:solidFill xmlns:a="http://schemas.openxmlformats.org/drawingml/2006/main">
            <a:srgbClr val="0B8FA5"/>
          </a:solidFill>
          <a:ln xmlns:a="http://schemas.openxmlformats.org/drawingml/2006/main" w="0">
            <a:solidFill>
              <a:srgbClr val="0B8FA5"/>
            </a:solidFill>
            <a:prstDash val="solid"/>
          </a:ln>
        </p:spPr>
      </p:sp>
      <p:sp>
        <p:nvSpPr>
          <p:cNvPr id="50" name="">
            <a:extLst xmlns:a="http://schemas.openxmlformats.org/drawingml/2006/main">
              <a:ext uri="{FF2B5EF4-FFF2-40B4-BE49-F238E27FC236}">
                <a16:creationId xmlns:a16="http://schemas.microsoft.com/office/drawing/2014/main" id="{FC9A64ED-E492-4749-8C89-63C5E5F26B71}"/>
              </a:ext>
            </a:extLst>
          </p:cNvPr>
          <p:cNvSpPr>
            <a:spLocks xmlns:a="http://schemas.openxmlformats.org/drawingml/2006/main" noGrp="1"/>
          </p:cNvSpPr>
          <p:nvPr/>
        </p:nvSpPr>
        <p:spPr>
          <a:xfrm xmlns:a="http://schemas.openxmlformats.org/drawingml/2006/main">
            <a:off x="6400800" y="5086350"/>
            <a:ext cx="-19050" cy="381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88A3E7C2-4A4B-4048-BEDB-F6B44CDE7241}"/>
              </a:ext>
            </a:extLst>
          </p:cNvPr>
          <p:cNvSpPr>
            <a:spLocks xmlns:a="http://schemas.openxmlformats.org/drawingml/2006/main" noGrp="1"/>
          </p:cNvSpPr>
          <p:nvPr/>
        </p:nvSpPr>
        <p:spPr>
          <a:xfrm xmlns:a="http://schemas.openxmlformats.org/drawingml/2006/main">
            <a:off x="6324600" y="5029200"/>
            <a:ext cx="152400" cy="152400"/>
          </a:xfrm>
          <a:prstGeom xmlns:a="http://schemas.openxmlformats.org/drawingml/2006/main" prst="triangle">
            <a:avLst/>
          </a:prstGeom>
          <a:solidFill xmlns:a="http://schemas.openxmlformats.org/drawingml/2006/main">
            <a:srgbClr val="0B8FA5"/>
          </a:solidFill>
          <a:ln xmlns:a="http://schemas.openxmlformats.org/drawingml/2006/main" w="0">
            <a:solidFill>
              <a:srgbClr val="0B8FA5"/>
            </a:solidFill>
            <a:prstDash val="solid"/>
          </a:ln>
        </p:spPr>
      </p:sp>
      <p:sp>
        <p:nvSpPr>
          <p:cNvPr id="52" name="">
            <a:extLst xmlns:a="http://schemas.openxmlformats.org/drawingml/2006/main">
              <a:ext uri="{FF2B5EF4-FFF2-40B4-BE49-F238E27FC236}">
                <a16:creationId xmlns:a16="http://schemas.microsoft.com/office/drawing/2014/main" id="{67D096B8-83B9-409B-8804-08E0B039E6EE}"/>
              </a:ext>
            </a:extLst>
          </p:cNvPr>
          <p:cNvSpPr>
            <a:spLocks xmlns:a="http://schemas.openxmlformats.org/drawingml/2006/main" noGrp="1"/>
          </p:cNvSpPr>
          <p:nvPr/>
        </p:nvSpPr>
        <p:spPr>
          <a:xfrm xmlns:a="http://schemas.openxmlformats.org/drawingml/2006/main">
            <a:off x="7867650" y="5086350"/>
            <a:ext cx="-19050" cy="381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701A4416-9DA0-4FA8-9140-E416FDEC4E0A}"/>
              </a:ext>
            </a:extLst>
          </p:cNvPr>
          <p:cNvSpPr>
            <a:spLocks xmlns:a="http://schemas.openxmlformats.org/drawingml/2006/main" noGrp="1"/>
          </p:cNvSpPr>
          <p:nvPr/>
        </p:nvSpPr>
        <p:spPr>
          <a:xfrm xmlns:a="http://schemas.openxmlformats.org/drawingml/2006/main">
            <a:off x="7791450" y="5029200"/>
            <a:ext cx="152400" cy="152400"/>
          </a:xfrm>
          <a:prstGeom xmlns:a="http://schemas.openxmlformats.org/drawingml/2006/main" prst="triangle">
            <a:avLst/>
          </a:prstGeom>
          <a:solidFill xmlns:a="http://schemas.openxmlformats.org/drawingml/2006/main">
            <a:srgbClr val="0B8FA5"/>
          </a:solidFill>
          <a:ln xmlns:a="http://schemas.openxmlformats.org/drawingml/2006/main" w="0">
            <a:solidFill>
              <a:srgbClr val="0B8FA5"/>
            </a:solidFill>
            <a:prstDash val="solid"/>
          </a:ln>
        </p:spPr>
      </p:sp>
      <p:sp>
        <p:nvSpPr>
          <p:cNvPr id="54" name="">
            <a:extLst xmlns:a="http://schemas.openxmlformats.org/drawingml/2006/main">
              <a:ext uri="{FF2B5EF4-FFF2-40B4-BE49-F238E27FC236}">
                <a16:creationId xmlns:a16="http://schemas.microsoft.com/office/drawing/2014/main" id="{84C7E753-05D6-4B6C-B300-D9617FEA7E0A}"/>
              </a:ext>
            </a:extLst>
          </p:cNvPr>
          <p:cNvSpPr>
            <a:spLocks xmlns:a="http://schemas.openxmlformats.org/drawingml/2006/main" noGrp="1"/>
          </p:cNvSpPr>
          <p:nvPr/>
        </p:nvSpPr>
        <p:spPr>
          <a:xfrm xmlns:a="http://schemas.openxmlformats.org/drawingml/2006/main">
            <a:off x="647700" y="5867400"/>
            <a:ext cx="9391650" cy="381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CEABA9EC-8912-4353-B0D3-1A8DEB2F2948}"/>
              </a:ext>
            </a:extLst>
          </p:cNvPr>
          <p:cNvSpPr>
            <a:spLocks xmlns:a="http://schemas.openxmlformats.org/drawingml/2006/main" noGrp="1"/>
          </p:cNvSpPr>
          <p:nvPr/>
        </p:nvSpPr>
        <p:spPr>
          <a:xfrm xmlns:a="http://schemas.openxmlformats.org/drawingml/2006/main">
            <a:off x="647700" y="5962650"/>
            <a:ext cx="9391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1463" b="1">
                <a:solidFill>
                  <a:srgbClr val="0B8FA5"/>
                </a:solidFill>
                <a:latin typeface="Arial"/>
                <a:ea typeface="Arial"/>
                <a:cs typeface="Arial"/>
              </a:defRPr>
            </a:pPr>
            <a:r>
              <a:rPr sz="1463" b="1">
                <a:solidFill>
                  <a:srgbClr val="0B8FA5"/>
                </a:solidFill>
                <a:latin typeface="Arial"/>
                <a:ea typeface="Arial"/>
                <a:cs typeface="Arial"/>
              </a:rPr>
              <a:t>K-Means sẽ được dùng như thế nào?</a:t>
            </a:r>
          </a:p>
        </p:txBody>
      </p:sp>
      <p:sp>
        <p:nvSpPr>
          <p:cNvPr id="56" name="">
            <a:extLst xmlns:a="http://schemas.openxmlformats.org/drawingml/2006/main">
              <a:ext uri="{FF2B5EF4-FFF2-40B4-BE49-F238E27FC236}">
                <a16:creationId xmlns:a16="http://schemas.microsoft.com/office/drawing/2014/main" id="{BCB16009-1ADE-407C-888B-8B709273D894}"/>
              </a:ext>
            </a:extLst>
          </p:cNvPr>
          <p:cNvSpPr>
            <a:spLocks xmlns:a="http://schemas.openxmlformats.org/drawingml/2006/main" noGrp="1"/>
          </p:cNvSpPr>
          <p:nvPr/>
        </p:nvSpPr>
        <p:spPr>
          <a:xfrm xmlns:a="http://schemas.openxmlformats.org/drawingml/2006/main">
            <a:off x="666750" y="6419850"/>
            <a:ext cx="16764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57" name="">
            <a:extLst xmlns:a="http://schemas.openxmlformats.org/drawingml/2006/main">
              <a:ext uri="{FF2B5EF4-FFF2-40B4-BE49-F238E27FC236}">
                <a16:creationId xmlns:a16="http://schemas.microsoft.com/office/drawing/2014/main" id="{9505848C-5C43-45D4-87C9-B29AD8C5CAAC}"/>
              </a:ext>
            </a:extLst>
          </p:cNvPr>
          <p:cNvSpPr>
            <a:spLocks xmlns:a="http://schemas.openxmlformats.org/drawingml/2006/main" noGrp="1"/>
          </p:cNvSpPr>
          <p:nvPr/>
        </p:nvSpPr>
        <p:spPr>
          <a:xfrm xmlns:a="http://schemas.openxmlformats.org/drawingml/2006/main">
            <a:off x="666750" y="6419850"/>
            <a:ext cx="285750" cy="762000"/>
          </a:xfrm>
          <a:prstGeom xmlns:a="http://schemas.openxmlformats.org/drawingml/2006/main" prst="rect">
            <a:avLst/>
          </a:prstGeom>
          <a:solidFill xmlns:a="http://schemas.openxmlformats.org/drawingml/2006/main">
            <a:srgbClr val="0B4B8A"/>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0A51129A-E6B9-4EB3-9081-EBD6F510A5EF}"/>
              </a:ext>
            </a:extLst>
          </p:cNvPr>
          <p:cNvSpPr>
            <a:spLocks xmlns:a="http://schemas.openxmlformats.org/drawingml/2006/main" noGrp="1"/>
          </p:cNvSpPr>
          <p:nvPr/>
        </p:nvSpPr>
        <p:spPr>
          <a:xfrm xmlns:a="http://schemas.openxmlformats.org/drawingml/2006/main">
            <a:off x="685800" y="6657975"/>
            <a:ext cx="247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1</a:t>
            </a:r>
          </a:p>
        </p:txBody>
      </p:sp>
      <p:sp>
        <p:nvSpPr>
          <p:cNvPr id="59" name="">
            <a:extLst xmlns:a="http://schemas.openxmlformats.org/drawingml/2006/main">
              <a:ext uri="{FF2B5EF4-FFF2-40B4-BE49-F238E27FC236}">
                <a16:creationId xmlns:a16="http://schemas.microsoft.com/office/drawing/2014/main" id="{0860C4E4-582F-45B5-9579-7338825D1171}"/>
              </a:ext>
            </a:extLst>
          </p:cNvPr>
          <p:cNvSpPr>
            <a:spLocks xmlns:a="http://schemas.openxmlformats.org/drawingml/2006/main" noGrp="1"/>
          </p:cNvSpPr>
          <p:nvPr/>
        </p:nvSpPr>
        <p:spPr>
          <a:xfrm xmlns:a="http://schemas.openxmlformats.org/drawingml/2006/main">
            <a:off x="1047750" y="64960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885" b="1">
                <a:solidFill>
                  <a:srgbClr val="0B4B8A"/>
                </a:solidFill>
                <a:latin typeface="Arial"/>
                <a:ea typeface="Arial"/>
                <a:cs typeface="Arial"/>
              </a:defRPr>
            </a:pPr>
            <a:r>
              <a:rPr sz="885" b="1">
                <a:solidFill>
                  <a:srgbClr val="0B4B8A"/>
                </a:solidFill>
                <a:latin typeface="Arial"/>
                <a:ea typeface="Arial"/>
                <a:cs typeface="Arial"/>
              </a:rPr>
              <a:t>Chọn feature</a:t>
            </a:r>
          </a:p>
        </p:txBody>
      </p:sp>
      <p:sp>
        <p:nvSpPr>
          <p:cNvPr id="60" name="">
            <a:extLst xmlns:a="http://schemas.openxmlformats.org/drawingml/2006/main">
              <a:ext uri="{FF2B5EF4-FFF2-40B4-BE49-F238E27FC236}">
                <a16:creationId xmlns:a16="http://schemas.microsoft.com/office/drawing/2014/main" id="{88CFE7E7-7357-4194-B3FE-D5E8497708E0}"/>
              </a:ext>
            </a:extLst>
          </p:cNvPr>
          <p:cNvSpPr>
            <a:spLocks xmlns:a="http://schemas.openxmlformats.org/drawingml/2006/main" noGrp="1"/>
          </p:cNvSpPr>
          <p:nvPr/>
        </p:nvSpPr>
        <p:spPr>
          <a:xfrm xmlns:a="http://schemas.openxmlformats.org/drawingml/2006/main">
            <a:off x="1047750" y="6715125"/>
            <a:ext cx="1200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spending, frequency,</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category ratio,</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ECR, NET, WST, RISK</a:t>
            </a:r>
          </a:p>
        </p:txBody>
      </p:sp>
      <p:sp>
        <p:nvSpPr>
          <p:cNvPr id="61" name="">
            <a:extLst xmlns:a="http://schemas.openxmlformats.org/drawingml/2006/main">
              <a:ext uri="{FF2B5EF4-FFF2-40B4-BE49-F238E27FC236}">
                <a16:creationId xmlns:a16="http://schemas.microsoft.com/office/drawing/2014/main" id="{8EF1B6F6-DD6A-47BE-9C3A-C3524F8A25D8}"/>
              </a:ext>
            </a:extLst>
          </p:cNvPr>
          <p:cNvSpPr>
            <a:spLocks xmlns:a="http://schemas.openxmlformats.org/drawingml/2006/main" noGrp="1"/>
          </p:cNvSpPr>
          <p:nvPr/>
        </p:nvSpPr>
        <p:spPr>
          <a:xfrm xmlns:a="http://schemas.openxmlformats.org/drawingml/2006/main">
            <a:off x="2495550" y="6419850"/>
            <a:ext cx="16764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62" name="">
            <a:extLst xmlns:a="http://schemas.openxmlformats.org/drawingml/2006/main">
              <a:ext uri="{FF2B5EF4-FFF2-40B4-BE49-F238E27FC236}">
                <a16:creationId xmlns:a16="http://schemas.microsoft.com/office/drawing/2014/main" id="{5B922E9E-208E-49EA-A7AB-1EC66D5150B0}"/>
              </a:ext>
            </a:extLst>
          </p:cNvPr>
          <p:cNvSpPr>
            <a:spLocks xmlns:a="http://schemas.openxmlformats.org/drawingml/2006/main" noGrp="1"/>
          </p:cNvSpPr>
          <p:nvPr/>
        </p:nvSpPr>
        <p:spPr>
          <a:xfrm xmlns:a="http://schemas.openxmlformats.org/drawingml/2006/main">
            <a:off x="2495550" y="6419850"/>
            <a:ext cx="285750" cy="7620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7FF98A10-B900-44DF-8C00-C5A72CD1CB13}"/>
              </a:ext>
            </a:extLst>
          </p:cNvPr>
          <p:cNvSpPr>
            <a:spLocks xmlns:a="http://schemas.openxmlformats.org/drawingml/2006/main" noGrp="1"/>
          </p:cNvSpPr>
          <p:nvPr/>
        </p:nvSpPr>
        <p:spPr>
          <a:xfrm xmlns:a="http://schemas.openxmlformats.org/drawingml/2006/main">
            <a:off x="2514600" y="6657975"/>
            <a:ext cx="247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2</a:t>
            </a:r>
          </a:p>
        </p:txBody>
      </p:sp>
      <p:sp>
        <p:nvSpPr>
          <p:cNvPr id="64" name="">
            <a:extLst xmlns:a="http://schemas.openxmlformats.org/drawingml/2006/main">
              <a:ext uri="{FF2B5EF4-FFF2-40B4-BE49-F238E27FC236}">
                <a16:creationId xmlns:a16="http://schemas.microsoft.com/office/drawing/2014/main" id="{4646DF28-C0B4-4749-8DF1-E7336852E7CA}"/>
              </a:ext>
            </a:extLst>
          </p:cNvPr>
          <p:cNvSpPr>
            <a:spLocks xmlns:a="http://schemas.openxmlformats.org/drawingml/2006/main" noGrp="1"/>
          </p:cNvSpPr>
          <p:nvPr/>
        </p:nvSpPr>
        <p:spPr>
          <a:xfrm xmlns:a="http://schemas.openxmlformats.org/drawingml/2006/main">
            <a:off x="2876550" y="64960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885" b="1">
                <a:solidFill>
                  <a:srgbClr val="0B8FA5"/>
                </a:solidFill>
                <a:latin typeface="Arial"/>
                <a:ea typeface="Arial"/>
                <a:cs typeface="Arial"/>
              </a:defRPr>
            </a:pPr>
            <a:r>
              <a:rPr sz="885" b="1">
                <a:solidFill>
                  <a:srgbClr val="0B8FA5"/>
                </a:solidFill>
                <a:latin typeface="Arial"/>
                <a:ea typeface="Arial"/>
                <a:cs typeface="Arial"/>
              </a:rPr>
              <a:t>Chuẩn hóa</a:t>
            </a:r>
          </a:p>
        </p:txBody>
      </p:sp>
      <p:sp>
        <p:nvSpPr>
          <p:cNvPr id="65" name="">
            <a:extLst xmlns:a="http://schemas.openxmlformats.org/drawingml/2006/main">
              <a:ext uri="{FF2B5EF4-FFF2-40B4-BE49-F238E27FC236}">
                <a16:creationId xmlns:a16="http://schemas.microsoft.com/office/drawing/2014/main" id="{A0202D87-159E-4B14-BF94-9D4A059C549E}"/>
              </a:ext>
            </a:extLst>
          </p:cNvPr>
          <p:cNvSpPr>
            <a:spLocks xmlns:a="http://schemas.openxmlformats.org/drawingml/2006/main" noGrp="1"/>
          </p:cNvSpPr>
          <p:nvPr/>
        </p:nvSpPr>
        <p:spPr>
          <a:xfrm xmlns:a="http://schemas.openxmlformats.org/drawingml/2006/main">
            <a:off x="2876550" y="6715125"/>
            <a:ext cx="1200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scale các biến để</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không bị lệch bởi</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amount lớn</a:t>
            </a:r>
          </a:p>
        </p:txBody>
      </p:sp>
      <p:sp>
        <p:nvSpPr>
          <p:cNvPr id="66" name="">
            <a:extLst xmlns:a="http://schemas.openxmlformats.org/drawingml/2006/main">
              <a:ext uri="{FF2B5EF4-FFF2-40B4-BE49-F238E27FC236}">
                <a16:creationId xmlns:a16="http://schemas.microsoft.com/office/drawing/2014/main" id="{1C58AED7-1092-40FA-8894-BFA4F166D19B}"/>
              </a:ext>
            </a:extLst>
          </p:cNvPr>
          <p:cNvSpPr>
            <a:spLocks xmlns:a="http://schemas.openxmlformats.org/drawingml/2006/main" noGrp="1"/>
          </p:cNvSpPr>
          <p:nvPr/>
        </p:nvSpPr>
        <p:spPr>
          <a:xfrm xmlns:a="http://schemas.openxmlformats.org/drawingml/2006/main">
            <a:off x="4324350" y="6419850"/>
            <a:ext cx="16764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67" name="">
            <a:extLst xmlns:a="http://schemas.openxmlformats.org/drawingml/2006/main">
              <a:ext uri="{FF2B5EF4-FFF2-40B4-BE49-F238E27FC236}">
                <a16:creationId xmlns:a16="http://schemas.microsoft.com/office/drawing/2014/main" id="{821B219C-E83E-42C1-AB8C-0DF45BA0576A}"/>
              </a:ext>
            </a:extLst>
          </p:cNvPr>
          <p:cNvSpPr>
            <a:spLocks xmlns:a="http://schemas.openxmlformats.org/drawingml/2006/main" noGrp="1"/>
          </p:cNvSpPr>
          <p:nvPr/>
        </p:nvSpPr>
        <p:spPr>
          <a:xfrm xmlns:a="http://schemas.openxmlformats.org/drawingml/2006/main">
            <a:off x="4324350" y="6419850"/>
            <a:ext cx="285750" cy="762000"/>
          </a:xfrm>
          <a:prstGeom xmlns:a="http://schemas.openxmlformats.org/drawingml/2006/main" prst="rect">
            <a:avLst/>
          </a:prstGeom>
          <a:solidFill xmlns:a="http://schemas.openxmlformats.org/drawingml/2006/main">
            <a:srgbClr val="F2A51A"/>
          </a:solidFill>
          <a:ln xmlns:a="http://schemas.openxmlformats.org/drawingml/2006/main" w="0">
            <a:solidFill>
              <a:srgbClr val="000000">
                <a:alpha val="0"/>
              </a:srgbClr>
            </a:solidFill>
            <a:prstDash val="solid"/>
          </a:ln>
        </p:spPr>
      </p:sp>
      <p:sp>
        <p:nvSpPr>
          <p:cNvPr id="68" name="">
            <a:extLst xmlns:a="http://schemas.openxmlformats.org/drawingml/2006/main">
              <a:ext uri="{FF2B5EF4-FFF2-40B4-BE49-F238E27FC236}">
                <a16:creationId xmlns:a16="http://schemas.microsoft.com/office/drawing/2014/main" id="{86C126E7-3819-4E1F-A638-55721B80E55C}"/>
              </a:ext>
            </a:extLst>
          </p:cNvPr>
          <p:cNvSpPr>
            <a:spLocks xmlns:a="http://schemas.openxmlformats.org/drawingml/2006/main" noGrp="1"/>
          </p:cNvSpPr>
          <p:nvPr/>
        </p:nvSpPr>
        <p:spPr>
          <a:xfrm xmlns:a="http://schemas.openxmlformats.org/drawingml/2006/main">
            <a:off x="4343400" y="6657975"/>
            <a:ext cx="247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3</a:t>
            </a:r>
          </a:p>
        </p:txBody>
      </p:sp>
      <p:sp>
        <p:nvSpPr>
          <p:cNvPr id="69" name="">
            <a:extLst xmlns:a="http://schemas.openxmlformats.org/drawingml/2006/main">
              <a:ext uri="{FF2B5EF4-FFF2-40B4-BE49-F238E27FC236}">
                <a16:creationId xmlns:a16="http://schemas.microsoft.com/office/drawing/2014/main" id="{A0F016D1-6BE3-4E88-B838-F6A4A7D17AF5}"/>
              </a:ext>
            </a:extLst>
          </p:cNvPr>
          <p:cNvSpPr>
            <a:spLocks xmlns:a="http://schemas.openxmlformats.org/drawingml/2006/main" noGrp="1"/>
          </p:cNvSpPr>
          <p:nvPr/>
        </p:nvSpPr>
        <p:spPr>
          <a:xfrm xmlns:a="http://schemas.openxmlformats.org/drawingml/2006/main">
            <a:off x="4705350" y="64960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885" b="1">
                <a:solidFill>
                  <a:srgbClr val="F2A51A"/>
                </a:solidFill>
                <a:latin typeface="Arial"/>
                <a:ea typeface="Arial"/>
                <a:cs typeface="Arial"/>
              </a:defRPr>
            </a:pPr>
            <a:r>
              <a:rPr sz="885" b="1">
                <a:solidFill>
                  <a:srgbClr val="F2A51A"/>
                </a:solidFill>
                <a:latin typeface="Arial"/>
                <a:ea typeface="Arial"/>
                <a:cs typeface="Arial"/>
              </a:rPr>
              <a:t>Chọn k</a:t>
            </a:r>
          </a:p>
        </p:txBody>
      </p:sp>
      <p:sp>
        <p:nvSpPr>
          <p:cNvPr id="70" name="">
            <a:extLst xmlns:a="http://schemas.openxmlformats.org/drawingml/2006/main">
              <a:ext uri="{FF2B5EF4-FFF2-40B4-BE49-F238E27FC236}">
                <a16:creationId xmlns:a16="http://schemas.microsoft.com/office/drawing/2014/main" id="{F294FA14-80A8-489B-86BF-ADD28F554C09}"/>
              </a:ext>
            </a:extLst>
          </p:cNvPr>
          <p:cNvSpPr>
            <a:spLocks xmlns:a="http://schemas.openxmlformats.org/drawingml/2006/main" noGrp="1"/>
          </p:cNvSpPr>
          <p:nvPr/>
        </p:nvSpPr>
        <p:spPr>
          <a:xfrm xmlns:a="http://schemas.openxmlformats.org/drawingml/2006/main">
            <a:off x="4705350" y="6715125"/>
            <a:ext cx="1200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dùng Elbow/Silhouette</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để chọn số cụm</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phù hợp</a:t>
            </a:r>
          </a:p>
        </p:txBody>
      </p:sp>
      <p:sp>
        <p:nvSpPr>
          <p:cNvPr id="71" name="">
            <a:extLst xmlns:a="http://schemas.openxmlformats.org/drawingml/2006/main">
              <a:ext uri="{FF2B5EF4-FFF2-40B4-BE49-F238E27FC236}">
                <a16:creationId xmlns:a16="http://schemas.microsoft.com/office/drawing/2014/main" id="{8F556452-8A2B-4883-81C8-1B610CB142CE}"/>
              </a:ext>
            </a:extLst>
          </p:cNvPr>
          <p:cNvSpPr>
            <a:spLocks xmlns:a="http://schemas.openxmlformats.org/drawingml/2006/main" noGrp="1"/>
          </p:cNvSpPr>
          <p:nvPr/>
        </p:nvSpPr>
        <p:spPr>
          <a:xfrm xmlns:a="http://schemas.openxmlformats.org/drawingml/2006/main">
            <a:off x="6153150" y="6419850"/>
            <a:ext cx="16764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72" name="">
            <a:extLst xmlns:a="http://schemas.openxmlformats.org/drawingml/2006/main">
              <a:ext uri="{FF2B5EF4-FFF2-40B4-BE49-F238E27FC236}">
                <a16:creationId xmlns:a16="http://schemas.microsoft.com/office/drawing/2014/main" id="{B79B7945-6F9A-4BF5-84DA-00606E75249A}"/>
              </a:ext>
            </a:extLst>
          </p:cNvPr>
          <p:cNvSpPr>
            <a:spLocks xmlns:a="http://schemas.openxmlformats.org/drawingml/2006/main" noGrp="1"/>
          </p:cNvSpPr>
          <p:nvPr/>
        </p:nvSpPr>
        <p:spPr>
          <a:xfrm xmlns:a="http://schemas.openxmlformats.org/drawingml/2006/main">
            <a:off x="6153150" y="6419850"/>
            <a:ext cx="285750" cy="7620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F2DED9F6-5814-4FD8-8E23-7C45E0FA5CE0}"/>
              </a:ext>
            </a:extLst>
          </p:cNvPr>
          <p:cNvSpPr>
            <a:spLocks xmlns:a="http://schemas.openxmlformats.org/drawingml/2006/main" noGrp="1"/>
          </p:cNvSpPr>
          <p:nvPr/>
        </p:nvSpPr>
        <p:spPr>
          <a:xfrm xmlns:a="http://schemas.openxmlformats.org/drawingml/2006/main">
            <a:off x="6172200" y="6657975"/>
            <a:ext cx="247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4</a:t>
            </a:r>
          </a:p>
        </p:txBody>
      </p:sp>
      <p:sp>
        <p:nvSpPr>
          <p:cNvPr id="74" name="">
            <a:extLst xmlns:a="http://schemas.openxmlformats.org/drawingml/2006/main">
              <a:ext uri="{FF2B5EF4-FFF2-40B4-BE49-F238E27FC236}">
                <a16:creationId xmlns:a16="http://schemas.microsoft.com/office/drawing/2014/main" id="{D896FF36-D914-4FEA-94D0-ADF0B462FF51}"/>
              </a:ext>
            </a:extLst>
          </p:cNvPr>
          <p:cNvSpPr>
            <a:spLocks xmlns:a="http://schemas.openxmlformats.org/drawingml/2006/main" noGrp="1"/>
          </p:cNvSpPr>
          <p:nvPr/>
        </p:nvSpPr>
        <p:spPr>
          <a:xfrm xmlns:a="http://schemas.openxmlformats.org/drawingml/2006/main">
            <a:off x="6534150" y="64960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885" b="1">
                <a:solidFill>
                  <a:srgbClr val="0B8FA5"/>
                </a:solidFill>
                <a:latin typeface="Arial"/>
                <a:ea typeface="Arial"/>
                <a:cs typeface="Arial"/>
              </a:defRPr>
            </a:pPr>
            <a:r>
              <a:rPr sz="885" b="1">
                <a:solidFill>
                  <a:srgbClr val="0B8FA5"/>
                </a:solidFill>
                <a:latin typeface="Arial"/>
                <a:ea typeface="Arial"/>
                <a:cs typeface="Arial"/>
              </a:rPr>
              <a:t>Phân cụm</a:t>
            </a:r>
          </a:p>
        </p:txBody>
      </p:sp>
      <p:sp>
        <p:nvSpPr>
          <p:cNvPr id="75" name="">
            <a:extLst xmlns:a="http://schemas.openxmlformats.org/drawingml/2006/main">
              <a:ext uri="{FF2B5EF4-FFF2-40B4-BE49-F238E27FC236}">
                <a16:creationId xmlns:a16="http://schemas.microsoft.com/office/drawing/2014/main" id="{17E061CD-2A49-4A4D-A2F2-7DDF98D8BB47}"/>
              </a:ext>
            </a:extLst>
          </p:cNvPr>
          <p:cNvSpPr>
            <a:spLocks xmlns:a="http://schemas.openxmlformats.org/drawingml/2006/main" noGrp="1"/>
          </p:cNvSpPr>
          <p:nvPr/>
        </p:nvSpPr>
        <p:spPr>
          <a:xfrm xmlns:a="http://schemas.openxmlformats.org/drawingml/2006/main">
            <a:off x="6534150" y="6715125"/>
            <a:ext cx="1200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chạy K-Means,</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gán mỗi user-month</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vào một cụm</a:t>
            </a:r>
          </a:p>
        </p:txBody>
      </p:sp>
      <p:sp>
        <p:nvSpPr>
          <p:cNvPr id="76" name="">
            <a:extLst xmlns:a="http://schemas.openxmlformats.org/drawingml/2006/main">
              <a:ext uri="{FF2B5EF4-FFF2-40B4-BE49-F238E27FC236}">
                <a16:creationId xmlns:a16="http://schemas.microsoft.com/office/drawing/2014/main" id="{A66B3A9F-2692-42EA-A0D7-4414B79C4D31}"/>
              </a:ext>
            </a:extLst>
          </p:cNvPr>
          <p:cNvSpPr>
            <a:spLocks xmlns:a="http://schemas.openxmlformats.org/drawingml/2006/main" noGrp="1"/>
          </p:cNvSpPr>
          <p:nvPr/>
        </p:nvSpPr>
        <p:spPr>
          <a:xfrm xmlns:a="http://schemas.openxmlformats.org/drawingml/2006/main">
            <a:off x="7981950" y="6419850"/>
            <a:ext cx="16764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77" name="">
            <a:extLst xmlns:a="http://schemas.openxmlformats.org/drawingml/2006/main">
              <a:ext uri="{FF2B5EF4-FFF2-40B4-BE49-F238E27FC236}">
                <a16:creationId xmlns:a16="http://schemas.microsoft.com/office/drawing/2014/main" id="{D59653CC-CBA1-450E-BD7A-BC1E505CB73F}"/>
              </a:ext>
            </a:extLst>
          </p:cNvPr>
          <p:cNvSpPr>
            <a:spLocks xmlns:a="http://schemas.openxmlformats.org/drawingml/2006/main" noGrp="1"/>
          </p:cNvSpPr>
          <p:nvPr/>
        </p:nvSpPr>
        <p:spPr>
          <a:xfrm xmlns:a="http://schemas.openxmlformats.org/drawingml/2006/main">
            <a:off x="7981950" y="6419850"/>
            <a:ext cx="285750" cy="762000"/>
          </a:xfrm>
          <a:prstGeom xmlns:a="http://schemas.openxmlformats.org/drawingml/2006/main" prst="rect">
            <a:avLst/>
          </a:prstGeom>
          <a:solidFill xmlns:a="http://schemas.openxmlformats.org/drawingml/2006/main">
            <a:srgbClr val="2E9D65"/>
          </a:solidFill>
          <a:ln xmlns:a="http://schemas.openxmlformats.org/drawingml/2006/main" w="0">
            <a:solidFill>
              <a:srgbClr val="000000">
                <a:alpha val="0"/>
              </a:srgbClr>
            </a:solidFill>
            <a:prstDash val="solid"/>
          </a:ln>
        </p:spPr>
      </p:sp>
      <p:sp>
        <p:nvSpPr>
          <p:cNvPr id="78" name="">
            <a:extLst xmlns:a="http://schemas.openxmlformats.org/drawingml/2006/main">
              <a:ext uri="{FF2B5EF4-FFF2-40B4-BE49-F238E27FC236}">
                <a16:creationId xmlns:a16="http://schemas.microsoft.com/office/drawing/2014/main" id="{46009B5E-9FF5-4B03-862D-222678C20F14}"/>
              </a:ext>
            </a:extLst>
          </p:cNvPr>
          <p:cNvSpPr>
            <a:spLocks xmlns:a="http://schemas.openxmlformats.org/drawingml/2006/main" noGrp="1"/>
          </p:cNvSpPr>
          <p:nvPr/>
        </p:nvSpPr>
        <p:spPr>
          <a:xfrm xmlns:a="http://schemas.openxmlformats.org/drawingml/2006/main">
            <a:off x="8001000" y="6657975"/>
            <a:ext cx="247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5</a:t>
            </a:r>
          </a:p>
        </p:txBody>
      </p:sp>
      <p:sp>
        <p:nvSpPr>
          <p:cNvPr id="79" name="">
            <a:extLst xmlns:a="http://schemas.openxmlformats.org/drawingml/2006/main">
              <a:ext uri="{FF2B5EF4-FFF2-40B4-BE49-F238E27FC236}">
                <a16:creationId xmlns:a16="http://schemas.microsoft.com/office/drawing/2014/main" id="{CA78B37D-3DE9-4580-BC25-687D90D4662B}"/>
              </a:ext>
            </a:extLst>
          </p:cNvPr>
          <p:cNvSpPr>
            <a:spLocks xmlns:a="http://schemas.openxmlformats.org/drawingml/2006/main" noGrp="1"/>
          </p:cNvSpPr>
          <p:nvPr/>
        </p:nvSpPr>
        <p:spPr>
          <a:xfrm xmlns:a="http://schemas.openxmlformats.org/drawingml/2006/main">
            <a:off x="8362950" y="64960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885" b="1">
                <a:solidFill>
                  <a:srgbClr val="2E9D65"/>
                </a:solidFill>
                <a:latin typeface="Arial"/>
                <a:ea typeface="Arial"/>
                <a:cs typeface="Arial"/>
              </a:defRPr>
            </a:pPr>
            <a:r>
              <a:rPr sz="885" b="1">
                <a:solidFill>
                  <a:srgbClr val="2E9D65"/>
                </a:solidFill>
                <a:latin typeface="Arial"/>
                <a:ea typeface="Arial"/>
                <a:cs typeface="Arial"/>
              </a:rPr>
              <a:t>Diễn giải</a:t>
            </a:r>
          </a:p>
        </p:txBody>
      </p:sp>
      <p:sp>
        <p:nvSpPr>
          <p:cNvPr id="80" name="">
            <a:extLst xmlns:a="http://schemas.openxmlformats.org/drawingml/2006/main">
              <a:ext uri="{FF2B5EF4-FFF2-40B4-BE49-F238E27FC236}">
                <a16:creationId xmlns:a16="http://schemas.microsoft.com/office/drawing/2014/main" id="{81B24A67-05F5-482E-9A64-4C8111EE9EB5}"/>
              </a:ext>
            </a:extLst>
          </p:cNvPr>
          <p:cNvSpPr>
            <a:spLocks xmlns:a="http://schemas.openxmlformats.org/drawingml/2006/main" noGrp="1"/>
          </p:cNvSpPr>
          <p:nvPr/>
        </p:nvSpPr>
        <p:spPr>
          <a:xfrm xmlns:a="http://schemas.openxmlformats.org/drawingml/2006/main">
            <a:off x="8362950" y="6715125"/>
            <a:ext cx="1200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đặt tên segment</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theo pattern của</a:t>
            </a:r>
          </a:p>
          <a:p xmlns:a="http://schemas.openxmlformats.org/drawingml/2006/main">
            <a:pPr algn="l">
              <a:defRPr sz="720" b="0">
                <a:solidFill>
                  <a:srgbClr val="0F172A"/>
                </a:solidFill>
                <a:latin typeface="Arial"/>
                <a:ea typeface="Arial"/>
                <a:cs typeface="Arial"/>
              </a:defRPr>
            </a:pPr>
            <a:r>
              <a:rPr sz="720" b="0">
                <a:solidFill>
                  <a:srgbClr val="0F172A"/>
                </a:solidFill>
                <a:latin typeface="Arial"/>
                <a:ea typeface="Arial"/>
                <a:cs typeface="Arial"/>
              </a:rPr>
              <a:t>chỉ số và hành vi</a:t>
            </a:r>
          </a:p>
        </p:txBody>
      </p:sp>
      <p:sp>
        <p:nvSpPr>
          <p:cNvPr id="81" name="">
            <a:extLst xmlns:a="http://schemas.openxmlformats.org/drawingml/2006/main">
              <a:ext uri="{FF2B5EF4-FFF2-40B4-BE49-F238E27FC236}">
                <a16:creationId xmlns:a16="http://schemas.microsoft.com/office/drawing/2014/main" id="{3072860F-BC5B-4ECD-A408-C83866504AA8}"/>
              </a:ext>
            </a:extLst>
          </p:cNvPr>
          <p:cNvSpPr>
            <a:spLocks xmlns:a="http://schemas.openxmlformats.org/drawingml/2006/main" noGrp="1"/>
          </p:cNvSpPr>
          <p:nvPr/>
        </p:nvSpPr>
        <p:spPr>
          <a:xfrm xmlns:a="http://schemas.openxmlformats.org/drawingml/2006/main">
            <a:off x="2381250" y="6734175"/>
            <a:ext cx="-19050" cy="38100"/>
          </a:xfrm>
          <a:prstGeom xmlns:a="http://schemas.openxmlformats.org/drawingml/2006/main" prst="rect">
            <a:avLst/>
          </a:prstGeom>
          <a:solidFill xmlns:a="http://schemas.openxmlformats.org/drawingml/2006/main">
            <a:srgbClr val="526173"/>
          </a:solidFill>
          <a:ln xmlns:a="http://schemas.openxmlformats.org/drawingml/2006/main" w="0">
            <a:solidFill>
              <a:srgbClr val="000000">
                <a:alpha val="0"/>
              </a:srgbClr>
            </a:solidFill>
            <a:prstDash val="solid"/>
          </a:ln>
        </p:spPr>
      </p:sp>
      <p:sp>
        <p:nvSpPr>
          <p:cNvPr id="82" name="">
            <a:extLst xmlns:a="http://schemas.openxmlformats.org/drawingml/2006/main">
              <a:ext uri="{FF2B5EF4-FFF2-40B4-BE49-F238E27FC236}">
                <a16:creationId xmlns:a16="http://schemas.microsoft.com/office/drawing/2014/main" id="{F4551A4B-2DD1-49FF-903A-5B4A7CD2ABC9}"/>
              </a:ext>
            </a:extLst>
          </p:cNvPr>
          <p:cNvSpPr>
            <a:spLocks xmlns:a="http://schemas.openxmlformats.org/drawingml/2006/main" noGrp="1"/>
          </p:cNvSpPr>
          <p:nvPr/>
        </p:nvSpPr>
        <p:spPr>
          <a:xfrm xmlns:a="http://schemas.openxmlformats.org/drawingml/2006/main">
            <a:off x="2305050" y="6677025"/>
            <a:ext cx="152400" cy="152400"/>
          </a:xfrm>
          <a:prstGeom xmlns:a="http://schemas.openxmlformats.org/drawingml/2006/main" prst="triangle">
            <a:avLst/>
          </a:prstGeom>
          <a:solidFill xmlns:a="http://schemas.openxmlformats.org/drawingml/2006/main">
            <a:srgbClr val="526173"/>
          </a:solidFill>
          <a:ln xmlns:a="http://schemas.openxmlformats.org/drawingml/2006/main" w="0">
            <a:solidFill>
              <a:srgbClr val="526173"/>
            </a:solidFill>
            <a:prstDash val="solid"/>
          </a:ln>
        </p:spPr>
      </p:sp>
      <p:sp>
        <p:nvSpPr>
          <p:cNvPr id="83" name="">
            <a:extLst xmlns:a="http://schemas.openxmlformats.org/drawingml/2006/main">
              <a:ext uri="{FF2B5EF4-FFF2-40B4-BE49-F238E27FC236}">
                <a16:creationId xmlns:a16="http://schemas.microsoft.com/office/drawing/2014/main" id="{A86CF632-F010-48F9-9D88-493CDD251550}"/>
              </a:ext>
            </a:extLst>
          </p:cNvPr>
          <p:cNvSpPr>
            <a:spLocks xmlns:a="http://schemas.openxmlformats.org/drawingml/2006/main" noGrp="1"/>
          </p:cNvSpPr>
          <p:nvPr/>
        </p:nvSpPr>
        <p:spPr>
          <a:xfrm xmlns:a="http://schemas.openxmlformats.org/drawingml/2006/main">
            <a:off x="4210050" y="6734175"/>
            <a:ext cx="-19050" cy="38100"/>
          </a:xfrm>
          <a:prstGeom xmlns:a="http://schemas.openxmlformats.org/drawingml/2006/main" prst="rect">
            <a:avLst/>
          </a:prstGeom>
          <a:solidFill xmlns:a="http://schemas.openxmlformats.org/drawingml/2006/main">
            <a:srgbClr val="526173"/>
          </a:solidFill>
          <a:ln xmlns:a="http://schemas.openxmlformats.org/drawingml/2006/main" w="0">
            <a:solidFill>
              <a:srgbClr val="000000">
                <a:alpha val="0"/>
              </a:srgbClr>
            </a:solidFill>
            <a:prstDash val="solid"/>
          </a:ln>
        </p:spPr>
      </p:sp>
      <p:sp>
        <p:nvSpPr>
          <p:cNvPr id="84" name="">
            <a:extLst xmlns:a="http://schemas.openxmlformats.org/drawingml/2006/main">
              <a:ext uri="{FF2B5EF4-FFF2-40B4-BE49-F238E27FC236}">
                <a16:creationId xmlns:a16="http://schemas.microsoft.com/office/drawing/2014/main" id="{A7A6122D-39AA-46F9-88DB-5F92C7163D6D}"/>
              </a:ext>
            </a:extLst>
          </p:cNvPr>
          <p:cNvSpPr>
            <a:spLocks xmlns:a="http://schemas.openxmlformats.org/drawingml/2006/main" noGrp="1"/>
          </p:cNvSpPr>
          <p:nvPr/>
        </p:nvSpPr>
        <p:spPr>
          <a:xfrm xmlns:a="http://schemas.openxmlformats.org/drawingml/2006/main">
            <a:off x="4133850" y="6677025"/>
            <a:ext cx="152400" cy="152400"/>
          </a:xfrm>
          <a:prstGeom xmlns:a="http://schemas.openxmlformats.org/drawingml/2006/main" prst="triangle">
            <a:avLst/>
          </a:prstGeom>
          <a:solidFill xmlns:a="http://schemas.openxmlformats.org/drawingml/2006/main">
            <a:srgbClr val="526173"/>
          </a:solidFill>
          <a:ln xmlns:a="http://schemas.openxmlformats.org/drawingml/2006/main" w="0">
            <a:solidFill>
              <a:srgbClr val="526173"/>
            </a:solidFill>
            <a:prstDash val="solid"/>
          </a:ln>
        </p:spPr>
      </p:sp>
      <p:sp>
        <p:nvSpPr>
          <p:cNvPr id="85" name="">
            <a:extLst xmlns:a="http://schemas.openxmlformats.org/drawingml/2006/main">
              <a:ext uri="{FF2B5EF4-FFF2-40B4-BE49-F238E27FC236}">
                <a16:creationId xmlns:a16="http://schemas.microsoft.com/office/drawing/2014/main" id="{8E1C5CCD-4474-496E-8634-C009F7B0683F}"/>
              </a:ext>
            </a:extLst>
          </p:cNvPr>
          <p:cNvSpPr>
            <a:spLocks xmlns:a="http://schemas.openxmlformats.org/drawingml/2006/main" noGrp="1"/>
          </p:cNvSpPr>
          <p:nvPr/>
        </p:nvSpPr>
        <p:spPr>
          <a:xfrm xmlns:a="http://schemas.openxmlformats.org/drawingml/2006/main">
            <a:off x="6038850" y="6734175"/>
            <a:ext cx="-19050" cy="38100"/>
          </a:xfrm>
          <a:prstGeom xmlns:a="http://schemas.openxmlformats.org/drawingml/2006/main" prst="rect">
            <a:avLst/>
          </a:prstGeom>
          <a:solidFill xmlns:a="http://schemas.openxmlformats.org/drawingml/2006/main">
            <a:srgbClr val="526173"/>
          </a:solidFill>
          <a:ln xmlns:a="http://schemas.openxmlformats.org/drawingml/2006/main" w="0">
            <a:solidFill>
              <a:srgbClr val="000000">
                <a:alpha val="0"/>
              </a:srgbClr>
            </a:solidFill>
            <a:prstDash val="solid"/>
          </a:ln>
        </p:spPr>
      </p:sp>
      <p:sp>
        <p:nvSpPr>
          <p:cNvPr id="86" name="">
            <a:extLst xmlns:a="http://schemas.openxmlformats.org/drawingml/2006/main">
              <a:ext uri="{FF2B5EF4-FFF2-40B4-BE49-F238E27FC236}">
                <a16:creationId xmlns:a16="http://schemas.microsoft.com/office/drawing/2014/main" id="{5A53A65D-B3F3-4007-B927-1AFA39CE0B2A}"/>
              </a:ext>
            </a:extLst>
          </p:cNvPr>
          <p:cNvSpPr>
            <a:spLocks xmlns:a="http://schemas.openxmlformats.org/drawingml/2006/main" noGrp="1"/>
          </p:cNvSpPr>
          <p:nvPr/>
        </p:nvSpPr>
        <p:spPr>
          <a:xfrm xmlns:a="http://schemas.openxmlformats.org/drawingml/2006/main">
            <a:off x="5962650" y="6677025"/>
            <a:ext cx="152400" cy="152400"/>
          </a:xfrm>
          <a:prstGeom xmlns:a="http://schemas.openxmlformats.org/drawingml/2006/main" prst="triangle">
            <a:avLst/>
          </a:prstGeom>
          <a:solidFill xmlns:a="http://schemas.openxmlformats.org/drawingml/2006/main">
            <a:srgbClr val="526173"/>
          </a:solidFill>
          <a:ln xmlns:a="http://schemas.openxmlformats.org/drawingml/2006/main" w="0">
            <a:solidFill>
              <a:srgbClr val="526173"/>
            </a:solidFill>
            <a:prstDash val="solid"/>
          </a:ln>
        </p:spPr>
      </p:sp>
      <p:sp>
        <p:nvSpPr>
          <p:cNvPr id="87" name="">
            <a:extLst xmlns:a="http://schemas.openxmlformats.org/drawingml/2006/main">
              <a:ext uri="{FF2B5EF4-FFF2-40B4-BE49-F238E27FC236}">
                <a16:creationId xmlns:a16="http://schemas.microsoft.com/office/drawing/2014/main" id="{1B69C383-142D-49D8-AE0A-DDF12192BCDF}"/>
              </a:ext>
            </a:extLst>
          </p:cNvPr>
          <p:cNvSpPr>
            <a:spLocks xmlns:a="http://schemas.openxmlformats.org/drawingml/2006/main" noGrp="1"/>
          </p:cNvSpPr>
          <p:nvPr/>
        </p:nvSpPr>
        <p:spPr>
          <a:xfrm xmlns:a="http://schemas.openxmlformats.org/drawingml/2006/main">
            <a:off x="7867650" y="6734175"/>
            <a:ext cx="-19050" cy="38100"/>
          </a:xfrm>
          <a:prstGeom xmlns:a="http://schemas.openxmlformats.org/drawingml/2006/main" prst="rect">
            <a:avLst/>
          </a:prstGeom>
          <a:solidFill xmlns:a="http://schemas.openxmlformats.org/drawingml/2006/main">
            <a:srgbClr val="526173"/>
          </a:solidFill>
          <a:ln xmlns:a="http://schemas.openxmlformats.org/drawingml/2006/main" w="0">
            <a:solidFill>
              <a:srgbClr val="000000">
                <a:alpha val="0"/>
              </a:srgbClr>
            </a:solidFill>
            <a:prstDash val="solid"/>
          </a:ln>
        </p:spPr>
      </p:sp>
      <p:sp>
        <p:nvSpPr>
          <p:cNvPr id="88" name="">
            <a:extLst xmlns:a="http://schemas.openxmlformats.org/drawingml/2006/main">
              <a:ext uri="{FF2B5EF4-FFF2-40B4-BE49-F238E27FC236}">
                <a16:creationId xmlns:a16="http://schemas.microsoft.com/office/drawing/2014/main" id="{231C3444-6001-4C06-8DE2-FCC2DBBE2701}"/>
              </a:ext>
            </a:extLst>
          </p:cNvPr>
          <p:cNvSpPr>
            <a:spLocks xmlns:a="http://schemas.openxmlformats.org/drawingml/2006/main" noGrp="1"/>
          </p:cNvSpPr>
          <p:nvPr/>
        </p:nvSpPr>
        <p:spPr>
          <a:xfrm xmlns:a="http://schemas.openxmlformats.org/drawingml/2006/main">
            <a:off x="7791450" y="6677025"/>
            <a:ext cx="152400" cy="152400"/>
          </a:xfrm>
          <a:prstGeom xmlns:a="http://schemas.openxmlformats.org/drawingml/2006/main" prst="triangle">
            <a:avLst/>
          </a:prstGeom>
          <a:solidFill xmlns:a="http://schemas.openxmlformats.org/drawingml/2006/main">
            <a:srgbClr val="526173"/>
          </a:solidFill>
          <a:ln xmlns:a="http://schemas.openxmlformats.org/drawingml/2006/main" w="0">
            <a:solidFill>
              <a:srgbClr val="526173"/>
            </a:solidFill>
            <a:prstDash val="solid"/>
          </a:ln>
        </p:spPr>
      </p:sp>
      <p:sp>
        <p:nvSpPr>
          <p:cNvPr id="89" name="">
            <a:extLst xmlns:a="http://schemas.openxmlformats.org/drawingml/2006/main">
              <a:ext uri="{FF2B5EF4-FFF2-40B4-BE49-F238E27FC236}">
                <a16:creationId xmlns:a16="http://schemas.microsoft.com/office/drawing/2014/main" id="{0ABC23E6-AB74-4F33-B64E-E703C096A99D}"/>
              </a:ext>
            </a:extLst>
          </p:cNvPr>
          <p:cNvSpPr>
            <a:spLocks xmlns:a="http://schemas.openxmlformats.org/drawingml/2006/main" noGrp="1"/>
          </p:cNvSpPr>
          <p:nvPr/>
        </p:nvSpPr>
        <p:spPr>
          <a:xfrm xmlns:a="http://schemas.openxmlformats.org/drawingml/2006/main">
            <a:off x="647700" y="7429500"/>
            <a:ext cx="9391650" cy="381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90" name="">
            <a:extLst xmlns:a="http://schemas.openxmlformats.org/drawingml/2006/main">
              <a:ext uri="{FF2B5EF4-FFF2-40B4-BE49-F238E27FC236}">
                <a16:creationId xmlns:a16="http://schemas.microsoft.com/office/drawing/2014/main" id="{88B6C5F8-9449-4032-AF8E-C7A4B3B23AC9}"/>
              </a:ext>
            </a:extLst>
          </p:cNvPr>
          <p:cNvSpPr>
            <a:spLocks xmlns:a="http://schemas.openxmlformats.org/drawingml/2006/main" noGrp="1"/>
          </p:cNvSpPr>
          <p:nvPr/>
        </p:nvSpPr>
        <p:spPr>
          <a:xfrm xmlns:a="http://schemas.openxmlformats.org/drawingml/2006/main">
            <a:off x="647700" y="7524750"/>
            <a:ext cx="9391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1463" b="1">
                <a:solidFill>
                  <a:srgbClr val="0B8FA5"/>
                </a:solidFill>
                <a:latin typeface="Arial"/>
                <a:ea typeface="Arial"/>
                <a:cs typeface="Arial"/>
              </a:defRPr>
            </a:pPr>
            <a:r>
              <a:rPr sz="1463" b="1">
                <a:solidFill>
                  <a:srgbClr val="0B8FA5"/>
                </a:solidFill>
                <a:latin typeface="Arial"/>
                <a:ea typeface="Arial"/>
                <a:cs typeface="Arial"/>
              </a:rPr>
              <a:t>Áp dụng chỉ số đánh giá như thế nào?</a:t>
            </a:r>
          </a:p>
        </p:txBody>
      </p:sp>
      <p:sp>
        <p:nvSpPr>
          <p:cNvPr id="91" name="">
            <a:extLst xmlns:a="http://schemas.openxmlformats.org/drawingml/2006/main">
              <a:ext uri="{FF2B5EF4-FFF2-40B4-BE49-F238E27FC236}">
                <a16:creationId xmlns:a16="http://schemas.microsoft.com/office/drawing/2014/main" id="{1B42298F-B7CA-4CE0-BCE2-F63AB088F75E}"/>
              </a:ext>
            </a:extLst>
          </p:cNvPr>
          <p:cNvSpPr>
            <a:spLocks xmlns:a="http://schemas.openxmlformats.org/drawingml/2006/main" noGrp="1"/>
          </p:cNvSpPr>
          <p:nvPr/>
        </p:nvSpPr>
        <p:spPr>
          <a:xfrm xmlns:a="http://schemas.openxmlformats.org/drawingml/2006/main">
            <a:off x="647700" y="7943850"/>
            <a:ext cx="22669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92" name="">
            <a:extLst xmlns:a="http://schemas.openxmlformats.org/drawingml/2006/main">
              <a:ext uri="{FF2B5EF4-FFF2-40B4-BE49-F238E27FC236}">
                <a16:creationId xmlns:a16="http://schemas.microsoft.com/office/drawing/2014/main" id="{D23AD4CC-2777-4A07-89D9-E6C46BB0659E}"/>
              </a:ext>
            </a:extLst>
          </p:cNvPr>
          <p:cNvSpPr>
            <a:spLocks xmlns:a="http://schemas.openxmlformats.org/drawingml/2006/main" noGrp="1"/>
          </p:cNvSpPr>
          <p:nvPr/>
        </p:nvSpPr>
        <p:spPr>
          <a:xfrm xmlns:a="http://schemas.openxmlformats.org/drawingml/2006/main">
            <a:off x="742950" y="8029575"/>
            <a:ext cx="723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1650" b="1">
                <a:solidFill>
                  <a:srgbClr val="0B8FA5"/>
                </a:solidFill>
                <a:latin typeface="Arial"/>
                <a:ea typeface="Arial"/>
                <a:cs typeface="Arial"/>
              </a:defRPr>
            </a:pPr>
            <a:r>
              <a:rPr sz="1650" b="1">
                <a:solidFill>
                  <a:srgbClr val="0B8FA5"/>
                </a:solidFill>
                <a:latin typeface="Arial"/>
                <a:ea typeface="Arial"/>
                <a:cs typeface="Arial"/>
              </a:rPr>
              <a:t>ECR</a:t>
            </a:r>
          </a:p>
        </p:txBody>
      </p:sp>
      <p:sp>
        <p:nvSpPr>
          <p:cNvPr id="93" name="">
            <a:extLst xmlns:a="http://schemas.openxmlformats.org/drawingml/2006/main">
              <a:ext uri="{FF2B5EF4-FFF2-40B4-BE49-F238E27FC236}">
                <a16:creationId xmlns:a16="http://schemas.microsoft.com/office/drawing/2014/main" id="{4068B0DA-837A-4B12-B0E1-372DCE32D04B}"/>
              </a:ext>
            </a:extLst>
          </p:cNvPr>
          <p:cNvSpPr>
            <a:spLocks xmlns:a="http://schemas.openxmlformats.org/drawingml/2006/main" noGrp="1"/>
          </p:cNvSpPr>
          <p:nvPr/>
        </p:nvSpPr>
        <p:spPr>
          <a:xfrm xmlns:a="http://schemas.openxmlformats.org/drawingml/2006/main">
            <a:off x="1524000" y="8039100"/>
            <a:ext cx="1276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953" b="1">
                <a:solidFill>
                  <a:srgbClr val="0F172A"/>
                </a:solidFill>
                <a:latin typeface="Arial"/>
                <a:ea typeface="Arial"/>
                <a:cs typeface="Arial"/>
              </a:defRPr>
            </a:pPr>
            <a:r>
              <a:rPr sz="953" b="1">
                <a:solidFill>
                  <a:srgbClr val="0F172A"/>
                </a:solidFill>
                <a:latin typeface="Arial"/>
                <a:ea typeface="Arial"/>
                <a:cs typeface="Arial"/>
              </a:rPr>
              <a:t>Effective Cashback Rate</a:t>
            </a:r>
          </a:p>
        </p:txBody>
      </p:sp>
      <p:sp>
        <p:nvSpPr>
          <p:cNvPr id="94" name="">
            <a:extLst xmlns:a="http://schemas.openxmlformats.org/drawingml/2006/main">
              <a:ext uri="{FF2B5EF4-FFF2-40B4-BE49-F238E27FC236}">
                <a16:creationId xmlns:a16="http://schemas.microsoft.com/office/drawing/2014/main" id="{69A98A84-B929-49E2-A828-2365925C3026}"/>
              </a:ext>
            </a:extLst>
          </p:cNvPr>
          <p:cNvSpPr>
            <a:spLocks xmlns:a="http://schemas.openxmlformats.org/drawingml/2006/main" noGrp="1"/>
          </p:cNvSpPr>
          <p:nvPr/>
        </p:nvSpPr>
        <p:spPr>
          <a:xfrm xmlns:a="http://schemas.openxmlformats.org/drawingml/2006/main">
            <a:off x="781050" y="84010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57" b="0">
                <a:solidFill>
                  <a:srgbClr val="526173"/>
                </a:solidFill>
                <a:latin typeface="Arial"/>
                <a:ea typeface="Arial"/>
                <a:cs typeface="Arial"/>
              </a:defRPr>
            </a:pPr>
            <a:r>
              <a:rPr sz="757" b="0">
                <a:solidFill>
                  <a:srgbClr val="526173"/>
                </a:solidFill>
                <a:latin typeface="Arial"/>
                <a:ea typeface="Arial"/>
                <a:cs typeface="Arial"/>
              </a:rPr>
              <a:t>total cashback / total spending</a:t>
            </a:r>
          </a:p>
        </p:txBody>
      </p:sp>
      <p:sp>
        <p:nvSpPr>
          <p:cNvPr id="95" name="">
            <a:extLst xmlns:a="http://schemas.openxmlformats.org/drawingml/2006/main">
              <a:ext uri="{FF2B5EF4-FFF2-40B4-BE49-F238E27FC236}">
                <a16:creationId xmlns:a16="http://schemas.microsoft.com/office/drawing/2014/main" id="{4C429EBA-0614-479B-97B0-07A3774B79E5}"/>
              </a:ext>
            </a:extLst>
          </p:cNvPr>
          <p:cNvSpPr>
            <a:spLocks xmlns:a="http://schemas.openxmlformats.org/drawingml/2006/main" noGrp="1"/>
          </p:cNvSpPr>
          <p:nvPr/>
        </p:nvSpPr>
        <p:spPr>
          <a:xfrm xmlns:a="http://schemas.openxmlformats.org/drawingml/2006/main">
            <a:off x="781050" y="8639175"/>
            <a:ext cx="2000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95" b="0">
                <a:solidFill>
                  <a:srgbClr val="0F172A"/>
                </a:solidFill>
                <a:latin typeface="Arial"/>
                <a:ea typeface="Arial"/>
                <a:cs typeface="Arial"/>
              </a:defRPr>
            </a:pPr>
            <a:r>
              <a:rPr sz="795" b="0">
                <a:solidFill>
                  <a:srgbClr val="0F172A"/>
                </a:solidFill>
                <a:latin typeface="Arial"/>
                <a:ea typeface="Arial"/>
                <a:cs typeface="Arial"/>
              </a:rPr>
              <a:t>So sánh hiệu quả hoàn tiền giữa các nhóm, tránh kết luận sai vì người dùng chi tiêu nhiều hơn.</a:t>
            </a:r>
          </a:p>
        </p:txBody>
      </p:sp>
      <p:sp>
        <p:nvSpPr>
          <p:cNvPr id="96" name="">
            <a:extLst xmlns:a="http://schemas.openxmlformats.org/drawingml/2006/main">
              <a:ext uri="{FF2B5EF4-FFF2-40B4-BE49-F238E27FC236}">
                <a16:creationId xmlns:a16="http://schemas.microsoft.com/office/drawing/2014/main" id="{F673265A-D686-4E8D-835F-ECAB1D61957C}"/>
              </a:ext>
            </a:extLst>
          </p:cNvPr>
          <p:cNvSpPr>
            <a:spLocks xmlns:a="http://schemas.openxmlformats.org/drawingml/2006/main" noGrp="1"/>
          </p:cNvSpPr>
          <p:nvPr/>
        </p:nvSpPr>
        <p:spPr>
          <a:xfrm xmlns:a="http://schemas.openxmlformats.org/drawingml/2006/main">
            <a:off x="3086100" y="7943850"/>
            <a:ext cx="22669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97" name="">
            <a:extLst xmlns:a="http://schemas.openxmlformats.org/drawingml/2006/main">
              <a:ext uri="{FF2B5EF4-FFF2-40B4-BE49-F238E27FC236}">
                <a16:creationId xmlns:a16="http://schemas.microsoft.com/office/drawing/2014/main" id="{08526A4F-1B92-4BD1-8CD6-64F515D5F560}"/>
              </a:ext>
            </a:extLst>
          </p:cNvPr>
          <p:cNvSpPr>
            <a:spLocks xmlns:a="http://schemas.openxmlformats.org/drawingml/2006/main" noGrp="1"/>
          </p:cNvSpPr>
          <p:nvPr/>
        </p:nvSpPr>
        <p:spPr>
          <a:xfrm xmlns:a="http://schemas.openxmlformats.org/drawingml/2006/main">
            <a:off x="3181350" y="8029575"/>
            <a:ext cx="723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1650" b="1">
                <a:solidFill>
                  <a:srgbClr val="0B4B8A"/>
                </a:solidFill>
                <a:latin typeface="Arial"/>
                <a:ea typeface="Arial"/>
                <a:cs typeface="Arial"/>
              </a:defRPr>
            </a:pPr>
            <a:r>
              <a:rPr sz="1650" b="1">
                <a:solidFill>
                  <a:srgbClr val="0B4B8A"/>
                </a:solidFill>
                <a:latin typeface="Arial"/>
                <a:ea typeface="Arial"/>
                <a:cs typeface="Arial"/>
              </a:rPr>
              <a:t>NET</a:t>
            </a:r>
          </a:p>
        </p:txBody>
      </p:sp>
      <p:sp>
        <p:nvSpPr>
          <p:cNvPr id="98" name="">
            <a:extLst xmlns:a="http://schemas.openxmlformats.org/drawingml/2006/main">
              <a:ext uri="{FF2B5EF4-FFF2-40B4-BE49-F238E27FC236}">
                <a16:creationId xmlns:a16="http://schemas.microsoft.com/office/drawing/2014/main" id="{6425C953-8570-4F6C-9F38-F8C590D0CC3B}"/>
              </a:ext>
            </a:extLst>
          </p:cNvPr>
          <p:cNvSpPr>
            <a:spLocks xmlns:a="http://schemas.openxmlformats.org/drawingml/2006/main" noGrp="1"/>
          </p:cNvSpPr>
          <p:nvPr/>
        </p:nvSpPr>
        <p:spPr>
          <a:xfrm xmlns:a="http://schemas.openxmlformats.org/drawingml/2006/main">
            <a:off x="3962400" y="8039100"/>
            <a:ext cx="1276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953" b="1">
                <a:solidFill>
                  <a:srgbClr val="0F172A"/>
                </a:solidFill>
                <a:latin typeface="Arial"/>
                <a:ea typeface="Arial"/>
                <a:cs typeface="Arial"/>
              </a:defRPr>
            </a:pPr>
            <a:r>
              <a:rPr sz="953" b="1">
                <a:solidFill>
                  <a:srgbClr val="0F172A"/>
                </a:solidFill>
                <a:latin typeface="Arial"/>
                <a:ea typeface="Arial"/>
                <a:cs typeface="Arial"/>
              </a:rPr>
              <a:t>Net Cashback Benefit</a:t>
            </a:r>
          </a:p>
        </p:txBody>
      </p:sp>
      <p:sp>
        <p:nvSpPr>
          <p:cNvPr id="99" name="">
            <a:extLst xmlns:a="http://schemas.openxmlformats.org/drawingml/2006/main">
              <a:ext uri="{FF2B5EF4-FFF2-40B4-BE49-F238E27FC236}">
                <a16:creationId xmlns:a16="http://schemas.microsoft.com/office/drawing/2014/main" id="{431974BF-115A-4499-9784-667F4C3E6CC9}"/>
              </a:ext>
            </a:extLst>
          </p:cNvPr>
          <p:cNvSpPr>
            <a:spLocks xmlns:a="http://schemas.openxmlformats.org/drawingml/2006/main" noGrp="1"/>
          </p:cNvSpPr>
          <p:nvPr/>
        </p:nvSpPr>
        <p:spPr>
          <a:xfrm xmlns:a="http://schemas.openxmlformats.org/drawingml/2006/main">
            <a:off x="3219450" y="84010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57" b="0">
                <a:solidFill>
                  <a:srgbClr val="526173"/>
                </a:solidFill>
                <a:latin typeface="Arial"/>
                <a:ea typeface="Arial"/>
                <a:cs typeface="Arial"/>
              </a:defRPr>
            </a:pPr>
            <a:r>
              <a:rPr sz="757" b="0">
                <a:solidFill>
                  <a:srgbClr val="526173"/>
                </a:solidFill>
                <a:latin typeface="Arial"/>
                <a:ea typeface="Arial"/>
                <a:cs typeface="Arial"/>
              </a:rPr>
              <a:t>cashback - fee - interest</a:t>
            </a:r>
          </a:p>
        </p:txBody>
      </p:sp>
      <p:sp>
        <p:nvSpPr>
          <p:cNvPr id="100" name="">
            <a:extLst xmlns:a="http://schemas.openxmlformats.org/drawingml/2006/main">
              <a:ext uri="{FF2B5EF4-FFF2-40B4-BE49-F238E27FC236}">
                <a16:creationId xmlns:a16="http://schemas.microsoft.com/office/drawing/2014/main" id="{EA091191-5F66-4793-960E-2037D22D18AB}"/>
              </a:ext>
            </a:extLst>
          </p:cNvPr>
          <p:cNvSpPr>
            <a:spLocks xmlns:a="http://schemas.openxmlformats.org/drawingml/2006/main" noGrp="1"/>
          </p:cNvSpPr>
          <p:nvPr/>
        </p:nvSpPr>
        <p:spPr>
          <a:xfrm xmlns:a="http://schemas.openxmlformats.org/drawingml/2006/main">
            <a:off x="3219450" y="8639175"/>
            <a:ext cx="2000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95" b="0">
                <a:solidFill>
                  <a:srgbClr val="0F172A"/>
                </a:solidFill>
                <a:latin typeface="Arial"/>
                <a:ea typeface="Arial"/>
                <a:cs typeface="Arial"/>
              </a:defRPr>
            </a:pPr>
            <a:r>
              <a:rPr sz="795" b="0">
                <a:solidFill>
                  <a:srgbClr val="0F172A"/>
                </a:solidFill>
                <a:latin typeface="Arial"/>
                <a:ea typeface="Arial"/>
                <a:cs typeface="Arial"/>
              </a:rPr>
              <a:t>Nếu NET &lt; 0, cashback bị phí/lãi triệt tiêu. Đây là dấu hiệu lợi ích thực nhận âm.</a:t>
            </a:r>
          </a:p>
        </p:txBody>
      </p:sp>
      <p:sp>
        <p:nvSpPr>
          <p:cNvPr id="101" name="">
            <a:extLst xmlns:a="http://schemas.openxmlformats.org/drawingml/2006/main">
              <a:ext uri="{FF2B5EF4-FFF2-40B4-BE49-F238E27FC236}">
                <a16:creationId xmlns:a16="http://schemas.microsoft.com/office/drawing/2014/main" id="{5ADD64A8-2337-4F8B-A080-5BB7910CA59B}"/>
              </a:ext>
            </a:extLst>
          </p:cNvPr>
          <p:cNvSpPr>
            <a:spLocks xmlns:a="http://schemas.openxmlformats.org/drawingml/2006/main" noGrp="1"/>
          </p:cNvSpPr>
          <p:nvPr/>
        </p:nvSpPr>
        <p:spPr>
          <a:xfrm xmlns:a="http://schemas.openxmlformats.org/drawingml/2006/main">
            <a:off x="5524500" y="7943850"/>
            <a:ext cx="22669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02" name="">
            <a:extLst xmlns:a="http://schemas.openxmlformats.org/drawingml/2006/main">
              <a:ext uri="{FF2B5EF4-FFF2-40B4-BE49-F238E27FC236}">
                <a16:creationId xmlns:a16="http://schemas.microsoft.com/office/drawing/2014/main" id="{25AEC10A-12A1-4F3A-BAA6-C82C70ABD999}"/>
              </a:ext>
            </a:extLst>
          </p:cNvPr>
          <p:cNvSpPr>
            <a:spLocks xmlns:a="http://schemas.openxmlformats.org/drawingml/2006/main" noGrp="1"/>
          </p:cNvSpPr>
          <p:nvPr/>
        </p:nvSpPr>
        <p:spPr>
          <a:xfrm xmlns:a="http://schemas.openxmlformats.org/drawingml/2006/main">
            <a:off x="5619750" y="8029575"/>
            <a:ext cx="723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1650" b="1">
                <a:solidFill>
                  <a:srgbClr val="F2A51A"/>
                </a:solidFill>
                <a:latin typeface="Arial"/>
                <a:ea typeface="Arial"/>
                <a:cs typeface="Arial"/>
              </a:defRPr>
            </a:pPr>
            <a:r>
              <a:rPr sz="1650" b="1">
                <a:solidFill>
                  <a:srgbClr val="F2A51A"/>
                </a:solidFill>
                <a:latin typeface="Arial"/>
                <a:ea typeface="Arial"/>
                <a:cs typeface="Arial"/>
              </a:rPr>
              <a:t>WST</a:t>
            </a:r>
          </a:p>
        </p:txBody>
      </p:sp>
      <p:sp>
        <p:nvSpPr>
          <p:cNvPr id="103" name="">
            <a:extLst xmlns:a="http://schemas.openxmlformats.org/drawingml/2006/main">
              <a:ext uri="{FF2B5EF4-FFF2-40B4-BE49-F238E27FC236}">
                <a16:creationId xmlns:a16="http://schemas.microsoft.com/office/drawing/2014/main" id="{A3EAF83C-A857-4082-A8F4-3AF0EDAED15C}"/>
              </a:ext>
            </a:extLst>
          </p:cNvPr>
          <p:cNvSpPr>
            <a:spLocks xmlns:a="http://schemas.openxmlformats.org/drawingml/2006/main" noGrp="1"/>
          </p:cNvSpPr>
          <p:nvPr/>
        </p:nvSpPr>
        <p:spPr>
          <a:xfrm xmlns:a="http://schemas.openxmlformats.org/drawingml/2006/main">
            <a:off x="6400800" y="8039100"/>
            <a:ext cx="1276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953" b="1">
                <a:solidFill>
                  <a:srgbClr val="0F172A"/>
                </a:solidFill>
                <a:latin typeface="Arial"/>
                <a:ea typeface="Arial"/>
                <a:cs typeface="Arial"/>
              </a:defRPr>
            </a:pPr>
            <a:r>
              <a:rPr sz="953" b="1">
                <a:solidFill>
                  <a:srgbClr val="0F172A"/>
                </a:solidFill>
                <a:latin typeface="Arial"/>
                <a:ea typeface="Arial"/>
                <a:cs typeface="Arial"/>
              </a:rPr>
              <a:t>Wasted Cashback</a:t>
            </a:r>
          </a:p>
        </p:txBody>
      </p:sp>
      <p:sp>
        <p:nvSpPr>
          <p:cNvPr id="104" name="">
            <a:extLst xmlns:a="http://schemas.openxmlformats.org/drawingml/2006/main">
              <a:ext uri="{FF2B5EF4-FFF2-40B4-BE49-F238E27FC236}">
                <a16:creationId xmlns:a16="http://schemas.microsoft.com/office/drawing/2014/main" id="{A26B46FC-09E8-45A8-B1C9-CC0780A71D07}"/>
              </a:ext>
            </a:extLst>
          </p:cNvPr>
          <p:cNvSpPr>
            <a:spLocks xmlns:a="http://schemas.openxmlformats.org/drawingml/2006/main" noGrp="1"/>
          </p:cNvSpPr>
          <p:nvPr/>
        </p:nvSpPr>
        <p:spPr>
          <a:xfrm xmlns:a="http://schemas.openxmlformats.org/drawingml/2006/main">
            <a:off x="5657850" y="84010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57" b="0">
                <a:solidFill>
                  <a:srgbClr val="526173"/>
                </a:solidFill>
                <a:latin typeface="Arial"/>
                <a:ea typeface="Arial"/>
                <a:cs typeface="Arial"/>
              </a:defRPr>
            </a:pPr>
            <a:r>
              <a:rPr sz="757" b="0">
                <a:solidFill>
                  <a:srgbClr val="526173"/>
                </a:solidFill>
                <a:latin typeface="Arial"/>
                <a:ea typeface="Arial"/>
                <a:cs typeface="Arial"/>
              </a:rPr>
              <a:t>potential cashback - actual cashback</a:t>
            </a:r>
          </a:p>
        </p:txBody>
      </p:sp>
      <p:sp>
        <p:nvSpPr>
          <p:cNvPr id="105" name="">
            <a:extLst xmlns:a="http://schemas.openxmlformats.org/drawingml/2006/main">
              <a:ext uri="{FF2B5EF4-FFF2-40B4-BE49-F238E27FC236}">
                <a16:creationId xmlns:a16="http://schemas.microsoft.com/office/drawing/2014/main" id="{66D11302-3C32-4EC4-A6B0-FAC78B527671}"/>
              </a:ext>
            </a:extLst>
          </p:cNvPr>
          <p:cNvSpPr>
            <a:spLocks xmlns:a="http://schemas.openxmlformats.org/drawingml/2006/main" noGrp="1"/>
          </p:cNvSpPr>
          <p:nvPr/>
        </p:nvSpPr>
        <p:spPr>
          <a:xfrm xmlns:a="http://schemas.openxmlformats.org/drawingml/2006/main">
            <a:off x="5657850" y="8639175"/>
            <a:ext cx="2000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95" b="0">
                <a:solidFill>
                  <a:srgbClr val="0F172A"/>
                </a:solidFill>
                <a:latin typeface="Arial"/>
                <a:ea typeface="Arial"/>
                <a:cs typeface="Arial"/>
              </a:defRPr>
            </a:pPr>
            <a:r>
              <a:rPr sz="795" b="0">
                <a:solidFill>
                  <a:srgbClr val="0F172A"/>
                </a:solidFill>
                <a:latin typeface="Arial"/>
                <a:ea typeface="Arial"/>
                <a:cs typeface="Arial"/>
              </a:rPr>
              <a:t>Đo phần cashback bị mất do vượt cap, sai danh mục hoặc chọn sai thẻ.</a:t>
            </a:r>
          </a:p>
        </p:txBody>
      </p:sp>
      <p:sp>
        <p:nvSpPr>
          <p:cNvPr id="106" name="">
            <a:extLst xmlns:a="http://schemas.openxmlformats.org/drawingml/2006/main">
              <a:ext uri="{FF2B5EF4-FFF2-40B4-BE49-F238E27FC236}">
                <a16:creationId xmlns:a16="http://schemas.microsoft.com/office/drawing/2014/main" id="{BBC8941E-AD44-47B6-B347-DAE47ABD16E9}"/>
              </a:ext>
            </a:extLst>
          </p:cNvPr>
          <p:cNvSpPr>
            <a:spLocks xmlns:a="http://schemas.openxmlformats.org/drawingml/2006/main" noGrp="1"/>
          </p:cNvSpPr>
          <p:nvPr/>
        </p:nvSpPr>
        <p:spPr>
          <a:xfrm xmlns:a="http://schemas.openxmlformats.org/drawingml/2006/main">
            <a:off x="7962900" y="7943850"/>
            <a:ext cx="20764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07" name="">
            <a:extLst xmlns:a="http://schemas.openxmlformats.org/drawingml/2006/main">
              <a:ext uri="{FF2B5EF4-FFF2-40B4-BE49-F238E27FC236}">
                <a16:creationId xmlns:a16="http://schemas.microsoft.com/office/drawing/2014/main" id="{72099427-C0FF-45AD-9CC4-AED35FED6766}"/>
              </a:ext>
            </a:extLst>
          </p:cNvPr>
          <p:cNvSpPr>
            <a:spLocks xmlns:a="http://schemas.openxmlformats.org/drawingml/2006/main" noGrp="1"/>
          </p:cNvSpPr>
          <p:nvPr/>
        </p:nvSpPr>
        <p:spPr>
          <a:xfrm xmlns:a="http://schemas.openxmlformats.org/drawingml/2006/main">
            <a:off x="8058150" y="8029575"/>
            <a:ext cx="723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1650" b="1">
                <a:solidFill>
                  <a:srgbClr val="E0523F"/>
                </a:solidFill>
                <a:latin typeface="Arial"/>
                <a:ea typeface="Arial"/>
                <a:cs typeface="Arial"/>
              </a:defRPr>
            </a:pPr>
            <a:r>
              <a:rPr sz="1650" b="1">
                <a:solidFill>
                  <a:srgbClr val="E0523F"/>
                </a:solidFill>
                <a:latin typeface="Arial"/>
                <a:ea typeface="Arial"/>
                <a:cs typeface="Arial"/>
              </a:rPr>
              <a:t>RISK</a:t>
            </a:r>
          </a:p>
        </p:txBody>
      </p:sp>
      <p:sp>
        <p:nvSpPr>
          <p:cNvPr id="108" name="">
            <a:extLst xmlns:a="http://schemas.openxmlformats.org/drawingml/2006/main">
              <a:ext uri="{FF2B5EF4-FFF2-40B4-BE49-F238E27FC236}">
                <a16:creationId xmlns:a16="http://schemas.microsoft.com/office/drawing/2014/main" id="{7072E156-B9AE-4ACA-99AE-3087078C90F7}"/>
              </a:ext>
            </a:extLst>
          </p:cNvPr>
          <p:cNvSpPr>
            <a:spLocks xmlns:a="http://schemas.openxmlformats.org/drawingml/2006/main" noGrp="1"/>
          </p:cNvSpPr>
          <p:nvPr/>
        </p:nvSpPr>
        <p:spPr>
          <a:xfrm xmlns:a="http://schemas.openxmlformats.org/drawingml/2006/main">
            <a:off x="8839200" y="8039100"/>
            <a:ext cx="1085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953" b="1">
                <a:solidFill>
                  <a:srgbClr val="0F172A"/>
                </a:solidFill>
                <a:latin typeface="Arial"/>
                <a:ea typeface="Arial"/>
                <a:cs typeface="Arial"/>
              </a:defRPr>
            </a:pPr>
            <a:r>
              <a:rPr sz="953" b="1">
                <a:solidFill>
                  <a:srgbClr val="0F172A"/>
                </a:solidFill>
                <a:latin typeface="Arial"/>
                <a:ea typeface="Arial"/>
                <a:cs typeface="Arial"/>
              </a:rPr>
              <a:t>Rủi ro chi tiêu</a:t>
            </a:r>
          </a:p>
        </p:txBody>
      </p:sp>
      <p:sp>
        <p:nvSpPr>
          <p:cNvPr id="109" name="">
            <a:extLst xmlns:a="http://schemas.openxmlformats.org/drawingml/2006/main">
              <a:ext uri="{FF2B5EF4-FFF2-40B4-BE49-F238E27FC236}">
                <a16:creationId xmlns:a16="http://schemas.microsoft.com/office/drawing/2014/main" id="{E0EB855F-252B-4B4E-8929-A4A25C45895D}"/>
              </a:ext>
            </a:extLst>
          </p:cNvPr>
          <p:cNvSpPr>
            <a:spLocks xmlns:a="http://schemas.openxmlformats.org/drawingml/2006/main" noGrp="1"/>
          </p:cNvSpPr>
          <p:nvPr/>
        </p:nvSpPr>
        <p:spPr>
          <a:xfrm xmlns:a="http://schemas.openxmlformats.org/drawingml/2006/main">
            <a:off x="8096250" y="8401050"/>
            <a:ext cx="1809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57" b="0">
                <a:solidFill>
                  <a:srgbClr val="526173"/>
                </a:solidFill>
                <a:latin typeface="Arial"/>
                <a:ea typeface="Arial"/>
                <a:cs typeface="Arial"/>
              </a:defRPr>
            </a:pPr>
            <a:r>
              <a:rPr sz="757" b="0">
                <a:solidFill>
                  <a:srgbClr val="526173"/>
                </a:solidFill>
                <a:latin typeface="Arial"/>
                <a:ea typeface="Arial"/>
                <a:cs typeface="Arial"/>
              </a:rPr>
              <a:t>beyond budget/cap</a:t>
            </a:r>
          </a:p>
        </p:txBody>
      </p:sp>
      <p:sp>
        <p:nvSpPr>
          <p:cNvPr id="110" name="">
            <a:extLst xmlns:a="http://schemas.openxmlformats.org/drawingml/2006/main">
              <a:ext uri="{FF2B5EF4-FFF2-40B4-BE49-F238E27FC236}">
                <a16:creationId xmlns:a16="http://schemas.microsoft.com/office/drawing/2014/main" id="{D0E5A69C-6829-49E7-8315-E3B0DBACB815}"/>
              </a:ext>
            </a:extLst>
          </p:cNvPr>
          <p:cNvSpPr>
            <a:spLocks xmlns:a="http://schemas.openxmlformats.org/drawingml/2006/main" noGrp="1"/>
          </p:cNvSpPr>
          <p:nvPr/>
        </p:nvSpPr>
        <p:spPr>
          <a:xfrm xmlns:a="http://schemas.openxmlformats.org/drawingml/2006/main">
            <a:off x="8096250" y="8639175"/>
            <a:ext cx="1809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795" b="0">
                <a:solidFill>
                  <a:srgbClr val="0F172A"/>
                </a:solidFill>
                <a:latin typeface="Arial"/>
                <a:ea typeface="Arial"/>
                <a:cs typeface="Arial"/>
              </a:defRPr>
            </a:pPr>
            <a:r>
              <a:rPr sz="795" b="0">
                <a:solidFill>
                  <a:srgbClr val="0F172A"/>
                </a:solidFill>
                <a:latin typeface="Arial"/>
                <a:ea typeface="Arial"/>
                <a:cs typeface="Arial"/>
              </a:rPr>
              <a:t>Phát hiện chi tiêu thêm khi cashback không còn tăng hoặc vượt ngân sách cá nhân.</a:t>
            </a:r>
          </a:p>
        </p:txBody>
      </p:sp>
      <p:sp>
        <p:nvSpPr>
          <p:cNvPr id="111" name="">
            <a:extLst xmlns:a="http://schemas.openxmlformats.org/drawingml/2006/main">
              <a:ext uri="{FF2B5EF4-FFF2-40B4-BE49-F238E27FC236}">
                <a16:creationId xmlns:a16="http://schemas.microsoft.com/office/drawing/2014/main" id="{35D25AFA-1569-441F-A7D0-94FB51369FEB}"/>
              </a:ext>
            </a:extLst>
          </p:cNvPr>
          <p:cNvSpPr>
            <a:spLocks xmlns:a="http://schemas.openxmlformats.org/drawingml/2006/main" noGrp="1"/>
          </p:cNvSpPr>
          <p:nvPr/>
        </p:nvSpPr>
        <p:spPr>
          <a:xfrm xmlns:a="http://schemas.openxmlformats.org/drawingml/2006/main">
            <a:off x="647700" y="9563100"/>
            <a:ext cx="9391650" cy="38100"/>
          </a:xfrm>
          <a:prstGeom xmlns:a="http://schemas.openxmlformats.org/drawingml/2006/main" prst="rect">
            <a:avLst/>
          </a:prstGeom>
          <a:solidFill xmlns:a="http://schemas.openxmlformats.org/drawingml/2006/main">
            <a:srgbClr val="0B4B8A"/>
          </a:solidFill>
          <a:ln xmlns:a="http://schemas.openxmlformats.org/drawingml/2006/main" w="0">
            <a:solidFill>
              <a:srgbClr val="000000">
                <a:alpha val="0"/>
              </a:srgbClr>
            </a:solidFill>
            <a:prstDash val="solid"/>
          </a:ln>
        </p:spPr>
      </p:sp>
      <p:sp>
        <p:nvSpPr>
          <p:cNvPr id="112" name="">
            <a:extLst xmlns:a="http://schemas.openxmlformats.org/drawingml/2006/main">
              <a:ext uri="{FF2B5EF4-FFF2-40B4-BE49-F238E27FC236}">
                <a16:creationId xmlns:a16="http://schemas.microsoft.com/office/drawing/2014/main" id="{DDBEFAEF-E731-4096-8D85-6AFA7CD2ADB6}"/>
              </a:ext>
            </a:extLst>
          </p:cNvPr>
          <p:cNvSpPr>
            <a:spLocks xmlns:a="http://schemas.openxmlformats.org/drawingml/2006/main" noGrp="1"/>
          </p:cNvSpPr>
          <p:nvPr/>
        </p:nvSpPr>
        <p:spPr>
          <a:xfrm xmlns:a="http://schemas.openxmlformats.org/drawingml/2006/main">
            <a:off x="647700" y="9658350"/>
            <a:ext cx="9391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l">
              <a:defRPr sz="1463" b="1">
                <a:solidFill>
                  <a:srgbClr val="0B4B8A"/>
                </a:solidFill>
                <a:latin typeface="Arial"/>
                <a:ea typeface="Arial"/>
                <a:cs typeface="Arial"/>
              </a:defRPr>
            </a:pPr>
            <a:r>
              <a:rPr sz="1463" b="1">
                <a:solidFill>
                  <a:srgbClr val="0B4B8A"/>
                </a:solidFill>
                <a:latin typeface="Arial"/>
                <a:ea typeface="Arial"/>
                <a:cs typeface="Arial"/>
              </a:rPr>
              <a:t>Kết quả kỳ vọng: các nhóm người dùng được xác định</a:t>
            </a:r>
          </a:p>
        </p:txBody>
      </p:sp>
      <p:sp>
        <p:nvSpPr>
          <p:cNvPr id="113" name="">
            <a:extLst xmlns:a="http://schemas.openxmlformats.org/drawingml/2006/main">
              <a:ext uri="{FF2B5EF4-FFF2-40B4-BE49-F238E27FC236}">
                <a16:creationId xmlns:a16="http://schemas.microsoft.com/office/drawing/2014/main" id="{5A520B59-BDB8-4125-8863-30E9E5375B54}"/>
              </a:ext>
            </a:extLst>
          </p:cNvPr>
          <p:cNvSpPr>
            <a:spLocks xmlns:a="http://schemas.openxmlformats.org/drawingml/2006/main" noGrp="1"/>
          </p:cNvSpPr>
          <p:nvPr/>
        </p:nvSpPr>
        <p:spPr>
          <a:xfrm xmlns:a="http://schemas.openxmlformats.org/drawingml/2006/main">
            <a:off x="647700" y="10077450"/>
            <a:ext cx="1295400" cy="323850"/>
          </a:xfrm>
          <a:prstGeom xmlns:a="http://schemas.openxmlformats.org/drawingml/2006/main" prst="rect">
            <a:avLst/>
          </a:prstGeom>
          <a:solidFill xmlns:a="http://schemas.openxmlformats.org/drawingml/2006/main">
            <a:srgbClr val="172033"/>
          </a:solidFill>
          <a:ln xmlns:a="http://schemas.openxmlformats.org/drawingml/2006/main" w="9525">
            <a:solidFill>
              <a:srgbClr val="C8D7DD"/>
            </a:solidFill>
            <a:prstDash val="solid"/>
          </a:ln>
        </p:spPr>
      </p:sp>
      <p:sp>
        <p:nvSpPr>
          <p:cNvPr id="114" name="">
            <a:extLst xmlns:a="http://schemas.openxmlformats.org/drawingml/2006/main">
              <a:ext uri="{FF2B5EF4-FFF2-40B4-BE49-F238E27FC236}">
                <a16:creationId xmlns:a16="http://schemas.microsoft.com/office/drawing/2014/main" id="{1BCB1603-CD8E-4BBD-B6B7-1CB1AD0C874A}"/>
              </a:ext>
            </a:extLst>
          </p:cNvPr>
          <p:cNvSpPr>
            <a:spLocks xmlns:a="http://schemas.openxmlformats.org/drawingml/2006/main" noGrp="1"/>
          </p:cNvSpPr>
          <p:nvPr/>
        </p:nvSpPr>
        <p:spPr>
          <a:xfrm xmlns:a="http://schemas.openxmlformats.org/drawingml/2006/main">
            <a:off x="695325" y="10115550"/>
            <a:ext cx="1200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1">
                <a:solidFill>
                  <a:srgbClr val="FFFFFF"/>
                </a:solidFill>
                <a:latin typeface="Arial"/>
                <a:ea typeface="Arial"/>
                <a:cs typeface="Arial"/>
              </a:defRPr>
            </a:pPr>
            <a:r>
              <a:rPr sz="765" b="1">
                <a:solidFill>
                  <a:srgbClr val="FFFFFF"/>
                </a:solidFill>
                <a:latin typeface="Arial"/>
                <a:ea typeface="Arial"/>
                <a:cs typeface="Arial"/>
              </a:rPr>
              <a:t>Segment</a:t>
            </a:r>
          </a:p>
        </p:txBody>
      </p:sp>
      <p:sp>
        <p:nvSpPr>
          <p:cNvPr id="115" name="">
            <a:extLst xmlns:a="http://schemas.openxmlformats.org/drawingml/2006/main">
              <a:ext uri="{FF2B5EF4-FFF2-40B4-BE49-F238E27FC236}">
                <a16:creationId xmlns:a16="http://schemas.microsoft.com/office/drawing/2014/main" id="{C250757A-19AE-4C25-B84A-B542BDC713A6}"/>
              </a:ext>
            </a:extLst>
          </p:cNvPr>
          <p:cNvSpPr>
            <a:spLocks xmlns:a="http://schemas.openxmlformats.org/drawingml/2006/main" noGrp="1"/>
          </p:cNvSpPr>
          <p:nvPr/>
        </p:nvSpPr>
        <p:spPr>
          <a:xfrm xmlns:a="http://schemas.openxmlformats.org/drawingml/2006/main">
            <a:off x="1943100" y="10077450"/>
            <a:ext cx="2381250" cy="323850"/>
          </a:xfrm>
          <a:prstGeom xmlns:a="http://schemas.openxmlformats.org/drawingml/2006/main" prst="rect">
            <a:avLst/>
          </a:prstGeom>
          <a:solidFill xmlns:a="http://schemas.openxmlformats.org/drawingml/2006/main">
            <a:srgbClr val="172033"/>
          </a:solidFill>
          <a:ln xmlns:a="http://schemas.openxmlformats.org/drawingml/2006/main" w="9525">
            <a:solidFill>
              <a:srgbClr val="C8D7DD"/>
            </a:solidFill>
            <a:prstDash val="solid"/>
          </a:ln>
        </p:spPr>
      </p:sp>
      <p:sp>
        <p:nvSpPr>
          <p:cNvPr id="116" name="">
            <a:extLst xmlns:a="http://schemas.openxmlformats.org/drawingml/2006/main">
              <a:ext uri="{FF2B5EF4-FFF2-40B4-BE49-F238E27FC236}">
                <a16:creationId xmlns:a16="http://schemas.microsoft.com/office/drawing/2014/main" id="{774A73CF-5FDC-4AE1-B7AF-803FA8ACD5B5}"/>
              </a:ext>
            </a:extLst>
          </p:cNvPr>
          <p:cNvSpPr>
            <a:spLocks xmlns:a="http://schemas.openxmlformats.org/drawingml/2006/main" noGrp="1"/>
          </p:cNvSpPr>
          <p:nvPr/>
        </p:nvSpPr>
        <p:spPr>
          <a:xfrm xmlns:a="http://schemas.openxmlformats.org/drawingml/2006/main">
            <a:off x="1990725" y="10115550"/>
            <a:ext cx="2286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1">
                <a:solidFill>
                  <a:srgbClr val="FFFFFF"/>
                </a:solidFill>
                <a:latin typeface="Arial"/>
                <a:ea typeface="Arial"/>
                <a:cs typeface="Arial"/>
              </a:defRPr>
            </a:pPr>
            <a:r>
              <a:rPr sz="765" b="1">
                <a:solidFill>
                  <a:srgbClr val="FFFFFF"/>
                </a:solidFill>
                <a:latin typeface="Arial"/>
                <a:ea typeface="Arial"/>
                <a:cs typeface="Arial"/>
              </a:rPr>
              <a:t>Đặc điểm hành vi</a:t>
            </a:r>
          </a:p>
        </p:txBody>
      </p:sp>
      <p:sp>
        <p:nvSpPr>
          <p:cNvPr id="117" name="">
            <a:extLst xmlns:a="http://schemas.openxmlformats.org/drawingml/2006/main">
              <a:ext uri="{FF2B5EF4-FFF2-40B4-BE49-F238E27FC236}">
                <a16:creationId xmlns:a16="http://schemas.microsoft.com/office/drawing/2014/main" id="{A29F833F-9FB5-4242-B82D-468A7B1E5892}"/>
              </a:ext>
            </a:extLst>
          </p:cNvPr>
          <p:cNvSpPr>
            <a:spLocks xmlns:a="http://schemas.openxmlformats.org/drawingml/2006/main" noGrp="1"/>
          </p:cNvSpPr>
          <p:nvPr/>
        </p:nvSpPr>
        <p:spPr>
          <a:xfrm xmlns:a="http://schemas.openxmlformats.org/drawingml/2006/main">
            <a:off x="4324350" y="10077450"/>
            <a:ext cx="723900" cy="323850"/>
          </a:xfrm>
          <a:prstGeom xmlns:a="http://schemas.openxmlformats.org/drawingml/2006/main" prst="rect">
            <a:avLst/>
          </a:prstGeom>
          <a:solidFill xmlns:a="http://schemas.openxmlformats.org/drawingml/2006/main">
            <a:srgbClr val="172033"/>
          </a:solidFill>
          <a:ln xmlns:a="http://schemas.openxmlformats.org/drawingml/2006/main" w="9525">
            <a:solidFill>
              <a:srgbClr val="C8D7DD"/>
            </a:solidFill>
            <a:prstDash val="solid"/>
          </a:ln>
        </p:spPr>
      </p:sp>
      <p:sp>
        <p:nvSpPr>
          <p:cNvPr id="118" name="">
            <a:extLst xmlns:a="http://schemas.openxmlformats.org/drawingml/2006/main">
              <a:ext uri="{FF2B5EF4-FFF2-40B4-BE49-F238E27FC236}">
                <a16:creationId xmlns:a16="http://schemas.microsoft.com/office/drawing/2014/main" id="{0B559CE9-5AF8-45DC-A181-E488F2980566}"/>
              </a:ext>
            </a:extLst>
          </p:cNvPr>
          <p:cNvSpPr>
            <a:spLocks xmlns:a="http://schemas.openxmlformats.org/drawingml/2006/main" noGrp="1"/>
          </p:cNvSpPr>
          <p:nvPr/>
        </p:nvSpPr>
        <p:spPr>
          <a:xfrm xmlns:a="http://schemas.openxmlformats.org/drawingml/2006/main">
            <a:off x="4371975" y="10115550"/>
            <a:ext cx="628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1">
                <a:solidFill>
                  <a:srgbClr val="FFFFFF"/>
                </a:solidFill>
                <a:latin typeface="Arial"/>
                <a:ea typeface="Arial"/>
                <a:cs typeface="Arial"/>
              </a:defRPr>
            </a:pPr>
            <a:r>
              <a:rPr sz="765" b="1">
                <a:solidFill>
                  <a:srgbClr val="FFFFFF"/>
                </a:solidFill>
                <a:latin typeface="Arial"/>
                <a:ea typeface="Arial"/>
                <a:cs typeface="Arial"/>
              </a:rPr>
              <a:t>ECR</a:t>
            </a:r>
          </a:p>
        </p:txBody>
      </p:sp>
      <p:sp>
        <p:nvSpPr>
          <p:cNvPr id="119" name="">
            <a:extLst xmlns:a="http://schemas.openxmlformats.org/drawingml/2006/main">
              <a:ext uri="{FF2B5EF4-FFF2-40B4-BE49-F238E27FC236}">
                <a16:creationId xmlns:a16="http://schemas.microsoft.com/office/drawing/2014/main" id="{D6F351C3-D29F-40FC-BB7A-C6D597BECDBB}"/>
              </a:ext>
            </a:extLst>
          </p:cNvPr>
          <p:cNvSpPr>
            <a:spLocks xmlns:a="http://schemas.openxmlformats.org/drawingml/2006/main" noGrp="1"/>
          </p:cNvSpPr>
          <p:nvPr/>
        </p:nvSpPr>
        <p:spPr>
          <a:xfrm xmlns:a="http://schemas.openxmlformats.org/drawingml/2006/main">
            <a:off x="5048250" y="10077450"/>
            <a:ext cx="819150" cy="323850"/>
          </a:xfrm>
          <a:prstGeom xmlns:a="http://schemas.openxmlformats.org/drawingml/2006/main" prst="rect">
            <a:avLst/>
          </a:prstGeom>
          <a:solidFill xmlns:a="http://schemas.openxmlformats.org/drawingml/2006/main">
            <a:srgbClr val="172033"/>
          </a:solidFill>
          <a:ln xmlns:a="http://schemas.openxmlformats.org/drawingml/2006/main" w="9525">
            <a:solidFill>
              <a:srgbClr val="C8D7DD"/>
            </a:solidFill>
            <a:prstDash val="solid"/>
          </a:ln>
        </p:spPr>
      </p:sp>
      <p:sp>
        <p:nvSpPr>
          <p:cNvPr id="120" name="">
            <a:extLst xmlns:a="http://schemas.openxmlformats.org/drawingml/2006/main">
              <a:ext uri="{FF2B5EF4-FFF2-40B4-BE49-F238E27FC236}">
                <a16:creationId xmlns:a16="http://schemas.microsoft.com/office/drawing/2014/main" id="{B4D19A80-EB9C-46A6-88E8-F78C69F0B685}"/>
              </a:ext>
            </a:extLst>
          </p:cNvPr>
          <p:cNvSpPr>
            <a:spLocks xmlns:a="http://schemas.openxmlformats.org/drawingml/2006/main" noGrp="1"/>
          </p:cNvSpPr>
          <p:nvPr/>
        </p:nvSpPr>
        <p:spPr>
          <a:xfrm xmlns:a="http://schemas.openxmlformats.org/drawingml/2006/main">
            <a:off x="5095875" y="10115550"/>
            <a:ext cx="723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1">
                <a:solidFill>
                  <a:srgbClr val="FFFFFF"/>
                </a:solidFill>
                <a:latin typeface="Arial"/>
                <a:ea typeface="Arial"/>
                <a:cs typeface="Arial"/>
              </a:defRPr>
            </a:pPr>
            <a:r>
              <a:rPr sz="765" b="1">
                <a:solidFill>
                  <a:srgbClr val="FFFFFF"/>
                </a:solidFill>
                <a:latin typeface="Arial"/>
                <a:ea typeface="Arial"/>
                <a:cs typeface="Arial"/>
              </a:rPr>
              <a:t>NET</a:t>
            </a:r>
          </a:p>
        </p:txBody>
      </p:sp>
      <p:sp>
        <p:nvSpPr>
          <p:cNvPr id="121" name="">
            <a:extLst xmlns:a="http://schemas.openxmlformats.org/drawingml/2006/main">
              <a:ext uri="{FF2B5EF4-FFF2-40B4-BE49-F238E27FC236}">
                <a16:creationId xmlns:a16="http://schemas.microsoft.com/office/drawing/2014/main" id="{DB64714D-ADFE-4E7B-9A89-D4075D22B670}"/>
              </a:ext>
            </a:extLst>
          </p:cNvPr>
          <p:cNvSpPr>
            <a:spLocks xmlns:a="http://schemas.openxmlformats.org/drawingml/2006/main" noGrp="1"/>
          </p:cNvSpPr>
          <p:nvPr/>
        </p:nvSpPr>
        <p:spPr>
          <a:xfrm xmlns:a="http://schemas.openxmlformats.org/drawingml/2006/main">
            <a:off x="5867400" y="10077450"/>
            <a:ext cx="952500" cy="323850"/>
          </a:xfrm>
          <a:prstGeom xmlns:a="http://schemas.openxmlformats.org/drawingml/2006/main" prst="rect">
            <a:avLst/>
          </a:prstGeom>
          <a:solidFill xmlns:a="http://schemas.openxmlformats.org/drawingml/2006/main">
            <a:srgbClr val="172033"/>
          </a:solidFill>
          <a:ln xmlns:a="http://schemas.openxmlformats.org/drawingml/2006/main" w="9525">
            <a:solidFill>
              <a:srgbClr val="C8D7DD"/>
            </a:solidFill>
            <a:prstDash val="solid"/>
          </a:ln>
        </p:spPr>
      </p:sp>
      <p:sp>
        <p:nvSpPr>
          <p:cNvPr id="122" name="">
            <a:extLst xmlns:a="http://schemas.openxmlformats.org/drawingml/2006/main">
              <a:ext uri="{FF2B5EF4-FFF2-40B4-BE49-F238E27FC236}">
                <a16:creationId xmlns:a16="http://schemas.microsoft.com/office/drawing/2014/main" id="{A8601892-BA38-4E65-B2A5-0A64BC784C1E}"/>
              </a:ext>
            </a:extLst>
          </p:cNvPr>
          <p:cNvSpPr>
            <a:spLocks xmlns:a="http://schemas.openxmlformats.org/drawingml/2006/main" noGrp="1"/>
          </p:cNvSpPr>
          <p:nvPr/>
        </p:nvSpPr>
        <p:spPr>
          <a:xfrm xmlns:a="http://schemas.openxmlformats.org/drawingml/2006/main">
            <a:off x="5915025" y="10115550"/>
            <a:ext cx="857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1">
                <a:solidFill>
                  <a:srgbClr val="FFFFFF"/>
                </a:solidFill>
                <a:latin typeface="Arial"/>
                <a:ea typeface="Arial"/>
                <a:cs typeface="Arial"/>
              </a:defRPr>
            </a:pPr>
            <a:r>
              <a:rPr sz="765" b="1">
                <a:solidFill>
                  <a:srgbClr val="FFFFFF"/>
                </a:solidFill>
                <a:latin typeface="Arial"/>
                <a:ea typeface="Arial"/>
                <a:cs typeface="Arial"/>
              </a:rPr>
              <a:t>Wasted</a:t>
            </a:r>
          </a:p>
        </p:txBody>
      </p:sp>
      <p:sp>
        <p:nvSpPr>
          <p:cNvPr id="123" name="">
            <a:extLst xmlns:a="http://schemas.openxmlformats.org/drawingml/2006/main">
              <a:ext uri="{FF2B5EF4-FFF2-40B4-BE49-F238E27FC236}">
                <a16:creationId xmlns:a16="http://schemas.microsoft.com/office/drawing/2014/main" id="{70D2DE6D-BAE8-4774-8498-2942C515D266}"/>
              </a:ext>
            </a:extLst>
          </p:cNvPr>
          <p:cNvSpPr>
            <a:spLocks xmlns:a="http://schemas.openxmlformats.org/drawingml/2006/main" noGrp="1"/>
          </p:cNvSpPr>
          <p:nvPr/>
        </p:nvSpPr>
        <p:spPr>
          <a:xfrm xmlns:a="http://schemas.openxmlformats.org/drawingml/2006/main">
            <a:off x="6819900" y="10077450"/>
            <a:ext cx="1143000" cy="323850"/>
          </a:xfrm>
          <a:prstGeom xmlns:a="http://schemas.openxmlformats.org/drawingml/2006/main" prst="rect">
            <a:avLst/>
          </a:prstGeom>
          <a:solidFill xmlns:a="http://schemas.openxmlformats.org/drawingml/2006/main">
            <a:srgbClr val="172033"/>
          </a:solidFill>
          <a:ln xmlns:a="http://schemas.openxmlformats.org/drawingml/2006/main" w="9525">
            <a:solidFill>
              <a:srgbClr val="C8D7DD"/>
            </a:solidFill>
            <a:prstDash val="solid"/>
          </a:ln>
        </p:spPr>
      </p:sp>
      <p:sp>
        <p:nvSpPr>
          <p:cNvPr id="124" name="">
            <a:extLst xmlns:a="http://schemas.openxmlformats.org/drawingml/2006/main">
              <a:ext uri="{FF2B5EF4-FFF2-40B4-BE49-F238E27FC236}">
                <a16:creationId xmlns:a16="http://schemas.microsoft.com/office/drawing/2014/main" id="{43235046-0B18-4181-BFB7-72B3FF0E9D27}"/>
              </a:ext>
            </a:extLst>
          </p:cNvPr>
          <p:cNvSpPr>
            <a:spLocks xmlns:a="http://schemas.openxmlformats.org/drawingml/2006/main" noGrp="1"/>
          </p:cNvSpPr>
          <p:nvPr/>
        </p:nvSpPr>
        <p:spPr>
          <a:xfrm xmlns:a="http://schemas.openxmlformats.org/drawingml/2006/main">
            <a:off x="6867525" y="10115550"/>
            <a:ext cx="1047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1">
                <a:solidFill>
                  <a:srgbClr val="FFFFFF"/>
                </a:solidFill>
                <a:latin typeface="Arial"/>
                <a:ea typeface="Arial"/>
                <a:cs typeface="Arial"/>
              </a:defRPr>
            </a:pPr>
            <a:r>
              <a:rPr sz="765" b="1">
                <a:solidFill>
                  <a:srgbClr val="FFFFFF"/>
                </a:solidFill>
                <a:latin typeface="Arial"/>
                <a:ea typeface="Arial"/>
                <a:cs typeface="Arial"/>
              </a:rPr>
              <a:t>Risk</a:t>
            </a:r>
          </a:p>
        </p:txBody>
      </p:sp>
      <p:sp>
        <p:nvSpPr>
          <p:cNvPr id="125" name="">
            <a:extLst xmlns:a="http://schemas.openxmlformats.org/drawingml/2006/main">
              <a:ext uri="{FF2B5EF4-FFF2-40B4-BE49-F238E27FC236}">
                <a16:creationId xmlns:a16="http://schemas.microsoft.com/office/drawing/2014/main" id="{857E502E-B025-4360-978B-FCFD43ACE32F}"/>
              </a:ext>
            </a:extLst>
          </p:cNvPr>
          <p:cNvSpPr>
            <a:spLocks xmlns:a="http://schemas.openxmlformats.org/drawingml/2006/main" noGrp="1"/>
          </p:cNvSpPr>
          <p:nvPr/>
        </p:nvSpPr>
        <p:spPr>
          <a:xfrm xmlns:a="http://schemas.openxmlformats.org/drawingml/2006/main">
            <a:off x="7962900" y="10077450"/>
            <a:ext cx="2076450" cy="323850"/>
          </a:xfrm>
          <a:prstGeom xmlns:a="http://schemas.openxmlformats.org/drawingml/2006/main" prst="rect">
            <a:avLst/>
          </a:prstGeom>
          <a:solidFill xmlns:a="http://schemas.openxmlformats.org/drawingml/2006/main">
            <a:srgbClr val="172033"/>
          </a:solidFill>
          <a:ln xmlns:a="http://schemas.openxmlformats.org/drawingml/2006/main" w="9525">
            <a:solidFill>
              <a:srgbClr val="C8D7DD"/>
            </a:solidFill>
            <a:prstDash val="solid"/>
          </a:ln>
        </p:spPr>
      </p:sp>
      <p:sp>
        <p:nvSpPr>
          <p:cNvPr id="126" name="">
            <a:extLst xmlns:a="http://schemas.openxmlformats.org/drawingml/2006/main">
              <a:ext uri="{FF2B5EF4-FFF2-40B4-BE49-F238E27FC236}">
                <a16:creationId xmlns:a16="http://schemas.microsoft.com/office/drawing/2014/main" id="{7F74D031-BEB7-46F0-8A4C-1CF9B6D3C1F5}"/>
              </a:ext>
            </a:extLst>
          </p:cNvPr>
          <p:cNvSpPr>
            <a:spLocks xmlns:a="http://schemas.openxmlformats.org/drawingml/2006/main" noGrp="1"/>
          </p:cNvSpPr>
          <p:nvPr/>
        </p:nvSpPr>
        <p:spPr>
          <a:xfrm xmlns:a="http://schemas.openxmlformats.org/drawingml/2006/main">
            <a:off x="8010525" y="10115550"/>
            <a:ext cx="1981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65" b="1">
                <a:solidFill>
                  <a:srgbClr val="FFFFFF"/>
                </a:solidFill>
                <a:latin typeface="Arial"/>
                <a:ea typeface="Arial"/>
                <a:cs typeface="Arial"/>
              </a:defRPr>
            </a:pPr>
            <a:r>
              <a:rPr sz="765" b="1">
                <a:solidFill>
                  <a:srgbClr val="FFFFFF"/>
                </a:solidFill>
                <a:latin typeface="Arial"/>
                <a:ea typeface="Arial"/>
                <a:cs typeface="Arial"/>
              </a:rPr>
              <a:t>Diễn giải</a:t>
            </a:r>
          </a:p>
        </p:txBody>
      </p:sp>
      <p:sp>
        <p:nvSpPr>
          <p:cNvPr id="127" name="">
            <a:extLst xmlns:a="http://schemas.openxmlformats.org/drawingml/2006/main">
              <a:ext uri="{FF2B5EF4-FFF2-40B4-BE49-F238E27FC236}">
                <a16:creationId xmlns:a16="http://schemas.microsoft.com/office/drawing/2014/main" id="{464C3BA5-0F0A-4690-A9CF-2688FE916A88}"/>
              </a:ext>
            </a:extLst>
          </p:cNvPr>
          <p:cNvSpPr>
            <a:spLocks xmlns:a="http://schemas.openxmlformats.org/drawingml/2006/main" noGrp="1"/>
          </p:cNvSpPr>
          <p:nvPr/>
        </p:nvSpPr>
        <p:spPr>
          <a:xfrm xmlns:a="http://schemas.openxmlformats.org/drawingml/2006/main">
            <a:off x="647700" y="10401300"/>
            <a:ext cx="1295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28" name="">
            <a:extLst xmlns:a="http://schemas.openxmlformats.org/drawingml/2006/main">
              <a:ext uri="{FF2B5EF4-FFF2-40B4-BE49-F238E27FC236}">
                <a16:creationId xmlns:a16="http://schemas.microsoft.com/office/drawing/2014/main" id="{1DE49A0C-6CF8-4D3C-80E4-A89B0EFCAC4B}"/>
              </a:ext>
            </a:extLst>
          </p:cNvPr>
          <p:cNvSpPr>
            <a:spLocks xmlns:a="http://schemas.openxmlformats.org/drawingml/2006/main" noGrp="1"/>
          </p:cNvSpPr>
          <p:nvPr/>
        </p:nvSpPr>
        <p:spPr>
          <a:xfrm xmlns:a="http://schemas.openxmlformats.org/drawingml/2006/main">
            <a:off x="695325" y="10439400"/>
            <a:ext cx="12001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720" b="1">
                <a:solidFill>
                  <a:srgbClr val="2E9D65"/>
                </a:solidFill>
                <a:latin typeface="Arial"/>
                <a:ea typeface="Arial"/>
                <a:cs typeface="Arial"/>
              </a:defRPr>
            </a:pPr>
            <a:r>
              <a:rPr sz="720" b="1">
                <a:solidFill>
                  <a:srgbClr val="2E9D65"/>
                </a:solidFill>
                <a:latin typeface="Arial"/>
                <a:ea typeface="Arial"/>
                <a:cs typeface="Arial"/>
              </a:rPr>
              <a:t>Efficient User</a:t>
            </a:r>
          </a:p>
        </p:txBody>
      </p:sp>
      <p:sp>
        <p:nvSpPr>
          <p:cNvPr id="129" name="">
            <a:extLst xmlns:a="http://schemas.openxmlformats.org/drawingml/2006/main">
              <a:ext uri="{FF2B5EF4-FFF2-40B4-BE49-F238E27FC236}">
                <a16:creationId xmlns:a16="http://schemas.microsoft.com/office/drawing/2014/main" id="{29314373-DEC3-4326-965E-37E48192B032}"/>
              </a:ext>
            </a:extLst>
          </p:cNvPr>
          <p:cNvSpPr>
            <a:spLocks xmlns:a="http://schemas.openxmlformats.org/drawingml/2006/main" noGrp="1"/>
          </p:cNvSpPr>
          <p:nvPr/>
        </p:nvSpPr>
        <p:spPr>
          <a:xfrm xmlns:a="http://schemas.openxmlformats.org/drawingml/2006/main">
            <a:off x="1943100" y="10401300"/>
            <a:ext cx="238125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30" name="">
            <a:extLst xmlns:a="http://schemas.openxmlformats.org/drawingml/2006/main">
              <a:ext uri="{FF2B5EF4-FFF2-40B4-BE49-F238E27FC236}">
                <a16:creationId xmlns:a16="http://schemas.microsoft.com/office/drawing/2014/main" id="{2D8C0ADB-E46C-4849-9C15-3C23F16CCCBE}"/>
              </a:ext>
            </a:extLst>
          </p:cNvPr>
          <p:cNvSpPr>
            <a:spLocks xmlns:a="http://schemas.openxmlformats.org/drawingml/2006/main" noGrp="1"/>
          </p:cNvSpPr>
          <p:nvPr/>
        </p:nvSpPr>
        <p:spPr>
          <a:xfrm xmlns:a="http://schemas.openxmlformats.org/drawingml/2006/main">
            <a:off x="1990725" y="10439400"/>
            <a:ext cx="2286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682" b="0">
                <a:solidFill>
                  <a:srgbClr val="0F172A"/>
                </a:solidFill>
                <a:latin typeface="Arial"/>
                <a:ea typeface="Arial"/>
                <a:cs typeface="Arial"/>
              </a:defRPr>
            </a:pPr>
            <a:r>
              <a:rPr sz="682" b="0">
                <a:solidFill>
                  <a:srgbClr val="0F172A"/>
                </a:solidFill>
                <a:latin typeface="Arial"/>
                <a:ea typeface="Arial"/>
                <a:cs typeface="Arial"/>
              </a:rPr>
              <a:t>Chi tiêu đúng danh mục, không vượt ngân sách, ít phát sinh phí/lãi</a:t>
            </a:r>
          </a:p>
        </p:txBody>
      </p:sp>
      <p:sp>
        <p:nvSpPr>
          <p:cNvPr id="131" name="">
            <a:extLst xmlns:a="http://schemas.openxmlformats.org/drawingml/2006/main">
              <a:ext uri="{FF2B5EF4-FFF2-40B4-BE49-F238E27FC236}">
                <a16:creationId xmlns:a16="http://schemas.microsoft.com/office/drawing/2014/main" id="{D3098A05-EFE7-4626-8A0A-844D7BA11478}"/>
              </a:ext>
            </a:extLst>
          </p:cNvPr>
          <p:cNvSpPr>
            <a:spLocks xmlns:a="http://schemas.openxmlformats.org/drawingml/2006/main" noGrp="1"/>
          </p:cNvSpPr>
          <p:nvPr/>
        </p:nvSpPr>
        <p:spPr>
          <a:xfrm xmlns:a="http://schemas.openxmlformats.org/drawingml/2006/main">
            <a:off x="4324350" y="10401300"/>
            <a:ext cx="72390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32" name="">
            <a:extLst xmlns:a="http://schemas.openxmlformats.org/drawingml/2006/main">
              <a:ext uri="{FF2B5EF4-FFF2-40B4-BE49-F238E27FC236}">
                <a16:creationId xmlns:a16="http://schemas.microsoft.com/office/drawing/2014/main" id="{56BC96C7-5028-4B74-881E-4C88B7020D49}"/>
              </a:ext>
            </a:extLst>
          </p:cNvPr>
          <p:cNvSpPr>
            <a:spLocks xmlns:a="http://schemas.openxmlformats.org/drawingml/2006/main" noGrp="1"/>
          </p:cNvSpPr>
          <p:nvPr/>
        </p:nvSpPr>
        <p:spPr>
          <a:xfrm xmlns:a="http://schemas.openxmlformats.org/drawingml/2006/main">
            <a:off x="4371975" y="10439400"/>
            <a:ext cx="628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3.8%</a:t>
            </a:r>
          </a:p>
        </p:txBody>
      </p:sp>
      <p:sp>
        <p:nvSpPr>
          <p:cNvPr id="133" name="">
            <a:extLst xmlns:a="http://schemas.openxmlformats.org/drawingml/2006/main">
              <a:ext uri="{FF2B5EF4-FFF2-40B4-BE49-F238E27FC236}">
                <a16:creationId xmlns:a16="http://schemas.microsoft.com/office/drawing/2014/main" id="{75FC4EB0-C8AC-4229-97BF-AC6FC29962F4}"/>
              </a:ext>
            </a:extLst>
          </p:cNvPr>
          <p:cNvSpPr>
            <a:spLocks xmlns:a="http://schemas.openxmlformats.org/drawingml/2006/main" noGrp="1"/>
          </p:cNvSpPr>
          <p:nvPr/>
        </p:nvSpPr>
        <p:spPr>
          <a:xfrm xmlns:a="http://schemas.openxmlformats.org/drawingml/2006/main">
            <a:off x="5048250" y="10401300"/>
            <a:ext cx="81915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34" name="">
            <a:extLst xmlns:a="http://schemas.openxmlformats.org/drawingml/2006/main">
              <a:ext uri="{FF2B5EF4-FFF2-40B4-BE49-F238E27FC236}">
                <a16:creationId xmlns:a16="http://schemas.microsoft.com/office/drawing/2014/main" id="{EEF65232-D0DC-447A-9609-471D7954EED2}"/>
              </a:ext>
            </a:extLst>
          </p:cNvPr>
          <p:cNvSpPr>
            <a:spLocks xmlns:a="http://schemas.openxmlformats.org/drawingml/2006/main" noGrp="1"/>
          </p:cNvSpPr>
          <p:nvPr/>
        </p:nvSpPr>
        <p:spPr>
          <a:xfrm xmlns:a="http://schemas.openxmlformats.org/drawingml/2006/main">
            <a:off x="5095875" y="10439400"/>
            <a:ext cx="723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+320k</a:t>
            </a:r>
          </a:p>
        </p:txBody>
      </p:sp>
      <p:sp>
        <p:nvSpPr>
          <p:cNvPr id="135" name="">
            <a:extLst xmlns:a="http://schemas.openxmlformats.org/drawingml/2006/main">
              <a:ext uri="{FF2B5EF4-FFF2-40B4-BE49-F238E27FC236}">
                <a16:creationId xmlns:a16="http://schemas.microsoft.com/office/drawing/2014/main" id="{41432CFC-F0F6-4FBC-93CF-A4FEE77DBF15}"/>
              </a:ext>
            </a:extLst>
          </p:cNvPr>
          <p:cNvSpPr>
            <a:spLocks xmlns:a="http://schemas.openxmlformats.org/drawingml/2006/main" noGrp="1"/>
          </p:cNvSpPr>
          <p:nvPr/>
        </p:nvSpPr>
        <p:spPr>
          <a:xfrm xmlns:a="http://schemas.openxmlformats.org/drawingml/2006/main">
            <a:off x="5867400" y="10401300"/>
            <a:ext cx="95250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36" name="">
            <a:extLst xmlns:a="http://schemas.openxmlformats.org/drawingml/2006/main">
              <a:ext uri="{FF2B5EF4-FFF2-40B4-BE49-F238E27FC236}">
                <a16:creationId xmlns:a16="http://schemas.microsoft.com/office/drawing/2014/main" id="{F38457B5-1AB8-4186-A697-2899F030113A}"/>
              </a:ext>
            </a:extLst>
          </p:cNvPr>
          <p:cNvSpPr>
            <a:spLocks xmlns:a="http://schemas.openxmlformats.org/drawingml/2006/main" noGrp="1"/>
          </p:cNvSpPr>
          <p:nvPr/>
        </p:nvSpPr>
        <p:spPr>
          <a:xfrm xmlns:a="http://schemas.openxmlformats.org/drawingml/2006/main">
            <a:off x="5915025" y="10439400"/>
            <a:ext cx="857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Thấp</a:t>
            </a:r>
          </a:p>
        </p:txBody>
      </p:sp>
      <p:sp>
        <p:nvSpPr>
          <p:cNvPr id="137" name="">
            <a:extLst xmlns:a="http://schemas.openxmlformats.org/drawingml/2006/main">
              <a:ext uri="{FF2B5EF4-FFF2-40B4-BE49-F238E27FC236}">
                <a16:creationId xmlns:a16="http://schemas.microsoft.com/office/drawing/2014/main" id="{07F69CDF-9DB7-4D5B-80A3-A2DDDAEBAEDF}"/>
              </a:ext>
            </a:extLst>
          </p:cNvPr>
          <p:cNvSpPr>
            <a:spLocks xmlns:a="http://schemas.openxmlformats.org/drawingml/2006/main" noGrp="1"/>
          </p:cNvSpPr>
          <p:nvPr/>
        </p:nvSpPr>
        <p:spPr>
          <a:xfrm xmlns:a="http://schemas.openxmlformats.org/drawingml/2006/main">
            <a:off x="6819900" y="10401300"/>
            <a:ext cx="114300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38" name="">
            <a:extLst xmlns:a="http://schemas.openxmlformats.org/drawingml/2006/main">
              <a:ext uri="{FF2B5EF4-FFF2-40B4-BE49-F238E27FC236}">
                <a16:creationId xmlns:a16="http://schemas.microsoft.com/office/drawing/2014/main" id="{E53A66A0-F69D-438B-AA18-E9EFDDBD5625}"/>
              </a:ext>
            </a:extLst>
          </p:cNvPr>
          <p:cNvSpPr>
            <a:spLocks xmlns:a="http://schemas.openxmlformats.org/drawingml/2006/main" noGrp="1"/>
          </p:cNvSpPr>
          <p:nvPr/>
        </p:nvSpPr>
        <p:spPr>
          <a:xfrm xmlns:a="http://schemas.openxmlformats.org/drawingml/2006/main">
            <a:off x="6867525" y="10439400"/>
            <a:ext cx="1047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Thấp</a:t>
            </a:r>
          </a:p>
        </p:txBody>
      </p:sp>
      <p:sp>
        <p:nvSpPr>
          <p:cNvPr id="139" name="">
            <a:extLst xmlns:a="http://schemas.openxmlformats.org/drawingml/2006/main">
              <a:ext uri="{FF2B5EF4-FFF2-40B4-BE49-F238E27FC236}">
                <a16:creationId xmlns:a16="http://schemas.microsoft.com/office/drawing/2014/main" id="{D34F94BE-73F6-4483-AA35-E947821DDB8C}"/>
              </a:ext>
            </a:extLst>
          </p:cNvPr>
          <p:cNvSpPr>
            <a:spLocks xmlns:a="http://schemas.openxmlformats.org/drawingml/2006/main" noGrp="1"/>
          </p:cNvSpPr>
          <p:nvPr/>
        </p:nvSpPr>
        <p:spPr>
          <a:xfrm xmlns:a="http://schemas.openxmlformats.org/drawingml/2006/main">
            <a:off x="7962900" y="10401300"/>
            <a:ext cx="207645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40" name="">
            <a:extLst xmlns:a="http://schemas.openxmlformats.org/drawingml/2006/main">
              <a:ext uri="{FF2B5EF4-FFF2-40B4-BE49-F238E27FC236}">
                <a16:creationId xmlns:a16="http://schemas.microsoft.com/office/drawing/2014/main" id="{E2022BA5-2936-4BEE-B37D-32F3C8E0E348}"/>
              </a:ext>
            </a:extLst>
          </p:cNvPr>
          <p:cNvSpPr>
            <a:spLocks xmlns:a="http://schemas.openxmlformats.org/drawingml/2006/main" noGrp="1"/>
          </p:cNvSpPr>
          <p:nvPr/>
        </p:nvSpPr>
        <p:spPr>
          <a:xfrm xmlns:a="http://schemas.openxmlformats.org/drawingml/2006/main">
            <a:off x="8010525" y="10439400"/>
            <a:ext cx="198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682" b="0">
                <a:solidFill>
                  <a:srgbClr val="0F172A"/>
                </a:solidFill>
                <a:latin typeface="Arial"/>
                <a:ea typeface="Arial"/>
                <a:cs typeface="Arial"/>
              </a:defRPr>
            </a:pPr>
            <a:r>
              <a:rPr sz="682" b="0">
                <a:solidFill>
                  <a:srgbClr val="0F172A"/>
                </a:solidFill>
                <a:latin typeface="Arial"/>
                <a:ea typeface="Arial"/>
                <a:cs typeface="Arial"/>
              </a:rPr>
              <a:t>Cashback thật sự có lợi</a:t>
            </a:r>
          </a:p>
        </p:txBody>
      </p:sp>
      <p:sp>
        <p:nvSpPr>
          <p:cNvPr id="141" name="">
            <a:extLst xmlns:a="http://schemas.openxmlformats.org/drawingml/2006/main">
              <a:ext uri="{FF2B5EF4-FFF2-40B4-BE49-F238E27FC236}">
                <a16:creationId xmlns:a16="http://schemas.microsoft.com/office/drawing/2014/main" id="{50D126F7-3E83-47C3-AB8B-4C6A0C90BF7F}"/>
              </a:ext>
            </a:extLst>
          </p:cNvPr>
          <p:cNvSpPr>
            <a:spLocks xmlns:a="http://schemas.openxmlformats.org/drawingml/2006/main" noGrp="1"/>
          </p:cNvSpPr>
          <p:nvPr/>
        </p:nvSpPr>
        <p:spPr>
          <a:xfrm xmlns:a="http://schemas.openxmlformats.org/drawingml/2006/main">
            <a:off x="647700" y="10858500"/>
            <a:ext cx="1295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42" name="">
            <a:extLst xmlns:a="http://schemas.openxmlformats.org/drawingml/2006/main">
              <a:ext uri="{FF2B5EF4-FFF2-40B4-BE49-F238E27FC236}">
                <a16:creationId xmlns:a16="http://schemas.microsoft.com/office/drawing/2014/main" id="{D35CC64F-C454-4CB8-9232-82FC4EFC01CD}"/>
              </a:ext>
            </a:extLst>
          </p:cNvPr>
          <p:cNvSpPr>
            <a:spLocks xmlns:a="http://schemas.openxmlformats.org/drawingml/2006/main" noGrp="1"/>
          </p:cNvSpPr>
          <p:nvPr/>
        </p:nvSpPr>
        <p:spPr>
          <a:xfrm xmlns:a="http://schemas.openxmlformats.org/drawingml/2006/main">
            <a:off x="695325" y="10896600"/>
            <a:ext cx="12001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720" b="1">
                <a:solidFill>
                  <a:srgbClr val="E0523F"/>
                </a:solidFill>
                <a:latin typeface="Arial"/>
                <a:ea typeface="Arial"/>
                <a:cs typeface="Arial"/>
              </a:defRPr>
            </a:pPr>
            <a:r>
              <a:rPr sz="720" b="1">
                <a:solidFill>
                  <a:srgbClr val="E0523F"/>
                </a:solidFill>
                <a:latin typeface="Arial"/>
                <a:ea typeface="Arial"/>
                <a:cs typeface="Arial"/>
              </a:rPr>
              <a:t>Overspender</a:t>
            </a:r>
          </a:p>
        </p:txBody>
      </p:sp>
      <p:sp>
        <p:nvSpPr>
          <p:cNvPr id="143" name="">
            <a:extLst xmlns:a="http://schemas.openxmlformats.org/drawingml/2006/main">
              <a:ext uri="{FF2B5EF4-FFF2-40B4-BE49-F238E27FC236}">
                <a16:creationId xmlns:a16="http://schemas.microsoft.com/office/drawing/2014/main" id="{54069802-7D48-4597-9A17-64BC131D1FD6}"/>
              </a:ext>
            </a:extLst>
          </p:cNvPr>
          <p:cNvSpPr>
            <a:spLocks xmlns:a="http://schemas.openxmlformats.org/drawingml/2006/main" noGrp="1"/>
          </p:cNvSpPr>
          <p:nvPr/>
        </p:nvSpPr>
        <p:spPr>
          <a:xfrm xmlns:a="http://schemas.openxmlformats.org/drawingml/2006/main">
            <a:off x="1943100" y="10858500"/>
            <a:ext cx="2381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44" name="">
            <a:extLst xmlns:a="http://schemas.openxmlformats.org/drawingml/2006/main">
              <a:ext uri="{FF2B5EF4-FFF2-40B4-BE49-F238E27FC236}">
                <a16:creationId xmlns:a16="http://schemas.microsoft.com/office/drawing/2014/main" id="{01DD54E0-AC32-4F12-99AE-161F2116913D}"/>
              </a:ext>
            </a:extLst>
          </p:cNvPr>
          <p:cNvSpPr>
            <a:spLocks xmlns:a="http://schemas.openxmlformats.org/drawingml/2006/main" noGrp="1"/>
          </p:cNvSpPr>
          <p:nvPr/>
        </p:nvSpPr>
        <p:spPr>
          <a:xfrm xmlns:a="http://schemas.openxmlformats.org/drawingml/2006/main">
            <a:off x="1990725" y="10896600"/>
            <a:ext cx="2286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682" b="0">
                <a:solidFill>
                  <a:srgbClr val="0F172A"/>
                </a:solidFill>
                <a:latin typeface="Arial"/>
                <a:ea typeface="Arial"/>
                <a:cs typeface="Arial"/>
              </a:defRPr>
            </a:pPr>
            <a:r>
              <a:rPr sz="682" b="0">
                <a:solidFill>
                  <a:srgbClr val="0F172A"/>
                </a:solidFill>
                <a:latin typeface="Arial"/>
                <a:ea typeface="Arial"/>
                <a:cs typeface="Arial"/>
              </a:rPr>
              <a:t>Tổng cashback cao nhưng chi tiêu vượt ngân sách hoặc trả chậm</a:t>
            </a:r>
          </a:p>
        </p:txBody>
      </p:sp>
      <p:sp>
        <p:nvSpPr>
          <p:cNvPr id="145" name="">
            <a:extLst xmlns:a="http://schemas.openxmlformats.org/drawingml/2006/main">
              <a:ext uri="{FF2B5EF4-FFF2-40B4-BE49-F238E27FC236}">
                <a16:creationId xmlns:a16="http://schemas.microsoft.com/office/drawing/2014/main" id="{DF4F69EE-808D-4C3F-B3AB-A8EF3907808A}"/>
              </a:ext>
            </a:extLst>
          </p:cNvPr>
          <p:cNvSpPr>
            <a:spLocks xmlns:a="http://schemas.openxmlformats.org/drawingml/2006/main" noGrp="1"/>
          </p:cNvSpPr>
          <p:nvPr/>
        </p:nvSpPr>
        <p:spPr>
          <a:xfrm xmlns:a="http://schemas.openxmlformats.org/drawingml/2006/main">
            <a:off x="4324350" y="10858500"/>
            <a:ext cx="7239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46" name="">
            <a:extLst xmlns:a="http://schemas.openxmlformats.org/drawingml/2006/main">
              <a:ext uri="{FF2B5EF4-FFF2-40B4-BE49-F238E27FC236}">
                <a16:creationId xmlns:a16="http://schemas.microsoft.com/office/drawing/2014/main" id="{70538409-35B1-4F7E-8869-D964D6343486}"/>
              </a:ext>
            </a:extLst>
          </p:cNvPr>
          <p:cNvSpPr>
            <a:spLocks xmlns:a="http://schemas.openxmlformats.org/drawingml/2006/main" noGrp="1"/>
          </p:cNvSpPr>
          <p:nvPr/>
        </p:nvSpPr>
        <p:spPr>
          <a:xfrm xmlns:a="http://schemas.openxmlformats.org/drawingml/2006/main">
            <a:off x="4371975" y="10896600"/>
            <a:ext cx="628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2.1%</a:t>
            </a:r>
          </a:p>
        </p:txBody>
      </p:sp>
      <p:sp>
        <p:nvSpPr>
          <p:cNvPr id="147" name="">
            <a:extLst xmlns:a="http://schemas.openxmlformats.org/drawingml/2006/main">
              <a:ext uri="{FF2B5EF4-FFF2-40B4-BE49-F238E27FC236}">
                <a16:creationId xmlns:a16="http://schemas.microsoft.com/office/drawing/2014/main" id="{DFE417A4-948C-4A7F-AFBA-1793350E85C9}"/>
              </a:ext>
            </a:extLst>
          </p:cNvPr>
          <p:cNvSpPr>
            <a:spLocks xmlns:a="http://schemas.openxmlformats.org/drawingml/2006/main" noGrp="1"/>
          </p:cNvSpPr>
          <p:nvPr/>
        </p:nvSpPr>
        <p:spPr>
          <a:xfrm xmlns:a="http://schemas.openxmlformats.org/drawingml/2006/main">
            <a:off x="5048250" y="10858500"/>
            <a:ext cx="8191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48" name="">
            <a:extLst xmlns:a="http://schemas.openxmlformats.org/drawingml/2006/main">
              <a:ext uri="{FF2B5EF4-FFF2-40B4-BE49-F238E27FC236}">
                <a16:creationId xmlns:a16="http://schemas.microsoft.com/office/drawing/2014/main" id="{4F198564-9442-4952-BB11-8FEBB5322D33}"/>
              </a:ext>
            </a:extLst>
          </p:cNvPr>
          <p:cNvSpPr>
            <a:spLocks xmlns:a="http://schemas.openxmlformats.org/drawingml/2006/main" noGrp="1"/>
          </p:cNvSpPr>
          <p:nvPr/>
        </p:nvSpPr>
        <p:spPr>
          <a:xfrm xmlns:a="http://schemas.openxmlformats.org/drawingml/2006/main">
            <a:off x="5095875" y="10896600"/>
            <a:ext cx="723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-80k</a:t>
            </a:r>
          </a:p>
        </p:txBody>
      </p:sp>
      <p:sp>
        <p:nvSpPr>
          <p:cNvPr id="149" name="">
            <a:extLst xmlns:a="http://schemas.openxmlformats.org/drawingml/2006/main">
              <a:ext uri="{FF2B5EF4-FFF2-40B4-BE49-F238E27FC236}">
                <a16:creationId xmlns:a16="http://schemas.microsoft.com/office/drawing/2014/main" id="{45C0C519-8FD4-4540-B7E5-363DEBE62AAE}"/>
              </a:ext>
            </a:extLst>
          </p:cNvPr>
          <p:cNvSpPr>
            <a:spLocks xmlns:a="http://schemas.openxmlformats.org/drawingml/2006/main" noGrp="1"/>
          </p:cNvSpPr>
          <p:nvPr/>
        </p:nvSpPr>
        <p:spPr>
          <a:xfrm xmlns:a="http://schemas.openxmlformats.org/drawingml/2006/main">
            <a:off x="5867400" y="10858500"/>
            <a:ext cx="9525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50" name="">
            <a:extLst xmlns:a="http://schemas.openxmlformats.org/drawingml/2006/main">
              <a:ext uri="{FF2B5EF4-FFF2-40B4-BE49-F238E27FC236}">
                <a16:creationId xmlns:a16="http://schemas.microsoft.com/office/drawing/2014/main" id="{281110B3-D5B5-4982-9331-C508CC5F5E8F}"/>
              </a:ext>
            </a:extLst>
          </p:cNvPr>
          <p:cNvSpPr>
            <a:spLocks xmlns:a="http://schemas.openxmlformats.org/drawingml/2006/main" noGrp="1"/>
          </p:cNvSpPr>
          <p:nvPr/>
        </p:nvSpPr>
        <p:spPr>
          <a:xfrm xmlns:a="http://schemas.openxmlformats.org/drawingml/2006/main">
            <a:off x="5915025" y="10896600"/>
            <a:ext cx="857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TB</a:t>
            </a:r>
          </a:p>
        </p:txBody>
      </p:sp>
      <p:sp>
        <p:nvSpPr>
          <p:cNvPr id="151" name="">
            <a:extLst xmlns:a="http://schemas.openxmlformats.org/drawingml/2006/main">
              <a:ext uri="{FF2B5EF4-FFF2-40B4-BE49-F238E27FC236}">
                <a16:creationId xmlns:a16="http://schemas.microsoft.com/office/drawing/2014/main" id="{6B0093C7-F83B-4BCC-A2E1-E8FEFF6D3332}"/>
              </a:ext>
            </a:extLst>
          </p:cNvPr>
          <p:cNvSpPr>
            <a:spLocks xmlns:a="http://schemas.openxmlformats.org/drawingml/2006/main" noGrp="1"/>
          </p:cNvSpPr>
          <p:nvPr/>
        </p:nvSpPr>
        <p:spPr>
          <a:xfrm xmlns:a="http://schemas.openxmlformats.org/drawingml/2006/main">
            <a:off x="6819900" y="10858500"/>
            <a:ext cx="1143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52" name="">
            <a:extLst xmlns:a="http://schemas.openxmlformats.org/drawingml/2006/main">
              <a:ext uri="{FF2B5EF4-FFF2-40B4-BE49-F238E27FC236}">
                <a16:creationId xmlns:a16="http://schemas.microsoft.com/office/drawing/2014/main" id="{5FA0A27E-BB74-480A-A0B9-967A18520F72}"/>
              </a:ext>
            </a:extLst>
          </p:cNvPr>
          <p:cNvSpPr>
            <a:spLocks xmlns:a="http://schemas.openxmlformats.org/drawingml/2006/main" noGrp="1"/>
          </p:cNvSpPr>
          <p:nvPr/>
        </p:nvSpPr>
        <p:spPr>
          <a:xfrm xmlns:a="http://schemas.openxmlformats.org/drawingml/2006/main">
            <a:off x="6867525" y="10896600"/>
            <a:ext cx="1047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Cao</a:t>
            </a:r>
          </a:p>
        </p:txBody>
      </p:sp>
      <p:sp>
        <p:nvSpPr>
          <p:cNvPr id="153" name="">
            <a:extLst xmlns:a="http://schemas.openxmlformats.org/drawingml/2006/main">
              <a:ext uri="{FF2B5EF4-FFF2-40B4-BE49-F238E27FC236}">
                <a16:creationId xmlns:a16="http://schemas.microsoft.com/office/drawing/2014/main" id="{578471F8-05E5-44C0-9161-C949A2EB2FE3}"/>
              </a:ext>
            </a:extLst>
          </p:cNvPr>
          <p:cNvSpPr>
            <a:spLocks xmlns:a="http://schemas.openxmlformats.org/drawingml/2006/main" noGrp="1"/>
          </p:cNvSpPr>
          <p:nvPr/>
        </p:nvSpPr>
        <p:spPr>
          <a:xfrm xmlns:a="http://schemas.openxmlformats.org/drawingml/2006/main">
            <a:off x="7962900" y="10858500"/>
            <a:ext cx="20764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54" name="">
            <a:extLst xmlns:a="http://schemas.openxmlformats.org/drawingml/2006/main">
              <a:ext uri="{FF2B5EF4-FFF2-40B4-BE49-F238E27FC236}">
                <a16:creationId xmlns:a16="http://schemas.microsoft.com/office/drawing/2014/main" id="{0CF510E2-44B7-482E-888D-95148924BF0F}"/>
              </a:ext>
            </a:extLst>
          </p:cNvPr>
          <p:cNvSpPr>
            <a:spLocks xmlns:a="http://schemas.openxmlformats.org/drawingml/2006/main" noGrp="1"/>
          </p:cNvSpPr>
          <p:nvPr/>
        </p:nvSpPr>
        <p:spPr>
          <a:xfrm xmlns:a="http://schemas.openxmlformats.org/drawingml/2006/main">
            <a:off x="8010525" y="10896600"/>
            <a:ext cx="198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682" b="0">
                <a:solidFill>
                  <a:srgbClr val="0F172A"/>
                </a:solidFill>
                <a:latin typeface="Arial"/>
                <a:ea typeface="Arial"/>
                <a:cs typeface="Arial"/>
              </a:defRPr>
            </a:pPr>
            <a:r>
              <a:rPr sz="682" b="0">
                <a:solidFill>
                  <a:srgbClr val="0F172A"/>
                </a:solidFill>
                <a:latin typeface="Arial"/>
                <a:ea typeface="Arial"/>
                <a:cs typeface="Arial"/>
              </a:rPr>
              <a:t>Cần kiểm soát chi tiêu</a:t>
            </a:r>
          </a:p>
        </p:txBody>
      </p:sp>
      <p:sp>
        <p:nvSpPr>
          <p:cNvPr id="155" name="">
            <a:extLst xmlns:a="http://schemas.openxmlformats.org/drawingml/2006/main">
              <a:ext uri="{FF2B5EF4-FFF2-40B4-BE49-F238E27FC236}">
                <a16:creationId xmlns:a16="http://schemas.microsoft.com/office/drawing/2014/main" id="{7E4F916B-319F-46DF-B6E0-9E024264E8B0}"/>
              </a:ext>
            </a:extLst>
          </p:cNvPr>
          <p:cNvSpPr>
            <a:spLocks xmlns:a="http://schemas.openxmlformats.org/drawingml/2006/main" noGrp="1"/>
          </p:cNvSpPr>
          <p:nvPr/>
        </p:nvSpPr>
        <p:spPr>
          <a:xfrm xmlns:a="http://schemas.openxmlformats.org/drawingml/2006/main">
            <a:off x="647700" y="11315700"/>
            <a:ext cx="1295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56" name="">
            <a:extLst xmlns:a="http://schemas.openxmlformats.org/drawingml/2006/main">
              <a:ext uri="{FF2B5EF4-FFF2-40B4-BE49-F238E27FC236}">
                <a16:creationId xmlns:a16="http://schemas.microsoft.com/office/drawing/2014/main" id="{573F7DD3-1A5F-411D-A1AC-A12A2E3F9171}"/>
              </a:ext>
            </a:extLst>
          </p:cNvPr>
          <p:cNvSpPr>
            <a:spLocks xmlns:a="http://schemas.openxmlformats.org/drawingml/2006/main" noGrp="1"/>
          </p:cNvSpPr>
          <p:nvPr/>
        </p:nvSpPr>
        <p:spPr>
          <a:xfrm xmlns:a="http://schemas.openxmlformats.org/drawingml/2006/main">
            <a:off x="695325" y="11353800"/>
            <a:ext cx="12001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720" b="1">
                <a:solidFill>
                  <a:srgbClr val="F2A51A"/>
                </a:solidFill>
                <a:latin typeface="Arial"/>
                <a:ea typeface="Arial"/>
                <a:cs typeface="Arial"/>
              </a:defRPr>
            </a:pPr>
            <a:r>
              <a:rPr sz="720" b="1">
                <a:solidFill>
                  <a:srgbClr val="F2A51A"/>
                </a:solidFill>
                <a:latin typeface="Arial"/>
                <a:ea typeface="Arial"/>
                <a:cs typeface="Arial"/>
              </a:rPr>
              <a:t>Cap Ignorer</a:t>
            </a:r>
          </a:p>
        </p:txBody>
      </p:sp>
      <p:sp>
        <p:nvSpPr>
          <p:cNvPr id="157" name="">
            <a:extLst xmlns:a="http://schemas.openxmlformats.org/drawingml/2006/main">
              <a:ext uri="{FF2B5EF4-FFF2-40B4-BE49-F238E27FC236}">
                <a16:creationId xmlns:a16="http://schemas.microsoft.com/office/drawing/2014/main" id="{35264BAA-B1D2-4F83-9F38-084ADE3C3CCF}"/>
              </a:ext>
            </a:extLst>
          </p:cNvPr>
          <p:cNvSpPr>
            <a:spLocks xmlns:a="http://schemas.openxmlformats.org/drawingml/2006/main" noGrp="1"/>
          </p:cNvSpPr>
          <p:nvPr/>
        </p:nvSpPr>
        <p:spPr>
          <a:xfrm xmlns:a="http://schemas.openxmlformats.org/drawingml/2006/main">
            <a:off x="1943100" y="11315700"/>
            <a:ext cx="238125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58" name="">
            <a:extLst xmlns:a="http://schemas.openxmlformats.org/drawingml/2006/main">
              <a:ext uri="{FF2B5EF4-FFF2-40B4-BE49-F238E27FC236}">
                <a16:creationId xmlns:a16="http://schemas.microsoft.com/office/drawing/2014/main" id="{09564B2C-D0EF-4F32-A7C9-331210C3EB80}"/>
              </a:ext>
            </a:extLst>
          </p:cNvPr>
          <p:cNvSpPr>
            <a:spLocks xmlns:a="http://schemas.openxmlformats.org/drawingml/2006/main" noGrp="1"/>
          </p:cNvSpPr>
          <p:nvPr/>
        </p:nvSpPr>
        <p:spPr>
          <a:xfrm xmlns:a="http://schemas.openxmlformats.org/drawingml/2006/main">
            <a:off x="1990725" y="11353800"/>
            <a:ext cx="2286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682" b="0">
                <a:solidFill>
                  <a:srgbClr val="0F172A"/>
                </a:solidFill>
                <a:latin typeface="Arial"/>
                <a:ea typeface="Arial"/>
                <a:cs typeface="Arial"/>
              </a:defRPr>
            </a:pPr>
            <a:r>
              <a:rPr sz="682" b="0">
                <a:solidFill>
                  <a:srgbClr val="0F172A"/>
                </a:solidFill>
                <a:latin typeface="Arial"/>
                <a:ea typeface="Arial"/>
                <a:cs typeface="Arial"/>
              </a:rPr>
              <a:t>Tiếp tục chi tiêu sau khi đã đạt cap cashback trong tháng</a:t>
            </a:r>
          </a:p>
        </p:txBody>
      </p:sp>
      <p:sp>
        <p:nvSpPr>
          <p:cNvPr id="159" name="">
            <a:extLst xmlns:a="http://schemas.openxmlformats.org/drawingml/2006/main">
              <a:ext uri="{FF2B5EF4-FFF2-40B4-BE49-F238E27FC236}">
                <a16:creationId xmlns:a16="http://schemas.microsoft.com/office/drawing/2014/main" id="{4A48465D-F50A-4689-935A-CC51037AD158}"/>
              </a:ext>
            </a:extLst>
          </p:cNvPr>
          <p:cNvSpPr>
            <a:spLocks xmlns:a="http://schemas.openxmlformats.org/drawingml/2006/main" noGrp="1"/>
          </p:cNvSpPr>
          <p:nvPr/>
        </p:nvSpPr>
        <p:spPr>
          <a:xfrm xmlns:a="http://schemas.openxmlformats.org/drawingml/2006/main">
            <a:off x="4324350" y="11315700"/>
            <a:ext cx="72390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60" name="">
            <a:extLst xmlns:a="http://schemas.openxmlformats.org/drawingml/2006/main">
              <a:ext uri="{FF2B5EF4-FFF2-40B4-BE49-F238E27FC236}">
                <a16:creationId xmlns:a16="http://schemas.microsoft.com/office/drawing/2014/main" id="{8E4CF755-3277-497D-9A98-A77C00F82174}"/>
              </a:ext>
            </a:extLst>
          </p:cNvPr>
          <p:cNvSpPr>
            <a:spLocks xmlns:a="http://schemas.openxmlformats.org/drawingml/2006/main" noGrp="1"/>
          </p:cNvSpPr>
          <p:nvPr/>
        </p:nvSpPr>
        <p:spPr>
          <a:xfrm xmlns:a="http://schemas.openxmlformats.org/drawingml/2006/main">
            <a:off x="4371975" y="11353800"/>
            <a:ext cx="628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1.4%</a:t>
            </a:r>
          </a:p>
        </p:txBody>
      </p:sp>
      <p:sp>
        <p:nvSpPr>
          <p:cNvPr id="161" name="">
            <a:extLst xmlns:a="http://schemas.openxmlformats.org/drawingml/2006/main">
              <a:ext uri="{FF2B5EF4-FFF2-40B4-BE49-F238E27FC236}">
                <a16:creationId xmlns:a16="http://schemas.microsoft.com/office/drawing/2014/main" id="{5AA988FA-9412-47AF-B9F1-A82804F3DCC2}"/>
              </a:ext>
            </a:extLst>
          </p:cNvPr>
          <p:cNvSpPr>
            <a:spLocks xmlns:a="http://schemas.openxmlformats.org/drawingml/2006/main" noGrp="1"/>
          </p:cNvSpPr>
          <p:nvPr/>
        </p:nvSpPr>
        <p:spPr>
          <a:xfrm xmlns:a="http://schemas.openxmlformats.org/drawingml/2006/main">
            <a:off x="5048250" y="11315700"/>
            <a:ext cx="81915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62" name="">
            <a:extLst xmlns:a="http://schemas.openxmlformats.org/drawingml/2006/main">
              <a:ext uri="{FF2B5EF4-FFF2-40B4-BE49-F238E27FC236}">
                <a16:creationId xmlns:a16="http://schemas.microsoft.com/office/drawing/2014/main" id="{08785461-84C4-4302-A06E-C0A05ECD445A}"/>
              </a:ext>
            </a:extLst>
          </p:cNvPr>
          <p:cNvSpPr>
            <a:spLocks xmlns:a="http://schemas.openxmlformats.org/drawingml/2006/main" noGrp="1"/>
          </p:cNvSpPr>
          <p:nvPr/>
        </p:nvSpPr>
        <p:spPr>
          <a:xfrm xmlns:a="http://schemas.openxmlformats.org/drawingml/2006/main">
            <a:off x="5095875" y="11353800"/>
            <a:ext cx="723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+40k</a:t>
            </a:r>
          </a:p>
        </p:txBody>
      </p:sp>
      <p:sp>
        <p:nvSpPr>
          <p:cNvPr id="163" name="">
            <a:extLst xmlns:a="http://schemas.openxmlformats.org/drawingml/2006/main">
              <a:ext uri="{FF2B5EF4-FFF2-40B4-BE49-F238E27FC236}">
                <a16:creationId xmlns:a16="http://schemas.microsoft.com/office/drawing/2014/main" id="{47C30D90-078A-44B9-888C-4D0C5A541CE5}"/>
              </a:ext>
            </a:extLst>
          </p:cNvPr>
          <p:cNvSpPr>
            <a:spLocks xmlns:a="http://schemas.openxmlformats.org/drawingml/2006/main" noGrp="1"/>
          </p:cNvSpPr>
          <p:nvPr/>
        </p:nvSpPr>
        <p:spPr>
          <a:xfrm xmlns:a="http://schemas.openxmlformats.org/drawingml/2006/main">
            <a:off x="5867400" y="11315700"/>
            <a:ext cx="95250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64" name="">
            <a:extLst xmlns:a="http://schemas.openxmlformats.org/drawingml/2006/main">
              <a:ext uri="{FF2B5EF4-FFF2-40B4-BE49-F238E27FC236}">
                <a16:creationId xmlns:a16="http://schemas.microsoft.com/office/drawing/2014/main" id="{FF1D4BDC-6203-4E99-8FCC-B7081F7A97A0}"/>
              </a:ext>
            </a:extLst>
          </p:cNvPr>
          <p:cNvSpPr>
            <a:spLocks xmlns:a="http://schemas.openxmlformats.org/drawingml/2006/main" noGrp="1"/>
          </p:cNvSpPr>
          <p:nvPr/>
        </p:nvSpPr>
        <p:spPr>
          <a:xfrm xmlns:a="http://schemas.openxmlformats.org/drawingml/2006/main">
            <a:off x="5915025" y="11353800"/>
            <a:ext cx="857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Cao</a:t>
            </a:r>
          </a:p>
        </p:txBody>
      </p:sp>
      <p:sp>
        <p:nvSpPr>
          <p:cNvPr id="165" name="">
            <a:extLst xmlns:a="http://schemas.openxmlformats.org/drawingml/2006/main">
              <a:ext uri="{FF2B5EF4-FFF2-40B4-BE49-F238E27FC236}">
                <a16:creationId xmlns:a16="http://schemas.microsoft.com/office/drawing/2014/main" id="{C884B7A5-FE5F-4A89-B828-3C2148CE31D4}"/>
              </a:ext>
            </a:extLst>
          </p:cNvPr>
          <p:cNvSpPr>
            <a:spLocks xmlns:a="http://schemas.openxmlformats.org/drawingml/2006/main" noGrp="1"/>
          </p:cNvSpPr>
          <p:nvPr/>
        </p:nvSpPr>
        <p:spPr>
          <a:xfrm xmlns:a="http://schemas.openxmlformats.org/drawingml/2006/main">
            <a:off x="6819900" y="11315700"/>
            <a:ext cx="114300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66" name="">
            <a:extLst xmlns:a="http://schemas.openxmlformats.org/drawingml/2006/main">
              <a:ext uri="{FF2B5EF4-FFF2-40B4-BE49-F238E27FC236}">
                <a16:creationId xmlns:a16="http://schemas.microsoft.com/office/drawing/2014/main" id="{CBDE1103-E4A8-4451-8D9B-EEEC4CEED662}"/>
              </a:ext>
            </a:extLst>
          </p:cNvPr>
          <p:cNvSpPr>
            <a:spLocks xmlns:a="http://schemas.openxmlformats.org/drawingml/2006/main" noGrp="1"/>
          </p:cNvSpPr>
          <p:nvPr/>
        </p:nvSpPr>
        <p:spPr>
          <a:xfrm xmlns:a="http://schemas.openxmlformats.org/drawingml/2006/main">
            <a:off x="6867525" y="11353800"/>
            <a:ext cx="1047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TB</a:t>
            </a:r>
          </a:p>
        </p:txBody>
      </p:sp>
      <p:sp>
        <p:nvSpPr>
          <p:cNvPr id="167" name="">
            <a:extLst xmlns:a="http://schemas.openxmlformats.org/drawingml/2006/main">
              <a:ext uri="{FF2B5EF4-FFF2-40B4-BE49-F238E27FC236}">
                <a16:creationId xmlns:a16="http://schemas.microsoft.com/office/drawing/2014/main" id="{EEF72C4D-6A69-4EB5-A427-98DAADAF5E57}"/>
              </a:ext>
            </a:extLst>
          </p:cNvPr>
          <p:cNvSpPr>
            <a:spLocks xmlns:a="http://schemas.openxmlformats.org/drawingml/2006/main" noGrp="1"/>
          </p:cNvSpPr>
          <p:nvPr/>
        </p:nvSpPr>
        <p:spPr>
          <a:xfrm xmlns:a="http://schemas.openxmlformats.org/drawingml/2006/main">
            <a:off x="7962900" y="11315700"/>
            <a:ext cx="2076450" cy="457200"/>
          </a:xfrm>
          <a:prstGeom xmlns:a="http://schemas.openxmlformats.org/drawingml/2006/main" prst="rect">
            <a:avLst/>
          </a:prstGeom>
          <a:solidFill xmlns:a="http://schemas.openxmlformats.org/drawingml/2006/main">
            <a:srgbClr val="FDFBF6"/>
          </a:solidFill>
          <a:ln xmlns:a="http://schemas.openxmlformats.org/drawingml/2006/main" w="9525">
            <a:solidFill>
              <a:srgbClr val="C8D7DD"/>
            </a:solidFill>
            <a:prstDash val="solid"/>
          </a:ln>
        </p:spPr>
      </p:sp>
      <p:sp>
        <p:nvSpPr>
          <p:cNvPr id="168" name="">
            <a:extLst xmlns:a="http://schemas.openxmlformats.org/drawingml/2006/main">
              <a:ext uri="{FF2B5EF4-FFF2-40B4-BE49-F238E27FC236}">
                <a16:creationId xmlns:a16="http://schemas.microsoft.com/office/drawing/2014/main" id="{F33EA7BA-3705-429D-A2B4-ACEF17D40270}"/>
              </a:ext>
            </a:extLst>
          </p:cNvPr>
          <p:cNvSpPr>
            <a:spLocks xmlns:a="http://schemas.openxmlformats.org/drawingml/2006/main" noGrp="1"/>
          </p:cNvSpPr>
          <p:nvPr/>
        </p:nvSpPr>
        <p:spPr>
          <a:xfrm xmlns:a="http://schemas.openxmlformats.org/drawingml/2006/main">
            <a:off x="8010525" y="11353800"/>
            <a:ext cx="198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682" b="0">
                <a:solidFill>
                  <a:srgbClr val="0F172A"/>
                </a:solidFill>
                <a:latin typeface="Arial"/>
                <a:ea typeface="Arial"/>
                <a:cs typeface="Arial"/>
              </a:defRPr>
            </a:pPr>
            <a:r>
              <a:rPr sz="682" b="0">
                <a:solidFill>
                  <a:srgbClr val="0F172A"/>
                </a:solidFill>
                <a:latin typeface="Arial"/>
                <a:ea typeface="Arial"/>
                <a:cs typeface="Arial"/>
              </a:rPr>
              <a:t>Mất lợi ích do vượt cap</a:t>
            </a:r>
          </a:p>
        </p:txBody>
      </p:sp>
      <p:sp>
        <p:nvSpPr>
          <p:cNvPr id="169" name="">
            <a:extLst xmlns:a="http://schemas.openxmlformats.org/drawingml/2006/main">
              <a:ext uri="{FF2B5EF4-FFF2-40B4-BE49-F238E27FC236}">
                <a16:creationId xmlns:a16="http://schemas.microsoft.com/office/drawing/2014/main" id="{D563BFD5-6A83-4107-9C2D-08933A4F8FE1}"/>
              </a:ext>
            </a:extLst>
          </p:cNvPr>
          <p:cNvSpPr>
            <a:spLocks xmlns:a="http://schemas.openxmlformats.org/drawingml/2006/main" noGrp="1"/>
          </p:cNvSpPr>
          <p:nvPr/>
        </p:nvSpPr>
        <p:spPr>
          <a:xfrm xmlns:a="http://schemas.openxmlformats.org/drawingml/2006/main">
            <a:off x="647700" y="11772900"/>
            <a:ext cx="1295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70" name="">
            <a:extLst xmlns:a="http://schemas.openxmlformats.org/drawingml/2006/main">
              <a:ext uri="{FF2B5EF4-FFF2-40B4-BE49-F238E27FC236}">
                <a16:creationId xmlns:a16="http://schemas.microsoft.com/office/drawing/2014/main" id="{7D774DF1-DBED-4755-A13F-685201EE065B}"/>
              </a:ext>
            </a:extLst>
          </p:cNvPr>
          <p:cNvSpPr>
            <a:spLocks xmlns:a="http://schemas.openxmlformats.org/drawingml/2006/main" noGrp="1"/>
          </p:cNvSpPr>
          <p:nvPr/>
        </p:nvSpPr>
        <p:spPr>
          <a:xfrm xmlns:a="http://schemas.openxmlformats.org/drawingml/2006/main">
            <a:off x="695325" y="11811000"/>
            <a:ext cx="12001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720" b="1">
                <a:solidFill>
                  <a:srgbClr val="0B4B8A"/>
                </a:solidFill>
                <a:latin typeface="Arial"/>
                <a:ea typeface="Arial"/>
                <a:cs typeface="Arial"/>
              </a:defRPr>
            </a:pPr>
            <a:r>
              <a:rPr sz="720" b="1">
                <a:solidFill>
                  <a:srgbClr val="0B4B8A"/>
                </a:solidFill>
                <a:latin typeface="Arial"/>
                <a:ea typeface="Arial"/>
                <a:cs typeface="Arial"/>
              </a:rPr>
              <a:t>Wrong-Card User</a:t>
            </a:r>
          </a:p>
        </p:txBody>
      </p:sp>
      <p:sp>
        <p:nvSpPr>
          <p:cNvPr id="171" name="">
            <a:extLst xmlns:a="http://schemas.openxmlformats.org/drawingml/2006/main">
              <a:ext uri="{FF2B5EF4-FFF2-40B4-BE49-F238E27FC236}">
                <a16:creationId xmlns:a16="http://schemas.microsoft.com/office/drawing/2014/main" id="{ED9C4AEB-F4D8-483B-8CB1-F89B4D45AEE9}"/>
              </a:ext>
            </a:extLst>
          </p:cNvPr>
          <p:cNvSpPr>
            <a:spLocks xmlns:a="http://schemas.openxmlformats.org/drawingml/2006/main" noGrp="1"/>
          </p:cNvSpPr>
          <p:nvPr/>
        </p:nvSpPr>
        <p:spPr>
          <a:xfrm xmlns:a="http://schemas.openxmlformats.org/drawingml/2006/main">
            <a:off x="1943100" y="11772900"/>
            <a:ext cx="2381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72" name="">
            <a:extLst xmlns:a="http://schemas.openxmlformats.org/drawingml/2006/main">
              <a:ext uri="{FF2B5EF4-FFF2-40B4-BE49-F238E27FC236}">
                <a16:creationId xmlns:a16="http://schemas.microsoft.com/office/drawing/2014/main" id="{34FC3E84-98B9-4594-9A66-983FE20428AF}"/>
              </a:ext>
            </a:extLst>
          </p:cNvPr>
          <p:cNvSpPr>
            <a:spLocks xmlns:a="http://schemas.openxmlformats.org/drawingml/2006/main" noGrp="1"/>
          </p:cNvSpPr>
          <p:nvPr/>
        </p:nvSpPr>
        <p:spPr>
          <a:xfrm xmlns:a="http://schemas.openxmlformats.org/drawingml/2006/main">
            <a:off x="1990725" y="11811000"/>
            <a:ext cx="2286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682" b="0">
                <a:solidFill>
                  <a:srgbClr val="0F172A"/>
                </a:solidFill>
                <a:latin typeface="Arial"/>
                <a:ea typeface="Arial"/>
                <a:cs typeface="Arial"/>
              </a:defRPr>
            </a:pPr>
            <a:r>
              <a:rPr sz="682" b="0">
                <a:solidFill>
                  <a:srgbClr val="0F172A"/>
                </a:solidFill>
                <a:latin typeface="Arial"/>
                <a:ea typeface="Arial"/>
                <a:cs typeface="Arial"/>
              </a:rPr>
              <a:t>Chi tiêu nhiều ở danh mục không được ưu đãi hoặc chọn sai thẻ</a:t>
            </a:r>
          </a:p>
        </p:txBody>
      </p:sp>
      <p:sp>
        <p:nvSpPr>
          <p:cNvPr id="173" name="">
            <a:extLst xmlns:a="http://schemas.openxmlformats.org/drawingml/2006/main">
              <a:ext uri="{FF2B5EF4-FFF2-40B4-BE49-F238E27FC236}">
                <a16:creationId xmlns:a16="http://schemas.microsoft.com/office/drawing/2014/main" id="{FA917642-D2A2-4DBE-983F-B49A34179ACF}"/>
              </a:ext>
            </a:extLst>
          </p:cNvPr>
          <p:cNvSpPr>
            <a:spLocks xmlns:a="http://schemas.openxmlformats.org/drawingml/2006/main" noGrp="1"/>
          </p:cNvSpPr>
          <p:nvPr/>
        </p:nvSpPr>
        <p:spPr>
          <a:xfrm xmlns:a="http://schemas.openxmlformats.org/drawingml/2006/main">
            <a:off x="4324350" y="11772900"/>
            <a:ext cx="7239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74" name="">
            <a:extLst xmlns:a="http://schemas.openxmlformats.org/drawingml/2006/main">
              <a:ext uri="{FF2B5EF4-FFF2-40B4-BE49-F238E27FC236}">
                <a16:creationId xmlns:a16="http://schemas.microsoft.com/office/drawing/2014/main" id="{E305F170-811F-477E-95F7-9EA9E73AC0F7}"/>
              </a:ext>
            </a:extLst>
          </p:cNvPr>
          <p:cNvSpPr>
            <a:spLocks xmlns:a="http://schemas.openxmlformats.org/drawingml/2006/main" noGrp="1"/>
          </p:cNvSpPr>
          <p:nvPr/>
        </p:nvSpPr>
        <p:spPr>
          <a:xfrm xmlns:a="http://schemas.openxmlformats.org/drawingml/2006/main">
            <a:off x="4371975" y="11811000"/>
            <a:ext cx="628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0.8%</a:t>
            </a:r>
          </a:p>
        </p:txBody>
      </p:sp>
      <p:sp>
        <p:nvSpPr>
          <p:cNvPr id="175" name="">
            <a:extLst xmlns:a="http://schemas.openxmlformats.org/drawingml/2006/main">
              <a:ext uri="{FF2B5EF4-FFF2-40B4-BE49-F238E27FC236}">
                <a16:creationId xmlns:a16="http://schemas.microsoft.com/office/drawing/2014/main" id="{48E1D9A3-5875-4A07-BC86-9A04C32B0E57}"/>
              </a:ext>
            </a:extLst>
          </p:cNvPr>
          <p:cNvSpPr>
            <a:spLocks xmlns:a="http://schemas.openxmlformats.org/drawingml/2006/main" noGrp="1"/>
          </p:cNvSpPr>
          <p:nvPr/>
        </p:nvSpPr>
        <p:spPr>
          <a:xfrm xmlns:a="http://schemas.openxmlformats.org/drawingml/2006/main">
            <a:off x="5048250" y="11772900"/>
            <a:ext cx="8191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76" name="">
            <a:extLst xmlns:a="http://schemas.openxmlformats.org/drawingml/2006/main">
              <a:ext uri="{FF2B5EF4-FFF2-40B4-BE49-F238E27FC236}">
                <a16:creationId xmlns:a16="http://schemas.microsoft.com/office/drawing/2014/main" id="{6834E2D1-AF45-4C1C-A55F-1E7C5D37864B}"/>
              </a:ext>
            </a:extLst>
          </p:cNvPr>
          <p:cNvSpPr>
            <a:spLocks xmlns:a="http://schemas.openxmlformats.org/drawingml/2006/main" noGrp="1"/>
          </p:cNvSpPr>
          <p:nvPr/>
        </p:nvSpPr>
        <p:spPr>
          <a:xfrm xmlns:a="http://schemas.openxmlformats.org/drawingml/2006/main">
            <a:off x="5095875" y="11811000"/>
            <a:ext cx="723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+20k</a:t>
            </a:r>
          </a:p>
        </p:txBody>
      </p:sp>
      <p:sp>
        <p:nvSpPr>
          <p:cNvPr id="177" name="">
            <a:extLst xmlns:a="http://schemas.openxmlformats.org/drawingml/2006/main">
              <a:ext uri="{FF2B5EF4-FFF2-40B4-BE49-F238E27FC236}">
                <a16:creationId xmlns:a16="http://schemas.microsoft.com/office/drawing/2014/main" id="{62480E7C-80BF-43DC-AC7F-5BF3DF6D2959}"/>
              </a:ext>
            </a:extLst>
          </p:cNvPr>
          <p:cNvSpPr>
            <a:spLocks xmlns:a="http://schemas.openxmlformats.org/drawingml/2006/main" noGrp="1"/>
          </p:cNvSpPr>
          <p:nvPr/>
        </p:nvSpPr>
        <p:spPr>
          <a:xfrm xmlns:a="http://schemas.openxmlformats.org/drawingml/2006/main">
            <a:off x="5867400" y="11772900"/>
            <a:ext cx="9525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78" name="">
            <a:extLst xmlns:a="http://schemas.openxmlformats.org/drawingml/2006/main">
              <a:ext uri="{FF2B5EF4-FFF2-40B4-BE49-F238E27FC236}">
                <a16:creationId xmlns:a16="http://schemas.microsoft.com/office/drawing/2014/main" id="{A7B4A9D9-6816-4D7D-AF2E-C0E0ECEF64C0}"/>
              </a:ext>
            </a:extLst>
          </p:cNvPr>
          <p:cNvSpPr>
            <a:spLocks xmlns:a="http://schemas.openxmlformats.org/drawingml/2006/main" noGrp="1"/>
          </p:cNvSpPr>
          <p:nvPr/>
        </p:nvSpPr>
        <p:spPr>
          <a:xfrm xmlns:a="http://schemas.openxmlformats.org/drawingml/2006/main">
            <a:off x="5915025" y="11811000"/>
            <a:ext cx="857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Cao</a:t>
            </a:r>
          </a:p>
        </p:txBody>
      </p:sp>
      <p:sp>
        <p:nvSpPr>
          <p:cNvPr id="179" name="">
            <a:extLst xmlns:a="http://schemas.openxmlformats.org/drawingml/2006/main">
              <a:ext uri="{FF2B5EF4-FFF2-40B4-BE49-F238E27FC236}">
                <a16:creationId xmlns:a16="http://schemas.microsoft.com/office/drawing/2014/main" id="{3AE4E25E-6FF8-422F-A789-3733E632A1B7}"/>
              </a:ext>
            </a:extLst>
          </p:cNvPr>
          <p:cNvSpPr>
            <a:spLocks xmlns:a="http://schemas.openxmlformats.org/drawingml/2006/main" noGrp="1"/>
          </p:cNvSpPr>
          <p:nvPr/>
        </p:nvSpPr>
        <p:spPr>
          <a:xfrm xmlns:a="http://schemas.openxmlformats.org/drawingml/2006/main">
            <a:off x="6819900" y="11772900"/>
            <a:ext cx="1143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80" name="">
            <a:extLst xmlns:a="http://schemas.openxmlformats.org/drawingml/2006/main">
              <a:ext uri="{FF2B5EF4-FFF2-40B4-BE49-F238E27FC236}">
                <a16:creationId xmlns:a16="http://schemas.microsoft.com/office/drawing/2014/main" id="{B9BB3731-E2B9-4427-953E-4C338DAAD08B}"/>
              </a:ext>
            </a:extLst>
          </p:cNvPr>
          <p:cNvSpPr>
            <a:spLocks xmlns:a="http://schemas.openxmlformats.org/drawingml/2006/main" noGrp="1"/>
          </p:cNvSpPr>
          <p:nvPr/>
        </p:nvSpPr>
        <p:spPr>
          <a:xfrm xmlns:a="http://schemas.openxmlformats.org/drawingml/2006/main">
            <a:off x="6867525" y="11811000"/>
            <a:ext cx="1047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ctr">
              <a:defRPr sz="720" b="0">
                <a:solidFill>
                  <a:srgbClr val="0F172A"/>
                </a:solidFill>
                <a:latin typeface="Arial"/>
                <a:ea typeface="Arial"/>
                <a:cs typeface="Arial"/>
              </a:defRPr>
            </a:pPr>
            <a:r>
              <a:rPr sz="720" b="0">
                <a:solidFill>
                  <a:srgbClr val="0F172A"/>
                </a:solidFill>
                <a:latin typeface="Arial"/>
                <a:ea typeface="Arial"/>
                <a:cs typeface="Arial"/>
              </a:rPr>
              <a:t>Thấp</a:t>
            </a:r>
          </a:p>
        </p:txBody>
      </p:sp>
      <p:sp>
        <p:nvSpPr>
          <p:cNvPr id="181" name="">
            <a:extLst xmlns:a="http://schemas.openxmlformats.org/drawingml/2006/main">
              <a:ext uri="{FF2B5EF4-FFF2-40B4-BE49-F238E27FC236}">
                <a16:creationId xmlns:a16="http://schemas.microsoft.com/office/drawing/2014/main" id="{FCBFA9CD-5B74-4D34-92F8-4E303667089F}"/>
              </a:ext>
            </a:extLst>
          </p:cNvPr>
          <p:cNvSpPr>
            <a:spLocks xmlns:a="http://schemas.openxmlformats.org/drawingml/2006/main" noGrp="1"/>
          </p:cNvSpPr>
          <p:nvPr/>
        </p:nvSpPr>
        <p:spPr>
          <a:xfrm xmlns:a="http://schemas.openxmlformats.org/drawingml/2006/main">
            <a:off x="7962900" y="11772900"/>
            <a:ext cx="20764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8D7DD"/>
            </a:solidFill>
            <a:prstDash val="solid"/>
          </a:ln>
        </p:spPr>
      </p:sp>
      <p:sp>
        <p:nvSpPr>
          <p:cNvPr id="182" name="">
            <a:extLst xmlns:a="http://schemas.openxmlformats.org/drawingml/2006/main">
              <a:ext uri="{FF2B5EF4-FFF2-40B4-BE49-F238E27FC236}">
                <a16:creationId xmlns:a16="http://schemas.microsoft.com/office/drawing/2014/main" id="{150A23CF-2A3A-4C60-80E1-E110650DB56A}"/>
              </a:ext>
            </a:extLst>
          </p:cNvPr>
          <p:cNvSpPr>
            <a:spLocks xmlns:a="http://schemas.openxmlformats.org/drawingml/2006/main" noGrp="1"/>
          </p:cNvSpPr>
          <p:nvPr/>
        </p:nvSpPr>
        <p:spPr>
          <a:xfrm xmlns:a="http://schemas.openxmlformats.org/drawingml/2006/main">
            <a:off x="8010525" y="11811000"/>
            <a:ext cx="198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682" b="0">
                <a:solidFill>
                  <a:srgbClr val="0F172A"/>
                </a:solidFill>
                <a:latin typeface="Arial"/>
                <a:ea typeface="Arial"/>
                <a:cs typeface="Arial"/>
              </a:defRPr>
            </a:pPr>
            <a:r>
              <a:rPr sz="682" b="0">
                <a:solidFill>
                  <a:srgbClr val="0F172A"/>
                </a:solidFill>
                <a:latin typeface="Arial"/>
                <a:ea typeface="Arial"/>
                <a:cs typeface="Arial"/>
              </a:rPr>
              <a:t>Cần tối ưu chọn thẻ/danh mục</a:t>
            </a:r>
          </a:p>
        </p:txBody>
      </p:sp>
      <p:sp>
        <p:nvSpPr>
          <p:cNvPr id="183" name="">
            <a:extLst xmlns:a="http://schemas.openxmlformats.org/drawingml/2006/main">
              <a:ext uri="{FF2B5EF4-FFF2-40B4-BE49-F238E27FC236}">
                <a16:creationId xmlns:a16="http://schemas.microsoft.com/office/drawing/2014/main" id="{8A596358-2C7C-4B10-B7A4-DAF04761071D}"/>
              </a:ext>
            </a:extLst>
          </p:cNvPr>
          <p:cNvSpPr>
            <a:spLocks xmlns:a="http://schemas.openxmlformats.org/drawingml/2006/main" noGrp="1"/>
          </p:cNvSpPr>
          <p:nvPr/>
        </p:nvSpPr>
        <p:spPr>
          <a:xfrm xmlns:a="http://schemas.openxmlformats.org/drawingml/2006/main">
            <a:off x="704850" y="12344400"/>
            <a:ext cx="9239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t"/>
          <a:lstStyle xmlns:a="http://schemas.openxmlformats.org/drawingml/2006/main"/>
          <a:p xmlns:a="http://schemas.openxmlformats.org/drawingml/2006/main">
            <a:pPr algn="ctr">
              <a:defRPr sz="863" b="0">
                <a:solidFill>
                  <a:srgbClr val="526173"/>
                </a:solidFill>
                <a:latin typeface="Arial"/>
                <a:ea typeface="Arial"/>
                <a:cs typeface="Arial"/>
              </a:defRPr>
            </a:pPr>
            <a:r>
              <a:rPr sz="863" b="0">
                <a:solidFill>
                  <a:srgbClr val="526173"/>
                </a:solidFill>
                <a:latin typeface="Arial"/>
                <a:ea typeface="Arial"/>
                <a:cs typeface="Arial"/>
              </a:rPr>
              <a:t>Bảng số liệu là dạng kết quả kỳ vọng/minh họa: sau khi có dữ liệu thật, các giá trị ECR, NET, Wasted và Risk sẽ được tính lại từ giao dịch của từng người dùng/tháng.</a:t>
            </a:r>
          </a:p>
        </p:txBody>
      </p:sp>
      <p:sp>
        <p:nvSpPr>
          <p:cNvPr id="184" name="">
            <a:extLst xmlns:a="http://schemas.openxmlformats.org/drawingml/2006/main">
              <a:ext uri="{FF2B5EF4-FFF2-40B4-BE49-F238E27FC236}">
                <a16:creationId xmlns:a16="http://schemas.microsoft.com/office/drawing/2014/main" id="{86D3B313-C3BB-45B3-9C36-8404CEB94E31}"/>
              </a:ext>
            </a:extLst>
          </p:cNvPr>
          <p:cNvSpPr>
            <a:spLocks xmlns:a="http://schemas.openxmlformats.org/drawingml/2006/main" noGrp="1"/>
          </p:cNvSpPr>
          <p:nvPr/>
        </p:nvSpPr>
        <p:spPr>
          <a:xfrm xmlns:a="http://schemas.openxmlformats.org/drawingml/2006/main">
            <a:off x="647700" y="12858750"/>
            <a:ext cx="9391650" cy="1009650"/>
          </a:xfrm>
          <a:prstGeom xmlns:a="http://schemas.openxmlformats.org/drawingml/2006/main" prst="rect">
            <a:avLst/>
          </a:prstGeom>
          <a:solidFill xmlns:a="http://schemas.openxmlformats.org/drawingml/2006/main">
            <a:srgbClr val="172033"/>
          </a:solidFill>
          <a:ln xmlns:a="http://schemas.openxmlformats.org/drawingml/2006/main" w="0">
            <a:solidFill>
              <a:srgbClr val="000000">
                <a:alpha val="0"/>
              </a:srgbClr>
            </a:solidFill>
            <a:prstDash val="solid"/>
          </a:ln>
        </p:spPr>
      </p:sp>
      <p:sp>
        <p:nvSpPr>
          <p:cNvPr id="185" name="">
            <a:extLst xmlns:a="http://schemas.openxmlformats.org/drawingml/2006/main">
              <a:ext uri="{FF2B5EF4-FFF2-40B4-BE49-F238E27FC236}">
                <a16:creationId xmlns:a16="http://schemas.microsoft.com/office/drawing/2014/main" id="{4FD92ACE-D9E5-4EC7-874D-E39885218D5B}"/>
              </a:ext>
            </a:extLst>
          </p:cNvPr>
          <p:cNvSpPr>
            <a:spLocks xmlns:a="http://schemas.openxmlformats.org/drawingml/2006/main" noGrp="1"/>
          </p:cNvSpPr>
          <p:nvPr/>
        </p:nvSpPr>
        <p:spPr>
          <a:xfrm xmlns:a="http://schemas.openxmlformats.org/drawingml/2006/main">
            <a:off x="876300" y="13049250"/>
            <a:ext cx="2857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1650" b="1">
                <a:solidFill>
                  <a:srgbClr val="0FBCD4"/>
                </a:solidFill>
                <a:latin typeface="Arial"/>
                <a:ea typeface="Arial"/>
                <a:cs typeface="Arial"/>
              </a:defRPr>
            </a:pPr>
            <a:r>
              <a:rPr sz="1650" b="1">
                <a:solidFill>
                  <a:srgbClr val="0FBCD4"/>
                </a:solidFill>
                <a:latin typeface="Arial"/>
                <a:ea typeface="Arial"/>
                <a:cs typeface="Arial"/>
              </a:rPr>
              <a:t>Ý nghĩa nghiên cứu</a:t>
            </a:r>
          </a:p>
        </p:txBody>
      </p:sp>
      <p:sp>
        <p:nvSpPr>
          <p:cNvPr id="186" name="">
            <a:extLst xmlns:a="http://schemas.openxmlformats.org/drawingml/2006/main">
              <a:ext uri="{FF2B5EF4-FFF2-40B4-BE49-F238E27FC236}">
                <a16:creationId xmlns:a16="http://schemas.microsoft.com/office/drawing/2014/main" id="{2799BD3B-701A-43AF-A3C9-AF3D134E7523}"/>
              </a:ext>
            </a:extLst>
          </p:cNvPr>
          <p:cNvSpPr>
            <a:spLocks xmlns:a="http://schemas.openxmlformats.org/drawingml/2006/main" noGrp="1"/>
          </p:cNvSpPr>
          <p:nvPr/>
        </p:nvSpPr>
        <p:spPr>
          <a:xfrm xmlns:a="http://schemas.openxmlformats.org/drawingml/2006/main">
            <a:off x="3886200" y="13030200"/>
            <a:ext cx="5810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1073" b="0">
                <a:solidFill>
                  <a:srgbClr val="FFFFFF"/>
                </a:solidFill>
                <a:latin typeface="Arial"/>
                <a:ea typeface="Arial"/>
                <a:cs typeface="Arial"/>
              </a:defRPr>
            </a:pPr>
            <a:r>
              <a:rPr sz="1073" b="0">
                <a:solidFill>
                  <a:srgbClr val="FFFFFF"/>
                </a:solidFill>
                <a:latin typeface="Arial"/>
                <a:ea typeface="Arial"/>
                <a:cs typeface="Arial"/>
              </a:rPr>
              <a:t>Kết quả giúp phân biệt người thật sự hưởng lợi từ cashback với người nhận cashback cao nhưng chi tiêu kém hiệu quả. Trọng tâm là đánh giá lợi ích thực nhận và rủi ro hành vi.</a:t>
            </a:r>
          </a:p>
        </p:txBody>
      </p:sp>
      <p:sp>
        <p:nvSpPr>
          <p:cNvPr id="187" name="">
            <a:extLst xmlns:a="http://schemas.openxmlformats.org/drawingml/2006/main">
              <a:ext uri="{FF2B5EF4-FFF2-40B4-BE49-F238E27FC236}">
                <a16:creationId xmlns:a16="http://schemas.microsoft.com/office/drawing/2014/main" id="{EE0D2C81-2C29-4486-8DE7-9F89C11AA340}"/>
              </a:ext>
            </a:extLst>
          </p:cNvPr>
          <p:cNvSpPr>
            <a:spLocks xmlns:a="http://schemas.openxmlformats.org/drawingml/2006/main" noGrp="1"/>
          </p:cNvSpPr>
          <p:nvPr/>
        </p:nvSpPr>
        <p:spPr>
          <a:xfrm xmlns:a="http://schemas.openxmlformats.org/drawingml/2006/main">
            <a:off x="361950" y="14249400"/>
            <a:ext cx="9982200" cy="533400"/>
          </a:xfrm>
          <a:prstGeom xmlns:a="http://schemas.openxmlformats.org/drawingml/2006/main" prst="rect">
            <a:avLst/>
          </a:prstGeom>
          <a:solidFill xmlns:a="http://schemas.openxmlformats.org/drawingml/2006/main">
            <a:srgbClr val="0B8FA5"/>
          </a:solidFill>
          <a:ln xmlns:a="http://schemas.openxmlformats.org/drawingml/2006/main" w="0">
            <a:solidFill>
              <a:srgbClr val="000000">
                <a:alpha val="0"/>
              </a:srgbClr>
            </a:solidFill>
            <a:prstDash val="solid"/>
          </a:ln>
        </p:spPr>
      </p:sp>
      <p:sp>
        <p:nvSpPr>
          <p:cNvPr id="188" name="">
            <a:extLst xmlns:a="http://schemas.openxmlformats.org/drawingml/2006/main">
              <a:ext uri="{FF2B5EF4-FFF2-40B4-BE49-F238E27FC236}">
                <a16:creationId xmlns:a16="http://schemas.microsoft.com/office/drawing/2014/main" id="{E146D268-C623-43DC-903E-05515878343F}"/>
              </a:ext>
            </a:extLst>
          </p:cNvPr>
          <p:cNvSpPr>
            <a:spLocks xmlns:a="http://schemas.openxmlformats.org/drawingml/2006/main" noGrp="1"/>
          </p:cNvSpPr>
          <p:nvPr/>
        </p:nvSpPr>
        <p:spPr>
          <a:xfrm xmlns:a="http://schemas.openxmlformats.org/drawingml/2006/main">
            <a:off x="647700" y="14363700"/>
            <a:ext cx="666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UIT</a:t>
            </a:r>
          </a:p>
        </p:txBody>
      </p:sp>
      <p:sp>
        <p:nvSpPr>
          <p:cNvPr id="189" name="">
            <a:extLst xmlns:a="http://schemas.openxmlformats.org/drawingml/2006/main">
              <a:ext uri="{FF2B5EF4-FFF2-40B4-BE49-F238E27FC236}">
                <a16:creationId xmlns:a16="http://schemas.microsoft.com/office/drawing/2014/main" id="{231B16BE-C123-41F0-A6E5-1A710EB29FFF}"/>
              </a:ext>
            </a:extLst>
          </p:cNvPr>
          <p:cNvSpPr>
            <a:spLocks xmlns:a="http://schemas.openxmlformats.org/drawingml/2006/main" noGrp="1"/>
          </p:cNvSpPr>
          <p:nvPr/>
        </p:nvSpPr>
        <p:spPr>
          <a:xfrm xmlns:a="http://schemas.openxmlformats.org/drawingml/2006/main">
            <a:off x="1428750" y="1438275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Ân Lê Thành Duy - CS2205.CH203 - Research Methodology</a:t>
            </a:r>
          </a:p>
        </p:txBody>
      </p:sp>
      <p:sp>
        <p:nvSpPr>
          <p:cNvPr id="190" name="">
            <a:extLst xmlns:a="http://schemas.openxmlformats.org/drawingml/2006/main">
              <a:ext uri="{FF2B5EF4-FFF2-40B4-BE49-F238E27FC236}">
                <a16:creationId xmlns:a16="http://schemas.microsoft.com/office/drawing/2014/main" id="{06571ABF-CD7A-4C2B-993F-C8F70A09A7E8}"/>
              </a:ext>
            </a:extLst>
          </p:cNvPr>
          <p:cNvSpPr>
            <a:spLocks xmlns:a="http://schemas.openxmlformats.org/drawingml/2006/main" noGrp="1"/>
          </p:cNvSpPr>
          <p:nvPr/>
        </p:nvSpPr>
        <p:spPr>
          <a:xfrm xmlns:a="http://schemas.openxmlformats.org/drawingml/2006/main">
            <a:off x="7353300" y="143827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38100" rIns="57150" bIns="38100" anchor="ctr"/>
          <a:lstStyle xmlns:a="http://schemas.openxmlformats.org/drawingml/2006/main"/>
          <a:p xmlns:a="http://schemas.openxmlformats.org/drawingml/2006/main">
            <a:pPr algn="r">
              <a:defRPr sz="1125" b="1">
                <a:solidFill>
                  <a:srgbClr val="FFFFFF"/>
                </a:solidFill>
                <a:latin typeface="Arial"/>
                <a:ea typeface="Arial"/>
                <a:cs typeface="Arial"/>
              </a:defRPr>
            </a:pPr>
            <a:r>
              <a:rPr sz="1125" b="1">
                <a:solidFill>
                  <a:srgbClr val="FFFFFF"/>
                </a:solidFill>
                <a:latin typeface="Arial"/>
                <a:ea typeface="Arial"/>
                <a:cs typeface="Arial"/>
              </a:rPr>
              <a:t>Cashback Effectiveness</a:t>
            </a:r>
          </a:p>
        </p:txBody>
      </p:sp>
    </p:spTree>
    <p:extLst>
      <p:ext uri="{BB962C8B-B14F-4D97-AF65-F5344CB8AC3E}">
        <p14:creationId xmlns:p14="http://schemas.microsoft.com/office/powerpoint/2010/main" val="8435229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2026-06-13T16:16:25.1500000Z</dcterms:created>
  <dcterms:modified xsi:type="dcterms:W3CDTF">2026-06-13T16:16:25.1500000Z</dcterms:modified>
</coreProperties>
</file>